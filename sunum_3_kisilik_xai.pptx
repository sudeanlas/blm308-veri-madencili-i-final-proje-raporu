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EFF6FF"/>
        </a:solidFill>
        <a:effectLst/>
      </p:bgPr>
    </p:bg>
    <p:spTree>
      <p:nvGrpSpPr>
        <p:cNvPr id="1" name=""/>
        <p:cNvGrpSpPr/>
        <p:nvPr/>
      </p:nvGrpSpPr>
      <p:grpSpPr/>
      <p:sp>
        <p:nvSpPr>
          <p:cNvPr id="2" name="TextBox 1"/>
          <p:cNvSpPr txBox="1"/>
          <p:nvPr/>
        </p:nvSpPr>
        <p:spPr>
          <a:xfrm>
            <a:off x="640080" y="566928"/>
            <a:ext cx="10789920" cy="1325880"/>
          </a:xfrm>
          <a:prstGeom prst="rect">
            <a:avLst/>
          </a:prstGeom>
          <a:noFill/>
        </p:spPr>
        <p:txBody>
          <a:bodyPr wrap="square" lIns="73152" rIns="73152" tIns="36576" bIns="36576">
            <a:normAutofit/>
          </a:bodyPr>
          <a:lstStyle/>
          <a:p>
            <a:pPr algn="l"/>
            <a:r>
              <a:rPr sz="3300" b="1">
                <a:solidFill>
                  <a:srgbClr val="1F4E79"/>
                </a:solidFill>
                <a:latin typeface="Aptos"/>
              </a:rPr>
              <a:t>Banka Pazarlama Kampanyalarında
Müşteri Tahmin ve Açıklanabilirlik Sistemi</a:t>
            </a:r>
          </a:p>
        </p:txBody>
      </p:sp>
      <p:sp>
        <p:nvSpPr>
          <p:cNvPr id="3" name="TextBox 2"/>
          <p:cNvSpPr txBox="1"/>
          <p:nvPr/>
        </p:nvSpPr>
        <p:spPr>
          <a:xfrm>
            <a:off x="713232" y="2084831"/>
            <a:ext cx="8961120" cy="384048"/>
          </a:xfrm>
          <a:prstGeom prst="rect">
            <a:avLst/>
          </a:prstGeom>
          <a:noFill/>
        </p:spPr>
        <p:txBody>
          <a:bodyPr wrap="square" lIns="73152" rIns="73152" tIns="36576" bIns="36576">
            <a:normAutofit/>
          </a:bodyPr>
          <a:lstStyle/>
          <a:p>
            <a:pPr algn="l"/>
            <a:r>
              <a:rPr sz="1800" b="0">
                <a:solidFill>
                  <a:srgbClr val="4B5563"/>
                </a:solidFill>
                <a:latin typeface="Aptos"/>
              </a:rPr>
              <a:t>BLM308 Veri Madenciliği - Final Proje</a:t>
            </a:r>
          </a:p>
        </p:txBody>
      </p:sp>
      <p:sp>
        <p:nvSpPr>
          <p:cNvPr id="4" name="TextBox 3"/>
          <p:cNvSpPr txBox="1"/>
          <p:nvPr/>
        </p:nvSpPr>
        <p:spPr>
          <a:xfrm>
            <a:off x="713232" y="2761488"/>
            <a:ext cx="9966960" cy="1325880"/>
          </a:xfrm>
          <a:prstGeom prst="rect">
            <a:avLst/>
          </a:prstGeom>
          <a:noFill/>
        </p:spPr>
        <p:txBody>
          <a:bodyPr wrap="square" lIns="73152" rIns="73152" tIns="36576" bIns="36576">
            <a:normAutofit/>
          </a:bodyPr>
          <a:lstStyle/>
          <a:p>
            <a:pPr algn="l">
              <a:spcAft>
                <a:spcPts val="500"/>
              </a:spcAft>
              <a:defRPr sz="1420">
                <a:solidFill>
                  <a:srgbClr val="111827"/>
                </a:solidFill>
                <a:latin typeface="Aptos"/>
              </a:defRPr>
            </a:pPr>
            <a:r>
              <a:t>Bu çalışma, banka pazarlama kampanyalarında hangi müşterilerin vadeli mevduata abone olma olasılığının daha yüksek olduğunu tahmin eden ve bu tahminleri açıklanabilir hale getiren uçtan uca bir veri madenciliği projesidir.</a:t>
            </a:r>
          </a:p>
          <a:p>
            <a:pPr algn="l">
              <a:spcAft>
                <a:spcPts val="500"/>
              </a:spcAft>
              <a:defRPr sz="1420">
                <a:solidFill>
                  <a:srgbClr val="111827"/>
                </a:solidFill>
                <a:latin typeface="Aptos"/>
              </a:defRPr>
            </a:pPr>
            <a:r>
              <a:t>Proje yalnızca model başarısına odaklanmaz; veri sızıntısı riski, sınıf dengesizliği, istatistiksel karşılaştırma, SHAP/LIME temelli açıklanabilirlik ve Türkçe uygulama arayüzü birlikte ele alınır.</a:t>
            </a:r>
          </a:p>
        </p:txBody>
      </p:sp>
      <p:sp>
        <p:nvSpPr>
          <p:cNvPr id="5" name="TextBox 4"/>
          <p:cNvSpPr txBox="1"/>
          <p:nvPr/>
        </p:nvSpPr>
        <p:spPr>
          <a:xfrm>
            <a:off x="713232" y="5303520"/>
            <a:ext cx="9875520" cy="310896"/>
          </a:xfrm>
          <a:prstGeom prst="rect">
            <a:avLst/>
          </a:prstGeom>
          <a:noFill/>
        </p:spPr>
        <p:txBody>
          <a:bodyPr wrap="square" lIns="73152" rIns="73152" tIns="36576" bIns="36576">
            <a:normAutofit/>
          </a:bodyPr>
          <a:lstStyle/>
          <a:p>
            <a:pPr algn="l"/>
            <a:r>
              <a:rPr sz="1650" b="1">
                <a:solidFill>
                  <a:srgbClr val="111827"/>
                </a:solidFill>
                <a:latin typeface="Aptos"/>
              </a:rPr>
              <a:t>Sude ANLAŞ · Doğan Fatih OĞUR · Merve Naz ORAN</a:t>
            </a:r>
          </a:p>
        </p:txBody>
      </p:sp>
      <p:sp>
        <p:nvSpPr>
          <p:cNvPr id="6" name="TextBox 5"/>
          <p:cNvSpPr txBox="1"/>
          <p:nvPr/>
        </p:nvSpPr>
        <p:spPr>
          <a:xfrm>
            <a:off x="713232" y="5669280"/>
            <a:ext cx="7863840" cy="256032"/>
          </a:xfrm>
          <a:prstGeom prst="rect">
            <a:avLst/>
          </a:prstGeom>
          <a:noFill/>
        </p:spPr>
        <p:txBody>
          <a:bodyPr wrap="square" lIns="73152" rIns="73152" tIns="36576" bIns="36576">
            <a:normAutofit/>
          </a:bodyPr>
          <a:lstStyle/>
          <a:p>
            <a:pPr algn="l"/>
            <a:r>
              <a:rPr sz="1230" b="0">
                <a:solidFill>
                  <a:srgbClr val="4B5563"/>
                </a:solidFill>
                <a:latin typeface="Aptos"/>
              </a:rPr>
              <a:t>Gedik Üniversitesi · Bilgisayar Mühendisliği · Bahar 2026</a:t>
            </a:r>
          </a:p>
        </p:txBody>
      </p:sp>
      <p:sp>
        <p:nvSpPr>
          <p:cNvPr id="7" name="Oval 6"/>
          <p:cNvSpPr/>
          <p:nvPr/>
        </p:nvSpPr>
        <p:spPr>
          <a:xfrm>
            <a:off x="7498079" y="4069080"/>
            <a:ext cx="969264" cy="969264"/>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52359" y="5138928"/>
            <a:ext cx="1078992" cy="256032"/>
          </a:xfrm>
          <a:prstGeom prst="rect">
            <a:avLst/>
          </a:prstGeom>
          <a:noFill/>
        </p:spPr>
        <p:txBody>
          <a:bodyPr wrap="square" lIns="73152" rIns="73152" tIns="36576" bIns="36576">
            <a:normAutofit/>
          </a:bodyPr>
          <a:lstStyle/>
          <a:p>
            <a:pPr algn="ctr"/>
            <a:r>
              <a:rPr sz="1130" b="1">
                <a:solidFill>
                  <a:srgbClr val="1F4E79"/>
                </a:solidFill>
                <a:latin typeface="Aptos"/>
              </a:rPr>
              <a:t>Veri</a:t>
            </a:r>
          </a:p>
        </p:txBody>
      </p:sp>
      <p:sp>
        <p:nvSpPr>
          <p:cNvPr id="9" name="Oval 8"/>
          <p:cNvSpPr/>
          <p:nvPr/>
        </p:nvSpPr>
        <p:spPr>
          <a:xfrm>
            <a:off x="8851392" y="4069080"/>
            <a:ext cx="969264" cy="969264"/>
          </a:xfrm>
          <a:prstGeom prst="ellipse">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805672" y="5138928"/>
            <a:ext cx="1078992" cy="256032"/>
          </a:xfrm>
          <a:prstGeom prst="rect">
            <a:avLst/>
          </a:prstGeom>
          <a:noFill/>
        </p:spPr>
        <p:txBody>
          <a:bodyPr wrap="square" lIns="73152" rIns="73152" tIns="36576" bIns="36576">
            <a:normAutofit/>
          </a:bodyPr>
          <a:lstStyle/>
          <a:p>
            <a:pPr algn="ctr"/>
            <a:r>
              <a:rPr sz="1130" b="1">
                <a:solidFill>
                  <a:srgbClr val="1F4E79"/>
                </a:solidFill>
                <a:latin typeface="Aptos"/>
              </a:rPr>
              <a:t>Model</a:t>
            </a:r>
          </a:p>
        </p:txBody>
      </p:sp>
      <p:sp>
        <p:nvSpPr>
          <p:cNvPr id="11" name="Oval 10"/>
          <p:cNvSpPr/>
          <p:nvPr/>
        </p:nvSpPr>
        <p:spPr>
          <a:xfrm>
            <a:off x="10204704" y="4069080"/>
            <a:ext cx="969264" cy="969264"/>
          </a:xfrm>
          <a:prstGeom prst="ellipse">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158984" y="5138928"/>
            <a:ext cx="1078992" cy="256032"/>
          </a:xfrm>
          <a:prstGeom prst="rect">
            <a:avLst/>
          </a:prstGeom>
          <a:noFill/>
        </p:spPr>
        <p:txBody>
          <a:bodyPr wrap="square" lIns="73152" rIns="73152" tIns="36576" bIns="36576">
            <a:normAutofit/>
          </a:bodyPr>
          <a:lstStyle/>
          <a:p>
            <a:pPr algn="ctr"/>
            <a:r>
              <a:rPr sz="1130" b="1">
                <a:solidFill>
                  <a:srgbClr val="1F4E79"/>
                </a:solidFill>
                <a:latin typeface="Aptos"/>
              </a:rPr>
              <a:t>Açıklama</a:t>
            </a:r>
          </a:p>
        </p:txBody>
      </p:sp>
      <p:sp>
        <p:nvSpPr>
          <p:cNvPr id="13" name="TextBox 12"/>
          <p:cNvSpPr txBox="1"/>
          <p:nvPr/>
        </p:nvSpPr>
        <p:spPr>
          <a:xfrm>
            <a:off x="502920" y="6565392"/>
            <a:ext cx="8046720" cy="201168"/>
          </a:xfrm>
          <a:prstGeom prst="rect">
            <a:avLst/>
          </a:prstGeom>
          <a:noFill/>
        </p:spPr>
        <p:txBody>
          <a:bodyPr wrap="square" lIns="73152" rIns="73152" tIns="36576" bIns="36576">
            <a:normAutofit/>
          </a:bodyPr>
          <a:lstStyle/>
          <a:p>
            <a:pPr algn="l"/>
            <a:r>
              <a:rPr sz="830" b="0">
                <a:solidFill>
                  <a:srgbClr val="4B5563"/>
                </a:solidFill>
                <a:latin typeface="Aptos"/>
              </a:rPr>
              <a:t>BLM308 Veri Madenciliği Final Projesi</a:t>
            </a:r>
          </a:p>
        </p:txBody>
      </p:sp>
      <p:sp>
        <p:nvSpPr>
          <p:cNvPr id="14" name="TextBox 13"/>
          <p:cNvSpPr txBox="1"/>
          <p:nvPr/>
        </p:nvSpPr>
        <p:spPr>
          <a:xfrm>
            <a:off x="11155680" y="6565392"/>
            <a:ext cx="457200" cy="201168"/>
          </a:xfrm>
          <a:prstGeom prst="rect">
            <a:avLst/>
          </a:prstGeom>
          <a:noFill/>
        </p:spPr>
        <p:txBody>
          <a:bodyPr wrap="square" lIns="73152" rIns="73152" tIns="36576" bIns="36576">
            <a:normAutofit/>
          </a:bodyPr>
          <a:lstStyle/>
          <a:p>
            <a:pPr algn="r"/>
            <a:r>
              <a:rPr sz="830" b="0">
                <a:solidFill>
                  <a:srgbClr val="4B5563"/>
                </a:solidFill>
                <a:latin typeface="Aptos"/>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01168"/>
            <a:ext cx="11155680" cy="457200"/>
          </a:xfrm>
          <a:prstGeom prst="rect">
            <a:avLst/>
          </a:prstGeom>
          <a:noFill/>
        </p:spPr>
        <p:txBody>
          <a:bodyPr wrap="square" lIns="73152" rIns="73152" tIns="36576" bIns="36576">
            <a:normAutofit/>
          </a:bodyPr>
          <a:lstStyle/>
          <a:p>
            <a:pPr algn="l"/>
            <a:r>
              <a:rPr sz="2250" b="1">
                <a:solidFill>
                  <a:srgbClr val="1F4E79"/>
                </a:solidFill>
                <a:latin typeface="Aptos"/>
              </a:rPr>
              <a:t>Sunum Akışı</a:t>
            </a:r>
          </a:p>
        </p:txBody>
      </p:sp>
      <p:sp>
        <p:nvSpPr>
          <p:cNvPr id="3" name="Rectangle 2"/>
          <p:cNvSpPr/>
          <p:nvPr/>
        </p:nvSpPr>
        <p:spPr>
          <a:xfrm>
            <a:off x="502920" y="786384"/>
            <a:ext cx="11155680" cy="3200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30352" y="859536"/>
            <a:ext cx="10789920" cy="347472"/>
          </a:xfrm>
          <a:prstGeom prst="rect">
            <a:avLst/>
          </a:prstGeom>
          <a:noFill/>
        </p:spPr>
        <p:txBody>
          <a:bodyPr wrap="square" lIns="73152" rIns="73152" tIns="36576" bIns="36576">
            <a:normAutofit/>
          </a:bodyPr>
          <a:lstStyle/>
          <a:p>
            <a:pPr algn="l"/>
            <a:r>
              <a:rPr sz="1180" b="0">
                <a:solidFill>
                  <a:srgbClr val="4B5563"/>
                </a:solidFill>
                <a:latin typeface="Aptos"/>
              </a:rPr>
              <a:t>Anlatım, iş probleminden başlayıp model çıktılarının gerçek kullanımda nasıl yorumlanacağına kadar ilerler.</a:t>
            </a:r>
          </a:p>
        </p:txBody>
      </p:sp>
      <p:sp>
        <p:nvSpPr>
          <p:cNvPr id="5" name="TextBox 4"/>
          <p:cNvSpPr txBox="1"/>
          <p:nvPr/>
        </p:nvSpPr>
        <p:spPr>
          <a:xfrm>
            <a:off x="502920" y="6565392"/>
            <a:ext cx="8046720" cy="201168"/>
          </a:xfrm>
          <a:prstGeom prst="rect">
            <a:avLst/>
          </a:prstGeom>
          <a:noFill/>
        </p:spPr>
        <p:txBody>
          <a:bodyPr wrap="square" lIns="73152" rIns="73152" tIns="36576" bIns="36576">
            <a:normAutofit/>
          </a:bodyPr>
          <a:lstStyle/>
          <a:p>
            <a:pPr algn="l"/>
            <a:r>
              <a:rPr sz="830" b="0">
                <a:solidFill>
                  <a:srgbClr val="4B5563"/>
                </a:solidFill>
                <a:latin typeface="Aptos"/>
              </a:rPr>
              <a:t>BLM308 Veri Madenciliği Final Projesi</a:t>
            </a:r>
          </a:p>
        </p:txBody>
      </p:sp>
      <p:sp>
        <p:nvSpPr>
          <p:cNvPr id="6" name="TextBox 5"/>
          <p:cNvSpPr txBox="1"/>
          <p:nvPr/>
        </p:nvSpPr>
        <p:spPr>
          <a:xfrm>
            <a:off x="11155680" y="6565392"/>
            <a:ext cx="457200" cy="201168"/>
          </a:xfrm>
          <a:prstGeom prst="rect">
            <a:avLst/>
          </a:prstGeom>
          <a:noFill/>
        </p:spPr>
        <p:txBody>
          <a:bodyPr wrap="square" lIns="73152" rIns="73152" tIns="36576" bIns="36576">
            <a:normAutofit/>
          </a:bodyPr>
          <a:lstStyle/>
          <a:p>
            <a:pPr algn="r"/>
            <a:r>
              <a:rPr sz="830" b="0">
                <a:solidFill>
                  <a:srgbClr val="4B5563"/>
                </a:solidFill>
                <a:latin typeface="Aptos"/>
              </a:rPr>
              <a:t>2</a:t>
            </a:r>
          </a:p>
        </p:txBody>
      </p:sp>
      <p:graphicFrame>
        <p:nvGraphicFramePr>
          <p:cNvPr id="7" name="Table 6"/>
          <p:cNvGraphicFramePr>
            <a:graphicFrameLocks noGrp="1"/>
          </p:cNvGraphicFramePr>
          <p:nvPr/>
        </p:nvGraphicFramePr>
        <p:xfrm>
          <a:off x="594360" y="1234440"/>
          <a:ext cx="10972800" cy="3840480"/>
        </p:xfrm>
        <a:graphic>
          <a:graphicData uri="http://schemas.openxmlformats.org/drawingml/2006/table">
            <a:tbl>
              <a:tblPr firstRow="1" bandRow="1">
                <a:tableStyleId>{5C22544A-7EE6-4342-B048-85BDC9FD1C3A}</a:tableStyleId>
              </a:tblPr>
              <a:tblGrid>
                <a:gridCol w="5486400"/>
                <a:gridCol w="5486400"/>
              </a:tblGrid>
              <a:tr h="480060">
                <a:tc>
                  <a:txBody>
                    <a:bodyPr/>
                    <a:lstStyle/>
                    <a:p>
                      <a:pPr algn="ctr">
                        <a:defRPr sz="1050">
                          <a:solidFill>
                            <a:srgbClr val="FFFFFF"/>
                          </a:solidFill>
                          <a:latin typeface="Aptos"/>
                        </a:defRPr>
                      </a:pPr>
                      <a:r>
                        <a:t>Bölüm</a:t>
                      </a:r>
                    </a:p>
                  </a:txBody>
                  <a:tcPr>
                    <a:solidFill>
                      <a:srgbClr val="1F4E79"/>
                    </a:solidFill>
                  </a:tcPr>
                </a:tc>
                <a:tc>
                  <a:txBody>
                    <a:bodyPr/>
                    <a:lstStyle/>
                    <a:p>
                      <a:pPr algn="ctr">
                        <a:defRPr sz="1050">
                          <a:solidFill>
                            <a:srgbClr val="FFFFFF"/>
                          </a:solidFill>
                          <a:latin typeface="Aptos"/>
                        </a:defRPr>
                      </a:pPr>
                      <a:r>
                        <a:t>Bu bölümde cevaplanan temel soru</a:t>
                      </a:r>
                    </a:p>
                  </a:txBody>
                  <a:tcPr>
                    <a:solidFill>
                      <a:srgbClr val="1F4E79"/>
                    </a:solidFill>
                  </a:tcPr>
                </a:tc>
              </a:tr>
              <a:tr h="480060">
                <a:tc>
                  <a:txBody>
                    <a:bodyPr/>
                    <a:lstStyle/>
                    <a:p>
                      <a:pPr algn="ctr">
                        <a:defRPr sz="1050">
                          <a:solidFill>
                            <a:srgbClr val="111827"/>
                          </a:solidFill>
                          <a:latin typeface="Aptos"/>
                        </a:defRPr>
                      </a:pPr>
                      <a:r>
                        <a:t>1. Problem ve motivasyon</a:t>
                      </a:r>
                    </a:p>
                  </a:txBody>
                  <a:tcPr>
                    <a:solidFill>
                      <a:srgbClr val="F8FAFC"/>
                    </a:solidFill>
                  </a:tcPr>
                </a:tc>
                <a:tc>
                  <a:txBody>
                    <a:bodyPr/>
                    <a:lstStyle/>
                    <a:p>
                      <a:pPr algn="ctr">
                        <a:defRPr sz="1050">
                          <a:solidFill>
                            <a:srgbClr val="111827"/>
                          </a:solidFill>
                          <a:latin typeface="Aptos"/>
                        </a:defRPr>
                      </a:pPr>
                      <a:r>
                        <a:t>Banka neden veriye dayalı müşteri önceliklendirmesine ihtiyaç duyar?</a:t>
                      </a:r>
                    </a:p>
                  </a:txBody>
                  <a:tcPr>
                    <a:solidFill>
                      <a:srgbClr val="F8FAFC"/>
                    </a:solidFill>
                  </a:tcPr>
                </a:tc>
              </a:tr>
              <a:tr h="480060">
                <a:tc>
                  <a:txBody>
                    <a:bodyPr/>
                    <a:lstStyle/>
                    <a:p>
                      <a:pPr algn="ctr">
                        <a:defRPr sz="1050">
                          <a:solidFill>
                            <a:srgbClr val="111827"/>
                          </a:solidFill>
                          <a:latin typeface="Aptos"/>
                        </a:defRPr>
                      </a:pPr>
                      <a:r>
                        <a:t>2. Yöntem</a:t>
                      </a:r>
                    </a:p>
                  </a:txBody>
                  <a:tcPr>
                    <a:solidFill>
                      <a:srgbClr val="F8FAFC"/>
                    </a:solidFill>
                  </a:tcPr>
                </a:tc>
                <a:tc>
                  <a:txBody>
                    <a:bodyPr/>
                    <a:lstStyle/>
                    <a:p>
                      <a:pPr algn="ctr">
                        <a:defRPr sz="1050">
                          <a:solidFill>
                            <a:srgbClr val="111827"/>
                          </a:solidFill>
                          <a:latin typeface="Aptos"/>
                        </a:defRPr>
                      </a:pPr>
                      <a:r>
                        <a:t>CRISP-DM süreci projede hangi adımlarla uygulanmıştır?</a:t>
                      </a:r>
                    </a:p>
                  </a:txBody>
                  <a:tcPr>
                    <a:solidFill>
                      <a:srgbClr val="F8FAFC"/>
                    </a:solidFill>
                  </a:tcPr>
                </a:tc>
              </a:tr>
              <a:tr h="480060">
                <a:tc>
                  <a:txBody>
                    <a:bodyPr/>
                    <a:lstStyle/>
                    <a:p>
                      <a:pPr algn="ctr">
                        <a:defRPr sz="1050">
                          <a:solidFill>
                            <a:srgbClr val="111827"/>
                          </a:solidFill>
                          <a:latin typeface="Aptos"/>
                        </a:defRPr>
                      </a:pPr>
                      <a:r>
                        <a:t>3. Veri</a:t>
                      </a:r>
                    </a:p>
                  </a:txBody>
                  <a:tcPr>
                    <a:solidFill>
                      <a:srgbClr val="F8FAFC"/>
                    </a:solidFill>
                  </a:tcPr>
                </a:tc>
                <a:tc>
                  <a:txBody>
                    <a:bodyPr/>
                    <a:lstStyle/>
                    <a:p>
                      <a:pPr algn="ctr">
                        <a:defRPr sz="1050">
                          <a:solidFill>
                            <a:srgbClr val="111827"/>
                          </a:solidFill>
                          <a:latin typeface="Aptos"/>
                        </a:defRPr>
                      </a:pPr>
                      <a:r>
                        <a:t>Veri seti hangi riskleri taşır ve nasıl hazırlanmıştır?</a:t>
                      </a:r>
                    </a:p>
                  </a:txBody>
                  <a:tcPr>
                    <a:solidFill>
                      <a:srgbClr val="F8FAFC"/>
                    </a:solidFill>
                  </a:tcPr>
                </a:tc>
              </a:tr>
              <a:tr h="480060">
                <a:tc>
                  <a:txBody>
                    <a:bodyPr/>
                    <a:lstStyle/>
                    <a:p>
                      <a:pPr algn="ctr">
                        <a:defRPr sz="1050">
                          <a:solidFill>
                            <a:srgbClr val="111827"/>
                          </a:solidFill>
                          <a:latin typeface="Aptos"/>
                        </a:defRPr>
                      </a:pPr>
                      <a:r>
                        <a:t>4. Modelleme</a:t>
                      </a:r>
                    </a:p>
                  </a:txBody>
                  <a:tcPr>
                    <a:solidFill>
                      <a:srgbClr val="F8FAFC"/>
                    </a:solidFill>
                  </a:tcPr>
                </a:tc>
                <a:tc>
                  <a:txBody>
                    <a:bodyPr/>
                    <a:lstStyle/>
                    <a:p>
                      <a:pPr algn="ctr">
                        <a:defRPr sz="1050">
                          <a:solidFill>
                            <a:srgbClr val="111827"/>
                          </a:solidFill>
                          <a:latin typeface="Aptos"/>
                        </a:defRPr>
                      </a:pPr>
                      <a:r>
                        <a:t>Hangi modeller denenmiş, ana model neden seçilmiştir?</a:t>
                      </a:r>
                    </a:p>
                  </a:txBody>
                  <a:tcPr>
                    <a:solidFill>
                      <a:srgbClr val="F8FAFC"/>
                    </a:solidFill>
                  </a:tcPr>
                </a:tc>
              </a:tr>
              <a:tr h="480060">
                <a:tc>
                  <a:txBody>
                    <a:bodyPr/>
                    <a:lstStyle/>
                    <a:p>
                      <a:pPr algn="ctr">
                        <a:defRPr sz="1050">
                          <a:solidFill>
                            <a:srgbClr val="111827"/>
                          </a:solidFill>
                          <a:latin typeface="Aptos"/>
                        </a:defRPr>
                      </a:pPr>
                      <a:r>
                        <a:t>5. Sonuçlar</a:t>
                      </a:r>
                    </a:p>
                  </a:txBody>
                  <a:tcPr>
                    <a:solidFill>
                      <a:srgbClr val="F8FAFC"/>
                    </a:solidFill>
                  </a:tcPr>
                </a:tc>
                <a:tc>
                  <a:txBody>
                    <a:bodyPr/>
                    <a:lstStyle/>
                    <a:p>
                      <a:pPr algn="ctr">
                        <a:defRPr sz="1050">
                          <a:solidFill>
                            <a:srgbClr val="111827"/>
                          </a:solidFill>
                          <a:latin typeface="Aptos"/>
                        </a:defRPr>
                      </a:pPr>
                      <a:r>
                        <a:t>Başarı metrikleri ve istatistiksel testler ne göstermektedir?</a:t>
                      </a:r>
                    </a:p>
                  </a:txBody>
                  <a:tcPr>
                    <a:solidFill>
                      <a:srgbClr val="F8FAFC"/>
                    </a:solidFill>
                  </a:tcPr>
                </a:tc>
              </a:tr>
              <a:tr h="480060">
                <a:tc>
                  <a:txBody>
                    <a:bodyPr/>
                    <a:lstStyle/>
                    <a:p>
                      <a:pPr algn="ctr">
                        <a:defRPr sz="1050">
                          <a:solidFill>
                            <a:srgbClr val="111827"/>
                          </a:solidFill>
                          <a:latin typeface="Aptos"/>
                        </a:defRPr>
                      </a:pPr>
                      <a:r>
                        <a:t>6. Açıklanabilirlik</a:t>
                      </a:r>
                    </a:p>
                  </a:txBody>
                  <a:tcPr>
                    <a:solidFill>
                      <a:srgbClr val="F8FAFC"/>
                    </a:solidFill>
                  </a:tcPr>
                </a:tc>
                <a:tc>
                  <a:txBody>
                    <a:bodyPr/>
                    <a:lstStyle/>
                    <a:p>
                      <a:pPr algn="ctr">
                        <a:defRPr sz="1050">
                          <a:solidFill>
                            <a:srgbClr val="111827"/>
                          </a:solidFill>
                          <a:latin typeface="Aptos"/>
                        </a:defRPr>
                      </a:pPr>
                      <a:r>
                        <a:t>Model kararları genel ve tek müşteri düzeyinde nasıl açıklanmıştır?</a:t>
                      </a:r>
                    </a:p>
                  </a:txBody>
                  <a:tcPr>
                    <a:solidFill>
                      <a:srgbClr val="F8FAFC"/>
                    </a:solidFill>
                  </a:tcPr>
                </a:tc>
              </a:tr>
              <a:tr h="480060">
                <a:tc>
                  <a:txBody>
                    <a:bodyPr/>
                    <a:lstStyle/>
                    <a:p>
                      <a:pPr algn="ctr">
                        <a:defRPr sz="1050">
                          <a:solidFill>
                            <a:srgbClr val="111827"/>
                          </a:solidFill>
                          <a:latin typeface="Aptos"/>
                        </a:defRPr>
                      </a:pPr>
                      <a:r>
                        <a:t>7. Uygulama</a:t>
                      </a:r>
                    </a:p>
                  </a:txBody>
                  <a:tcPr>
                    <a:solidFill>
                      <a:srgbClr val="F8FAFC"/>
                    </a:solidFill>
                  </a:tcPr>
                </a:tc>
                <a:tc>
                  <a:txBody>
                    <a:bodyPr/>
                    <a:lstStyle/>
                    <a:p>
                      <a:pPr algn="ctr">
                        <a:defRPr sz="1050">
                          <a:solidFill>
                            <a:srgbClr val="111827"/>
                          </a:solidFill>
                          <a:latin typeface="Aptos"/>
                        </a:defRPr>
                      </a:pPr>
                      <a:r>
                        <a:t>Çalışma nasıl gösterilebilir bir Türkçe karar destek sistemine dönüştürülmüştür?</a:t>
                      </a:r>
                    </a:p>
                  </a:txBody>
                  <a:tcPr>
                    <a:solidFill>
                      <a:srgbClr val="F8FAFC"/>
                    </a:solidFill>
                  </a:tcPr>
                </a:tc>
              </a:tr>
            </a:tbl>
          </a:graphicData>
        </a:graphic>
      </p:graphicFrame>
      <p:sp>
        <p:nvSpPr>
          <p:cNvPr id="8" name="TextBox 7"/>
          <p:cNvSpPr txBox="1"/>
          <p:nvPr/>
        </p:nvSpPr>
        <p:spPr>
          <a:xfrm>
            <a:off x="868680" y="5394960"/>
            <a:ext cx="10515600" cy="640080"/>
          </a:xfrm>
          <a:prstGeom prst="rect">
            <a:avLst/>
          </a:prstGeom>
          <a:noFill/>
        </p:spPr>
        <p:txBody>
          <a:bodyPr wrap="square" lIns="73152" rIns="73152" tIns="36576" bIns="36576">
            <a:normAutofit/>
          </a:bodyPr>
          <a:lstStyle/>
          <a:p>
            <a:pPr algn="l">
              <a:spcAft>
                <a:spcPts val="500"/>
              </a:spcAft>
              <a:defRPr sz="1400">
                <a:solidFill>
                  <a:srgbClr val="4B5563"/>
                </a:solidFill>
                <a:latin typeface="Aptos"/>
              </a:defRPr>
            </a:pPr>
            <a:r>
              <a:t>Bu yapı, projenin yalnızca teknik bir model denemesi olmadığını; veri madenciliği döngüsünün tüm ana bileşenlerini kapsayan bütüncül bir çalışma olduğunu gösterir.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F4E79"/>
        </a:solidFill>
        <a:effectLst/>
      </p:bgPr>
    </p:bg>
    <p:spTree>
      <p:nvGrpSpPr>
        <p:cNvPr id="1" name=""/>
        <p:cNvGrpSpPr/>
        <p:nvPr/>
      </p:nvGrpSpPr>
      <p:grpSpPr/>
      <p:sp>
        <p:nvSpPr>
          <p:cNvPr id="2" name="TextBox 1"/>
          <p:cNvSpPr txBox="1"/>
          <p:nvPr/>
        </p:nvSpPr>
        <p:spPr>
          <a:xfrm>
            <a:off x="685800" y="1325880"/>
            <a:ext cx="10789920" cy="640080"/>
          </a:xfrm>
          <a:prstGeom prst="rect">
            <a:avLst/>
          </a:prstGeom>
          <a:noFill/>
        </p:spPr>
        <p:txBody>
          <a:bodyPr wrap="square" lIns="73152" rIns="73152" tIns="36576" bIns="36576">
            <a:normAutofit/>
          </a:bodyPr>
          <a:lstStyle/>
          <a:p>
            <a:pPr algn="l"/>
            <a:r>
              <a:rPr sz="3400" b="1">
                <a:solidFill>
                  <a:srgbClr val="FFFFFF"/>
                </a:solidFill>
                <a:latin typeface="Aptos"/>
              </a:rPr>
              <a:t>1. Problem ve Motivasyon</a:t>
            </a:r>
          </a:p>
        </p:txBody>
      </p:sp>
      <p:sp>
        <p:nvSpPr>
          <p:cNvPr id="3" name="TextBox 2"/>
          <p:cNvSpPr txBox="1"/>
          <p:nvPr/>
        </p:nvSpPr>
        <p:spPr>
          <a:xfrm>
            <a:off x="713232" y="2121408"/>
            <a:ext cx="10424160" cy="548640"/>
          </a:xfrm>
          <a:prstGeom prst="rect">
            <a:avLst/>
          </a:prstGeom>
          <a:noFill/>
        </p:spPr>
        <p:txBody>
          <a:bodyPr wrap="square" lIns="73152" rIns="73152" tIns="36576" bIns="36576">
            <a:normAutofit/>
          </a:bodyPr>
          <a:lstStyle/>
          <a:p>
            <a:pPr algn="l"/>
            <a:r>
              <a:rPr sz="1850" b="0">
                <a:solidFill>
                  <a:srgbClr val="DBEAFE"/>
                </a:solidFill>
                <a:latin typeface="Aptos"/>
              </a:rPr>
              <a:t>Tahmin sistemi, kampanya kaynaklarını daha etkili kullanmak ve model kararlarını denetlenebilir hale getirmek için tasarlanmıştır.</a:t>
            </a:r>
          </a:p>
        </p:txBody>
      </p:sp>
      <p:sp>
        <p:nvSpPr>
          <p:cNvPr id="4" name="TextBox 3"/>
          <p:cNvSpPr txBox="1"/>
          <p:nvPr/>
        </p:nvSpPr>
        <p:spPr>
          <a:xfrm>
            <a:off x="731520" y="2953512"/>
            <a:ext cx="10104120" cy="1572768"/>
          </a:xfrm>
          <a:prstGeom prst="rect">
            <a:avLst/>
          </a:prstGeom>
          <a:noFill/>
        </p:spPr>
        <p:txBody>
          <a:bodyPr wrap="square" lIns="73152" rIns="73152" tIns="36576" bIns="36576">
            <a:normAutofit/>
          </a:bodyPr>
          <a:lstStyle/>
          <a:p>
            <a:pPr algn="l">
              <a:spcAft>
                <a:spcPts val="600"/>
              </a:spcAft>
              <a:defRPr sz="1460">
                <a:solidFill>
                  <a:srgbClr val="FFFFFF"/>
                </a:solidFill>
                <a:latin typeface="Aptos"/>
              </a:defRPr>
            </a:pPr>
            <a:r>
              <a:t>Bankacılıkta her müşteriye aynı sıklıkta ve aynı öncelikle ulaşmak maliyetli bir yaklaşımdır. Bu nedenle kampanya ekipleri, sınırlı zaman ve arama kapasitesini dönüşüm ihtimali daha yüksek müşterilere yönlendirmek ister.</a:t>
            </a:r>
          </a:p>
          <a:p>
            <a:pPr algn="l">
              <a:spcAft>
                <a:spcPts val="600"/>
              </a:spcAft>
              <a:defRPr sz="1460">
                <a:solidFill>
                  <a:srgbClr val="FFFFFF"/>
                </a:solidFill>
                <a:latin typeface="Aptos"/>
              </a:defRPr>
            </a:pPr>
            <a:r>
              <a:t>Ancak finansal alanda yalnızca yüksek tahmin skoru yeterli değildir; modelin bu skoru hangi müşteri özelliklerine dayanarak verdiği de açıklanmalıdır.</a:t>
            </a:r>
          </a:p>
        </p:txBody>
      </p:sp>
      <p:sp>
        <p:nvSpPr>
          <p:cNvPr id="5" name="TextBox 4"/>
          <p:cNvSpPr txBox="1"/>
          <p:nvPr/>
        </p:nvSpPr>
        <p:spPr>
          <a:xfrm>
            <a:off x="502920" y="6565392"/>
            <a:ext cx="8046720" cy="201168"/>
          </a:xfrm>
          <a:prstGeom prst="rect">
            <a:avLst/>
          </a:prstGeom>
          <a:noFill/>
        </p:spPr>
        <p:txBody>
          <a:bodyPr wrap="square" lIns="73152" rIns="73152" tIns="36576" bIns="36576">
            <a:normAutofit/>
          </a:bodyPr>
          <a:lstStyle/>
          <a:p>
            <a:pPr algn="l"/>
            <a:r>
              <a:rPr sz="830" b="0">
                <a:solidFill>
                  <a:srgbClr val="4B5563"/>
                </a:solidFill>
                <a:latin typeface="Aptos"/>
              </a:rPr>
              <a:t>BLM308 Veri Madenciliği Final Projesi</a:t>
            </a:r>
          </a:p>
        </p:txBody>
      </p:sp>
      <p:sp>
        <p:nvSpPr>
          <p:cNvPr id="6" name="TextBox 5"/>
          <p:cNvSpPr txBox="1"/>
          <p:nvPr/>
        </p:nvSpPr>
        <p:spPr>
          <a:xfrm>
            <a:off x="11155680" y="6565392"/>
            <a:ext cx="457200" cy="201168"/>
          </a:xfrm>
          <a:prstGeom prst="rect">
            <a:avLst/>
          </a:prstGeom>
          <a:noFill/>
        </p:spPr>
        <p:txBody>
          <a:bodyPr wrap="square" lIns="73152" rIns="73152" tIns="36576" bIns="36576">
            <a:normAutofit/>
          </a:bodyPr>
          <a:lstStyle/>
          <a:p>
            <a:pPr algn="r"/>
            <a:r>
              <a:rPr sz="830" b="0">
                <a:solidFill>
                  <a:srgbClr val="4B5563"/>
                </a:solidFill>
                <a:latin typeface="Aptos"/>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01168"/>
            <a:ext cx="11155680" cy="457200"/>
          </a:xfrm>
          <a:prstGeom prst="rect">
            <a:avLst/>
          </a:prstGeom>
          <a:noFill/>
        </p:spPr>
        <p:txBody>
          <a:bodyPr wrap="square" lIns="73152" rIns="73152" tIns="36576" bIns="36576">
            <a:normAutofit/>
          </a:bodyPr>
          <a:lstStyle/>
          <a:p>
            <a:pPr algn="l"/>
            <a:r>
              <a:rPr sz="2250" b="1">
                <a:solidFill>
                  <a:srgbClr val="1F4E79"/>
                </a:solidFill>
                <a:latin typeface="Aptos"/>
              </a:rPr>
              <a:t>Problem Tanımı</a:t>
            </a:r>
          </a:p>
        </p:txBody>
      </p:sp>
      <p:sp>
        <p:nvSpPr>
          <p:cNvPr id="3" name="Rectangle 2"/>
          <p:cNvSpPr/>
          <p:nvPr/>
        </p:nvSpPr>
        <p:spPr>
          <a:xfrm>
            <a:off x="502920" y="786384"/>
            <a:ext cx="11155680" cy="3200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565392"/>
            <a:ext cx="8046720" cy="201168"/>
          </a:xfrm>
          <a:prstGeom prst="rect">
            <a:avLst/>
          </a:prstGeom>
          <a:noFill/>
        </p:spPr>
        <p:txBody>
          <a:bodyPr wrap="square" lIns="73152" rIns="73152" tIns="36576" bIns="36576">
            <a:normAutofit/>
          </a:bodyPr>
          <a:lstStyle/>
          <a:p>
            <a:pPr algn="l"/>
            <a:r>
              <a:rPr sz="830" b="0">
                <a:solidFill>
                  <a:srgbClr val="4B5563"/>
                </a:solidFill>
                <a:latin typeface="Aptos"/>
              </a:rPr>
              <a:t>BLM308 Veri Madenciliği Final Projesi</a:t>
            </a:r>
          </a:p>
        </p:txBody>
      </p:sp>
      <p:sp>
        <p:nvSpPr>
          <p:cNvPr id="5" name="TextBox 4"/>
          <p:cNvSpPr txBox="1"/>
          <p:nvPr/>
        </p:nvSpPr>
        <p:spPr>
          <a:xfrm>
            <a:off x="11155680" y="6565392"/>
            <a:ext cx="457200" cy="201168"/>
          </a:xfrm>
          <a:prstGeom prst="rect">
            <a:avLst/>
          </a:prstGeom>
          <a:noFill/>
        </p:spPr>
        <p:txBody>
          <a:bodyPr wrap="square" lIns="73152" rIns="73152" tIns="36576" bIns="36576">
            <a:normAutofit/>
          </a:bodyPr>
          <a:lstStyle/>
          <a:p>
            <a:pPr algn="r"/>
            <a:r>
              <a:rPr sz="830" b="0">
                <a:solidFill>
                  <a:srgbClr val="4B5563"/>
                </a:solidFill>
                <a:latin typeface="Aptos"/>
              </a:rPr>
              <a:t>4</a:t>
            </a:r>
          </a:p>
        </p:txBody>
      </p:sp>
      <p:sp>
        <p:nvSpPr>
          <p:cNvPr id="6" name="TextBox 5"/>
          <p:cNvSpPr txBox="1"/>
          <p:nvPr/>
        </p:nvSpPr>
        <p:spPr>
          <a:xfrm>
            <a:off x="685800" y="1207008"/>
            <a:ext cx="5623560" cy="3154680"/>
          </a:xfrm>
          <a:prstGeom prst="rect">
            <a:avLst/>
          </a:prstGeom>
          <a:noFill/>
        </p:spPr>
        <p:txBody>
          <a:bodyPr wrap="square" lIns="73152" rIns="73152" tIns="36576" bIns="36576">
            <a:normAutofit/>
          </a:bodyPr>
          <a:lstStyle/>
          <a:p>
            <a:pPr algn="l">
              <a:spcAft>
                <a:spcPts val="500"/>
              </a:spcAft>
              <a:defRPr sz="1400">
                <a:solidFill>
                  <a:srgbClr val="111827"/>
                </a:solidFill>
                <a:latin typeface="Aptos"/>
              </a:defRPr>
            </a:pPr>
            <a:r>
              <a:t>Projenin temel problemi, bir müşterinin banka pazarlama kampanyası sonucunda vadeli mevduata abone olup olmayacağını önceden tahmin etmektir. Bu tahmin, kampanya başlamadan önce müşteri önceliklendirmesi yapmak için kullanılır.</a:t>
            </a:r>
          </a:p>
          <a:p>
            <a:pPr algn="l">
              <a:spcAft>
                <a:spcPts val="500"/>
              </a:spcAft>
              <a:defRPr sz="1400">
                <a:solidFill>
                  <a:srgbClr val="111827"/>
                </a:solidFill>
                <a:latin typeface="Aptos"/>
              </a:defRPr>
            </a:pPr>
            <a:r>
              <a:t>Rastgele arama yaklaşımında banka, abonelik potansiyeli düşük müşterilere de aynı kaynakları ayırır. Bu durum hem operasyonel maliyeti artırır hem de kampanya ekibinin verimini düşürür.</a:t>
            </a:r>
          </a:p>
          <a:p>
            <a:pPr algn="l">
              <a:spcAft>
                <a:spcPts val="500"/>
              </a:spcAft>
              <a:defRPr sz="1400">
                <a:solidFill>
                  <a:srgbClr val="111827"/>
                </a:solidFill>
                <a:latin typeface="Aptos"/>
              </a:defRPr>
            </a:pPr>
            <a:r>
              <a:t>Modelin amacı, müşterilere ait profil, finansal durum ve kampanya geçmişi bilgilerinden yararlanarak yüksek olasılıklı müşterileri öne çıkarmaktır.</a:t>
            </a:r>
          </a:p>
        </p:txBody>
      </p:sp>
      <p:sp>
        <p:nvSpPr>
          <p:cNvPr id="7" name="Rounded Rectangle 6"/>
          <p:cNvSpPr/>
          <p:nvPr/>
        </p:nvSpPr>
        <p:spPr>
          <a:xfrm>
            <a:off x="6720840" y="1325880"/>
            <a:ext cx="4389120" cy="1234440"/>
          </a:xfrm>
          <a:prstGeom prst="roundRect">
            <a:avLst/>
          </a:prstGeom>
          <a:solidFill>
            <a:srgbClr val="F5F7FA"/>
          </a:solidFill>
          <a:ln w="1397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91440" bIns="36576">
            <a:normAutofit/>
          </a:bodyPr>
          <a:lstStyle/>
          <a:p>
            <a:pPr algn="ctr"/>
            <a:r>
              <a:rPr sz="1400" b="1">
                <a:solidFill>
                  <a:srgbClr val="2563EB"/>
                </a:solidFill>
                <a:latin typeface="Aptos"/>
              </a:rPr>
              <a:t>Karar destek sorusu</a:t>
            </a:r>
          </a:p>
          <a:p>
            <a:pPr>
              <a:spcBef>
                <a:spcPts val="400"/>
              </a:spcBef>
              <a:defRPr sz="1280">
                <a:solidFill>
                  <a:srgbClr val="111827"/>
                </a:solidFill>
                <a:latin typeface="Aptos"/>
              </a:defRPr>
            </a:pPr>
            <a:r>
              <a:t>“Hangi müşteriler önce aranmalı ve bu öneri hangi değişkenlere dayanmaktadır?”</a:t>
            </a:r>
          </a:p>
        </p:txBody>
      </p:sp>
      <p:sp>
        <p:nvSpPr>
          <p:cNvPr id="8" name="Rounded Rectangle 7"/>
          <p:cNvSpPr/>
          <p:nvPr/>
        </p:nvSpPr>
        <p:spPr>
          <a:xfrm>
            <a:off x="6720840" y="2907792"/>
            <a:ext cx="4389120" cy="1572768"/>
          </a:xfrm>
          <a:prstGeom prst="roundRect">
            <a:avLst/>
          </a:prstGeom>
          <a:solidFill>
            <a:srgbClr val="F5F7FA"/>
          </a:solidFill>
          <a:ln w="1397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91440" bIns="36576">
            <a:normAutofit/>
          </a:bodyPr>
          <a:lstStyle/>
          <a:p>
            <a:pPr algn="ctr"/>
            <a:r>
              <a:rPr sz="1400" b="1">
                <a:solidFill>
                  <a:srgbClr val="0F766E"/>
                </a:solidFill>
                <a:latin typeface="Aptos"/>
              </a:rPr>
              <a:t>Gerçek kullanım senaryosu</a:t>
            </a:r>
          </a:p>
          <a:p>
            <a:pPr>
              <a:spcBef>
                <a:spcPts val="400"/>
              </a:spcBef>
              <a:defRPr sz="1200">
                <a:solidFill>
                  <a:srgbClr val="111827"/>
                </a:solidFill>
                <a:latin typeface="Aptos"/>
              </a:defRPr>
            </a:pPr>
            <a:r>
              <a:t>Bir kampanya yöneticisi, günlük arama listesinde en yüksek olasılıklı müşterileri üst sıraya alır; XAI çıktıları ise bu sıralamanın neden oluştuğunu açıklar.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01168"/>
            <a:ext cx="11155680" cy="457200"/>
          </a:xfrm>
          <a:prstGeom prst="rect">
            <a:avLst/>
          </a:prstGeom>
          <a:noFill/>
        </p:spPr>
        <p:txBody>
          <a:bodyPr wrap="square" lIns="73152" rIns="73152" tIns="36576" bIns="36576">
            <a:normAutofit/>
          </a:bodyPr>
          <a:lstStyle/>
          <a:p>
            <a:pPr algn="l"/>
            <a:r>
              <a:rPr sz="2250" b="1">
                <a:solidFill>
                  <a:srgbClr val="1F4E79"/>
                </a:solidFill>
                <a:latin typeface="Aptos"/>
              </a:rPr>
              <a:t>İş Değeri ve Beklenen Katkı</a:t>
            </a:r>
          </a:p>
        </p:txBody>
      </p:sp>
      <p:sp>
        <p:nvSpPr>
          <p:cNvPr id="3" name="Rectangle 2"/>
          <p:cNvSpPr/>
          <p:nvPr/>
        </p:nvSpPr>
        <p:spPr>
          <a:xfrm>
            <a:off x="502920" y="786384"/>
            <a:ext cx="11155680" cy="3200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565392"/>
            <a:ext cx="8046720" cy="201168"/>
          </a:xfrm>
          <a:prstGeom prst="rect">
            <a:avLst/>
          </a:prstGeom>
          <a:noFill/>
        </p:spPr>
        <p:txBody>
          <a:bodyPr wrap="square" lIns="73152" rIns="73152" tIns="36576" bIns="36576">
            <a:normAutofit/>
          </a:bodyPr>
          <a:lstStyle/>
          <a:p>
            <a:pPr algn="l"/>
            <a:r>
              <a:rPr sz="830" b="0">
                <a:solidFill>
                  <a:srgbClr val="4B5563"/>
                </a:solidFill>
                <a:latin typeface="Aptos"/>
              </a:rPr>
              <a:t>BLM308 Veri Madenciliği Final Projesi</a:t>
            </a:r>
          </a:p>
        </p:txBody>
      </p:sp>
      <p:sp>
        <p:nvSpPr>
          <p:cNvPr id="5" name="TextBox 4"/>
          <p:cNvSpPr txBox="1"/>
          <p:nvPr/>
        </p:nvSpPr>
        <p:spPr>
          <a:xfrm>
            <a:off x="11155680" y="6565392"/>
            <a:ext cx="457200" cy="201168"/>
          </a:xfrm>
          <a:prstGeom prst="rect">
            <a:avLst/>
          </a:prstGeom>
          <a:noFill/>
        </p:spPr>
        <p:txBody>
          <a:bodyPr wrap="square" lIns="73152" rIns="73152" tIns="36576" bIns="36576">
            <a:normAutofit/>
          </a:bodyPr>
          <a:lstStyle/>
          <a:p>
            <a:pPr algn="r"/>
            <a:r>
              <a:rPr sz="830" b="0">
                <a:solidFill>
                  <a:srgbClr val="4B5563"/>
                </a:solidFill>
                <a:latin typeface="Aptos"/>
              </a:rPr>
              <a:t>5</a:t>
            </a:r>
          </a:p>
        </p:txBody>
      </p:sp>
      <p:graphicFrame>
        <p:nvGraphicFramePr>
          <p:cNvPr id="6" name="Table 5"/>
          <p:cNvGraphicFramePr>
            <a:graphicFrameLocks noGrp="1"/>
          </p:cNvGraphicFramePr>
          <p:nvPr/>
        </p:nvGraphicFramePr>
        <p:xfrm>
          <a:off x="594360" y="1143000"/>
          <a:ext cx="10972800" cy="2148840"/>
        </p:xfrm>
        <a:graphic>
          <a:graphicData uri="http://schemas.openxmlformats.org/drawingml/2006/table">
            <a:tbl>
              <a:tblPr firstRow="1" bandRow="1">
                <a:tableStyleId>{5C22544A-7EE6-4342-B048-85BDC9FD1C3A}</a:tableStyleId>
              </a:tblPr>
              <a:tblGrid>
                <a:gridCol w="5486400"/>
                <a:gridCol w="5486400"/>
              </a:tblGrid>
              <a:tr h="537210">
                <a:tc>
                  <a:txBody>
                    <a:bodyPr/>
                    <a:lstStyle/>
                    <a:p>
                      <a:pPr algn="ctr">
                        <a:defRPr sz="1130">
                          <a:solidFill>
                            <a:srgbClr val="FFFFFF"/>
                          </a:solidFill>
                          <a:latin typeface="Aptos"/>
                        </a:defRPr>
                      </a:pPr>
                      <a:r>
                        <a:t>Klasik yaklaşım</a:t>
                      </a:r>
                    </a:p>
                  </a:txBody>
                  <a:tcPr>
                    <a:solidFill>
                      <a:srgbClr val="1F4E79"/>
                    </a:solidFill>
                  </a:tcPr>
                </a:tc>
                <a:tc>
                  <a:txBody>
                    <a:bodyPr/>
                    <a:lstStyle/>
                    <a:p>
                      <a:pPr algn="ctr">
                        <a:defRPr sz="1130">
                          <a:solidFill>
                            <a:srgbClr val="FFFFFF"/>
                          </a:solidFill>
                          <a:latin typeface="Aptos"/>
                        </a:defRPr>
                      </a:pPr>
                      <a:r>
                        <a:t>Veriye dayalı yaklaşım</a:t>
                      </a:r>
                    </a:p>
                  </a:txBody>
                  <a:tcPr>
                    <a:solidFill>
                      <a:srgbClr val="1F4E79"/>
                    </a:solidFill>
                  </a:tcPr>
                </a:tc>
              </a:tr>
              <a:tr h="537210">
                <a:tc>
                  <a:txBody>
                    <a:bodyPr/>
                    <a:lstStyle/>
                    <a:p>
                      <a:pPr algn="ctr">
                        <a:defRPr sz="1130">
                          <a:solidFill>
                            <a:srgbClr val="111827"/>
                          </a:solidFill>
                          <a:latin typeface="Aptos"/>
                        </a:defRPr>
                      </a:pPr>
                      <a:r>
                        <a:t>Müşteriler çoğunlukla genel liste sırasına göre aranır.</a:t>
                      </a:r>
                    </a:p>
                  </a:txBody>
                  <a:tcPr>
                    <a:solidFill>
                      <a:srgbClr val="F8FAFC"/>
                    </a:solidFill>
                  </a:tcPr>
                </a:tc>
                <a:tc>
                  <a:txBody>
                    <a:bodyPr/>
                    <a:lstStyle/>
                    <a:p>
                      <a:pPr algn="ctr">
                        <a:defRPr sz="1130">
                          <a:solidFill>
                            <a:srgbClr val="111827"/>
                          </a:solidFill>
                          <a:latin typeface="Aptos"/>
                        </a:defRPr>
                      </a:pPr>
                      <a:r>
                        <a:t>Müşteriler abonelik olasılığına göre önceliklendirilir.</a:t>
                      </a:r>
                    </a:p>
                  </a:txBody>
                  <a:tcPr>
                    <a:solidFill>
                      <a:srgbClr val="F8FAFC"/>
                    </a:solidFill>
                  </a:tcPr>
                </a:tc>
              </a:tr>
              <a:tr h="537210">
                <a:tc>
                  <a:txBody>
                    <a:bodyPr/>
                    <a:lstStyle/>
                    <a:p>
                      <a:pPr algn="ctr">
                        <a:defRPr sz="1130">
                          <a:solidFill>
                            <a:srgbClr val="111827"/>
                          </a:solidFill>
                          <a:latin typeface="Aptos"/>
                        </a:defRPr>
                      </a:pPr>
                      <a:r>
                        <a:t>Arama başına dönüşüm oranı düşük kalabilir.</a:t>
                      </a:r>
                    </a:p>
                  </a:txBody>
                  <a:tcPr>
                    <a:solidFill>
                      <a:srgbClr val="F8FAFC"/>
                    </a:solidFill>
                  </a:tcPr>
                </a:tc>
                <a:tc>
                  <a:txBody>
                    <a:bodyPr/>
                    <a:lstStyle/>
                    <a:p>
                      <a:pPr algn="ctr">
                        <a:defRPr sz="1130">
                          <a:solidFill>
                            <a:srgbClr val="111827"/>
                          </a:solidFill>
                          <a:latin typeface="Aptos"/>
                        </a:defRPr>
                      </a:pPr>
                      <a:r>
                        <a:t>Kampanya ekibi daha verimli temas kurabilir.</a:t>
                      </a:r>
                    </a:p>
                  </a:txBody>
                  <a:tcPr>
                    <a:solidFill>
                      <a:srgbClr val="F8FAFC"/>
                    </a:solidFill>
                  </a:tcPr>
                </a:tc>
              </a:tr>
              <a:tr h="537210">
                <a:tc>
                  <a:txBody>
                    <a:bodyPr/>
                    <a:lstStyle/>
                    <a:p>
                      <a:pPr algn="ctr">
                        <a:defRPr sz="1130">
                          <a:solidFill>
                            <a:srgbClr val="111827"/>
                          </a:solidFill>
                          <a:latin typeface="Aptos"/>
                        </a:defRPr>
                      </a:pPr>
                      <a:r>
                        <a:t>Kararın gerekçesi çoğu zaman sezgiseldir.</a:t>
                      </a:r>
                    </a:p>
                  </a:txBody>
                  <a:tcPr>
                    <a:solidFill>
                      <a:srgbClr val="F8FAFC"/>
                    </a:solidFill>
                  </a:tcPr>
                </a:tc>
                <a:tc>
                  <a:txBody>
                    <a:bodyPr/>
                    <a:lstStyle/>
                    <a:p>
                      <a:pPr algn="ctr">
                        <a:defRPr sz="1130">
                          <a:solidFill>
                            <a:srgbClr val="111827"/>
                          </a:solidFill>
                          <a:latin typeface="Aptos"/>
                        </a:defRPr>
                      </a:pPr>
                      <a:r>
                        <a:t>Tahmin sonucu açıklanabilir faktörlerle desteklenir.</a:t>
                      </a:r>
                    </a:p>
                  </a:txBody>
                  <a:tcPr>
                    <a:solidFill>
                      <a:srgbClr val="F8FAFC"/>
                    </a:solidFill>
                  </a:tcPr>
                </a:tc>
              </a:tr>
            </a:tbl>
          </a:graphicData>
        </a:graphic>
      </p:graphicFrame>
      <p:sp>
        <p:nvSpPr>
          <p:cNvPr id="7" name="TextBox 6"/>
          <p:cNvSpPr txBox="1"/>
          <p:nvPr/>
        </p:nvSpPr>
        <p:spPr>
          <a:xfrm>
            <a:off x="777240" y="3703320"/>
            <a:ext cx="10652760" cy="1417320"/>
          </a:xfrm>
          <a:prstGeom prst="rect">
            <a:avLst/>
          </a:prstGeom>
          <a:noFill/>
        </p:spPr>
        <p:txBody>
          <a:bodyPr wrap="square" lIns="73152" rIns="73152" tIns="36576" bIns="36576">
            <a:normAutofit/>
          </a:bodyPr>
          <a:lstStyle/>
          <a:p>
            <a:pPr algn="l">
              <a:spcAft>
                <a:spcPts val="500"/>
              </a:spcAft>
              <a:defRPr sz="1420">
                <a:solidFill>
                  <a:srgbClr val="111827"/>
                </a:solidFill>
                <a:latin typeface="Aptos"/>
              </a:defRPr>
            </a:pPr>
            <a:r>
              <a:t>Bu katkı yalnızca satış performansıyla sınırlı değildir. Model, kampanya planlamasında veri temelli karar alma kültürünü destekler; hangi müşteri segmentlerinin daha duyarlı olduğunu görünür hale getirir.</a:t>
            </a:r>
          </a:p>
          <a:p>
            <a:pPr algn="l">
              <a:spcAft>
                <a:spcPts val="500"/>
              </a:spcAft>
              <a:defRPr sz="1420">
                <a:solidFill>
                  <a:srgbClr val="111827"/>
                </a:solidFill>
                <a:latin typeface="Aptos"/>
              </a:defRPr>
            </a:pPr>
            <a:r>
              <a:t>Açıklanabilirlik katmanı, pazarlama uzmanının model önerisini körü körüne kabul etmesini değil, iş bilgisiyle birlikte yorumlamasını sağlar.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01168"/>
            <a:ext cx="11155680" cy="457200"/>
          </a:xfrm>
          <a:prstGeom prst="rect">
            <a:avLst/>
          </a:prstGeom>
          <a:noFill/>
        </p:spPr>
        <p:txBody>
          <a:bodyPr wrap="square" lIns="73152" rIns="73152" tIns="36576" bIns="36576">
            <a:normAutofit/>
          </a:bodyPr>
          <a:lstStyle/>
          <a:p>
            <a:pPr algn="l"/>
            <a:r>
              <a:rPr sz="2250" b="1">
                <a:solidFill>
                  <a:srgbClr val="1F4E79"/>
                </a:solidFill>
                <a:latin typeface="Aptos"/>
              </a:rPr>
              <a:t>Neden Açıklanabilir Yapay Zeka?</a:t>
            </a:r>
          </a:p>
        </p:txBody>
      </p:sp>
      <p:sp>
        <p:nvSpPr>
          <p:cNvPr id="3" name="Rectangle 2"/>
          <p:cNvSpPr/>
          <p:nvPr/>
        </p:nvSpPr>
        <p:spPr>
          <a:xfrm>
            <a:off x="502920" y="786384"/>
            <a:ext cx="11155680" cy="3200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565392"/>
            <a:ext cx="8046720" cy="201168"/>
          </a:xfrm>
          <a:prstGeom prst="rect">
            <a:avLst/>
          </a:prstGeom>
          <a:noFill/>
        </p:spPr>
        <p:txBody>
          <a:bodyPr wrap="square" lIns="73152" rIns="73152" tIns="36576" bIns="36576">
            <a:normAutofit/>
          </a:bodyPr>
          <a:lstStyle/>
          <a:p>
            <a:pPr algn="l"/>
            <a:r>
              <a:rPr sz="830" b="0">
                <a:solidFill>
                  <a:srgbClr val="4B5563"/>
                </a:solidFill>
                <a:latin typeface="Aptos"/>
              </a:rPr>
              <a:t>BLM308 Veri Madenciliği Final Projesi</a:t>
            </a:r>
          </a:p>
        </p:txBody>
      </p:sp>
      <p:sp>
        <p:nvSpPr>
          <p:cNvPr id="5" name="TextBox 4"/>
          <p:cNvSpPr txBox="1"/>
          <p:nvPr/>
        </p:nvSpPr>
        <p:spPr>
          <a:xfrm>
            <a:off x="11155680" y="6565392"/>
            <a:ext cx="457200" cy="201168"/>
          </a:xfrm>
          <a:prstGeom prst="rect">
            <a:avLst/>
          </a:prstGeom>
          <a:noFill/>
        </p:spPr>
        <p:txBody>
          <a:bodyPr wrap="square" lIns="73152" rIns="73152" tIns="36576" bIns="36576">
            <a:normAutofit/>
          </a:bodyPr>
          <a:lstStyle/>
          <a:p>
            <a:pPr algn="r"/>
            <a:r>
              <a:rPr sz="830" b="0">
                <a:solidFill>
                  <a:srgbClr val="4B5563"/>
                </a:solidFill>
                <a:latin typeface="Aptos"/>
              </a:rPr>
              <a:t>6</a:t>
            </a:r>
          </a:p>
        </p:txBody>
      </p:sp>
      <p:sp>
        <p:nvSpPr>
          <p:cNvPr id="6" name="TextBox 5"/>
          <p:cNvSpPr txBox="1"/>
          <p:nvPr/>
        </p:nvSpPr>
        <p:spPr>
          <a:xfrm>
            <a:off x="713232" y="1143000"/>
            <a:ext cx="5669280" cy="3520440"/>
          </a:xfrm>
          <a:prstGeom prst="rect">
            <a:avLst/>
          </a:prstGeom>
          <a:noFill/>
        </p:spPr>
        <p:txBody>
          <a:bodyPr wrap="square" lIns="73152" rIns="73152" tIns="36576" bIns="36576">
            <a:normAutofit/>
          </a:bodyPr>
          <a:lstStyle/>
          <a:p>
            <a:pPr algn="l">
              <a:spcAft>
                <a:spcPts val="500"/>
              </a:spcAft>
              <a:defRPr sz="1380">
                <a:solidFill>
                  <a:srgbClr val="111827"/>
                </a:solidFill>
                <a:latin typeface="Aptos"/>
              </a:defRPr>
            </a:pPr>
            <a:r>
              <a:t>Random Forest veya çok katmanlı algılayıcı gibi modeller karmaşık ilişkileri öğrenebilir; ancak karar mantığı doğrudan okunamadığı için kara kutu olarak değerlendirilir.</a:t>
            </a:r>
          </a:p>
          <a:p>
            <a:pPr algn="l">
              <a:spcAft>
                <a:spcPts val="500"/>
              </a:spcAft>
              <a:defRPr sz="1380">
                <a:solidFill>
                  <a:srgbClr val="111827"/>
                </a:solidFill>
                <a:latin typeface="Aptos"/>
              </a:defRPr>
            </a:pPr>
            <a:r>
              <a:t>Bankacılık gibi denetlenebilirliğin önemli olduğu alanlarda modelin yalnızca “yüksek olasılık” demesi yeterli değildir. Kararın hangi değişkenlerle desteklendiği, hangi faktörlerin sonucu düşürdüğü veya artırdığı açıklanmalıdır.</a:t>
            </a:r>
          </a:p>
          <a:p>
            <a:pPr algn="l">
              <a:spcAft>
                <a:spcPts val="500"/>
              </a:spcAft>
              <a:defRPr sz="1380">
                <a:solidFill>
                  <a:srgbClr val="111827"/>
                </a:solidFill>
                <a:latin typeface="Aptos"/>
              </a:defRPr>
            </a:pPr>
            <a:r>
              <a:t>Bu projede XAI, ek bir görselleştirme adımı değil; modelin güvenilir, anlaşılır ve sunulabilir olmasını sağlayan temel bileşendir.</a:t>
            </a:r>
          </a:p>
        </p:txBody>
      </p:sp>
      <p:sp>
        <p:nvSpPr>
          <p:cNvPr id="7" name="Rounded Rectangle 6"/>
          <p:cNvSpPr/>
          <p:nvPr/>
        </p:nvSpPr>
        <p:spPr>
          <a:xfrm>
            <a:off x="6720840" y="1325880"/>
            <a:ext cx="4343400" cy="1353312"/>
          </a:xfrm>
          <a:prstGeom prst="roundRect">
            <a:avLst/>
          </a:prstGeom>
          <a:solidFill>
            <a:srgbClr val="F5F7FA"/>
          </a:solidFill>
          <a:ln w="13970">
            <a:solidFill>
              <a:srgbClr val="F97316"/>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91440" bIns="36576">
            <a:normAutofit/>
          </a:bodyPr>
          <a:lstStyle/>
          <a:p>
            <a:pPr algn="ctr"/>
            <a:r>
              <a:rPr sz="1360" b="1">
                <a:solidFill>
                  <a:srgbClr val="F97316"/>
                </a:solidFill>
                <a:latin typeface="Aptos"/>
              </a:rPr>
              <a:t>Küresel açıklama</a:t>
            </a:r>
          </a:p>
          <a:p>
            <a:pPr>
              <a:spcBef>
                <a:spcPts val="400"/>
              </a:spcBef>
              <a:defRPr sz="1170">
                <a:solidFill>
                  <a:srgbClr val="111827"/>
                </a:solidFill>
                <a:latin typeface="Aptos"/>
              </a:defRPr>
            </a:pPr>
            <a:r>
              <a:t>Modelin genel olarak hangi değişkenlere daha fazla önem verdiğini gösterir. Örneğin ekonomik göstergeler veya önceki kampanya sonucu öne çıkabilir.</a:t>
            </a:r>
          </a:p>
        </p:txBody>
      </p:sp>
      <p:sp>
        <p:nvSpPr>
          <p:cNvPr id="8" name="Rounded Rectangle 7"/>
          <p:cNvSpPr/>
          <p:nvPr/>
        </p:nvSpPr>
        <p:spPr>
          <a:xfrm>
            <a:off x="6720840" y="2971800"/>
            <a:ext cx="4343400" cy="1481328"/>
          </a:xfrm>
          <a:prstGeom prst="roundRect">
            <a:avLst/>
          </a:prstGeom>
          <a:solidFill>
            <a:srgbClr val="F5F7FA"/>
          </a:solidFill>
          <a:ln w="13970">
            <a:solidFill>
              <a:srgbClr val="6D28D9"/>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91440" bIns="36576">
            <a:normAutofit/>
          </a:bodyPr>
          <a:lstStyle/>
          <a:p>
            <a:pPr algn="ctr"/>
            <a:r>
              <a:rPr sz="1360" b="1">
                <a:solidFill>
                  <a:srgbClr val="6D28D9"/>
                </a:solidFill>
                <a:latin typeface="Aptos"/>
              </a:rPr>
              <a:t>Yerel açıklama</a:t>
            </a:r>
          </a:p>
          <a:p>
            <a:pPr>
              <a:spcBef>
                <a:spcPts val="400"/>
              </a:spcBef>
              <a:defRPr sz="1170">
                <a:solidFill>
                  <a:srgbClr val="111827"/>
                </a:solidFill>
                <a:latin typeface="Aptos"/>
              </a:defRPr>
            </a:pPr>
            <a:r>
              <a:t>Tek bir müşteri için tahmini hangi özelliklerin artırdığını veya azalttığını gösterir. Bu, müşteri bazlı karar gerekçesi üretir.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01168"/>
            <a:ext cx="11155680" cy="457200"/>
          </a:xfrm>
          <a:prstGeom prst="rect">
            <a:avLst/>
          </a:prstGeom>
          <a:noFill/>
        </p:spPr>
        <p:txBody>
          <a:bodyPr wrap="square" lIns="73152" rIns="73152" tIns="36576" bIns="36576">
            <a:normAutofit/>
          </a:bodyPr>
          <a:lstStyle/>
          <a:p>
            <a:pPr algn="l"/>
            <a:r>
              <a:rPr sz="2250" b="1">
                <a:solidFill>
                  <a:srgbClr val="1F4E79"/>
                </a:solidFill>
                <a:latin typeface="Aptos"/>
              </a:rPr>
              <a:t>Proje Kapsamı ve Güçlü Yönler</a:t>
            </a:r>
          </a:p>
        </p:txBody>
      </p:sp>
      <p:sp>
        <p:nvSpPr>
          <p:cNvPr id="3" name="Rectangle 2"/>
          <p:cNvSpPr/>
          <p:nvPr/>
        </p:nvSpPr>
        <p:spPr>
          <a:xfrm>
            <a:off x="502920" y="786384"/>
            <a:ext cx="11155680" cy="3200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565392"/>
            <a:ext cx="8046720" cy="201168"/>
          </a:xfrm>
          <a:prstGeom prst="rect">
            <a:avLst/>
          </a:prstGeom>
          <a:noFill/>
        </p:spPr>
        <p:txBody>
          <a:bodyPr wrap="square" lIns="73152" rIns="73152" tIns="36576" bIns="36576">
            <a:normAutofit/>
          </a:bodyPr>
          <a:lstStyle/>
          <a:p>
            <a:pPr algn="l"/>
            <a:r>
              <a:rPr sz="830" b="0">
                <a:solidFill>
                  <a:srgbClr val="4B5563"/>
                </a:solidFill>
                <a:latin typeface="Aptos"/>
              </a:rPr>
              <a:t>BLM308 Veri Madenciliği Final Projesi</a:t>
            </a:r>
          </a:p>
        </p:txBody>
      </p:sp>
      <p:sp>
        <p:nvSpPr>
          <p:cNvPr id="5" name="TextBox 4"/>
          <p:cNvSpPr txBox="1"/>
          <p:nvPr/>
        </p:nvSpPr>
        <p:spPr>
          <a:xfrm>
            <a:off x="11155680" y="6565392"/>
            <a:ext cx="457200" cy="201168"/>
          </a:xfrm>
          <a:prstGeom prst="rect">
            <a:avLst/>
          </a:prstGeom>
          <a:noFill/>
        </p:spPr>
        <p:txBody>
          <a:bodyPr wrap="square" lIns="73152" rIns="73152" tIns="36576" bIns="36576">
            <a:normAutofit/>
          </a:bodyPr>
          <a:lstStyle/>
          <a:p>
            <a:pPr algn="r"/>
            <a:r>
              <a:rPr sz="830" b="0">
                <a:solidFill>
                  <a:srgbClr val="4B5563"/>
                </a:solidFill>
                <a:latin typeface="Aptos"/>
              </a:rPr>
              <a:t>7</a:t>
            </a:r>
          </a:p>
        </p:txBody>
      </p:sp>
      <p:sp>
        <p:nvSpPr>
          <p:cNvPr id="6" name="TextBox 5"/>
          <p:cNvSpPr txBox="1"/>
          <p:nvPr/>
        </p:nvSpPr>
        <p:spPr>
          <a:xfrm>
            <a:off x="777240" y="1143000"/>
            <a:ext cx="10789920" cy="4251960"/>
          </a:xfrm>
          <a:prstGeom prst="rect">
            <a:avLst/>
          </a:prstGeom>
          <a:noFill/>
        </p:spPr>
        <p:txBody>
          <a:bodyPr wrap="square" lIns="73152" rIns="73152" tIns="36576" bIns="36576">
            <a:normAutofit/>
          </a:bodyPr>
          <a:lstStyle/>
          <a:p>
            <a:pPr>
              <a:spcAft>
                <a:spcPts val="450"/>
              </a:spcAft>
              <a:defRPr sz="1410">
                <a:solidFill>
                  <a:srgbClr val="111827"/>
                </a:solidFill>
                <a:latin typeface="Aptos"/>
              </a:defRPr>
            </a:pPr>
            <a:r>
              <a:t>Çalışma, veri temizleme ve model eğitimiyle sınırlı bırakılmamış; rapor, sunum, kod yapısı ve çalışan Streamlit arayüzüyle teslim edilebilir bir proje bütününe dönüştürülmüştür.</a:t>
            </a:r>
          </a:p>
          <a:p>
            <a:pPr>
              <a:spcAft>
                <a:spcPts val="450"/>
              </a:spcAft>
              <a:defRPr sz="1410">
                <a:solidFill>
                  <a:srgbClr val="111827"/>
                </a:solidFill>
                <a:latin typeface="Aptos"/>
              </a:defRPr>
            </a:pPr>
            <a:r>
              <a:t>Görüşme süresi değişkeni için veri sızıntısı riski açıkça tartışılmıştır. Bu karar, modelin gerçek kampanya öncesi senaryoda kullanılabilirliğini güçlendirir.</a:t>
            </a:r>
          </a:p>
          <a:p>
            <a:pPr>
              <a:spcAft>
                <a:spcPts val="450"/>
              </a:spcAft>
              <a:defRPr sz="1410">
                <a:solidFill>
                  <a:srgbClr val="111827"/>
                </a:solidFill>
                <a:latin typeface="Aptos"/>
              </a:defRPr>
            </a:pPr>
            <a:r>
              <a:t>Random Forest ve çok katmanlı algılayıcı gibi kara kutu modeller, açıklanabilirlik araçlarıyla desteklenmiştir. Böylece proje, seçilen XAI başlığıyla doğrudan uyumludur.</a:t>
            </a:r>
          </a:p>
          <a:p>
            <a:pPr>
              <a:spcAft>
                <a:spcPts val="450"/>
              </a:spcAft>
              <a:defRPr sz="1410">
                <a:solidFill>
                  <a:srgbClr val="111827"/>
                </a:solidFill>
                <a:latin typeface="Aptos"/>
              </a:defRPr>
            </a:pPr>
            <a:r>
              <a:t>McNemar testi eklenerek model karşılaştırması yalnızca yüzeysel metriklerle değil, istatistiksel anlamlılık açısından da değerlendirilmiştir.</a:t>
            </a:r>
          </a:p>
          <a:p>
            <a:pPr>
              <a:spcAft>
                <a:spcPts val="450"/>
              </a:spcAft>
              <a:defRPr sz="1410">
                <a:solidFill>
                  <a:srgbClr val="111827"/>
                </a:solidFill>
                <a:latin typeface="Aptos"/>
              </a:defRPr>
            </a:pPr>
            <a:r>
              <a:t>Türkçe arayüz, hocanın raporda anlatılan sistemi uygulamalı olarak görmesine imkân verir.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2563EB"/>
        </a:solidFill>
        <a:effectLst/>
      </p:bgPr>
    </p:bg>
    <p:spTree>
      <p:nvGrpSpPr>
        <p:cNvPr id="1" name=""/>
        <p:cNvGrpSpPr/>
        <p:nvPr/>
      </p:nvGrpSpPr>
      <p:grpSpPr/>
      <p:sp>
        <p:nvSpPr>
          <p:cNvPr id="2" name="TextBox 1"/>
          <p:cNvSpPr txBox="1"/>
          <p:nvPr/>
        </p:nvSpPr>
        <p:spPr>
          <a:xfrm>
            <a:off x="685800" y="1325880"/>
            <a:ext cx="10789920" cy="640080"/>
          </a:xfrm>
          <a:prstGeom prst="rect">
            <a:avLst/>
          </a:prstGeom>
          <a:noFill/>
        </p:spPr>
        <p:txBody>
          <a:bodyPr wrap="square" lIns="73152" rIns="73152" tIns="36576" bIns="36576">
            <a:normAutofit/>
          </a:bodyPr>
          <a:lstStyle/>
          <a:p>
            <a:pPr algn="l"/>
            <a:r>
              <a:rPr sz="3400" b="1">
                <a:solidFill>
                  <a:srgbClr val="FFFFFF"/>
                </a:solidFill>
                <a:latin typeface="Aptos"/>
              </a:rPr>
              <a:t>2. Yöntem</a:t>
            </a:r>
          </a:p>
        </p:txBody>
      </p:sp>
      <p:sp>
        <p:nvSpPr>
          <p:cNvPr id="3" name="TextBox 2"/>
          <p:cNvSpPr txBox="1"/>
          <p:nvPr/>
        </p:nvSpPr>
        <p:spPr>
          <a:xfrm>
            <a:off x="713232" y="2121408"/>
            <a:ext cx="10424160" cy="548640"/>
          </a:xfrm>
          <a:prstGeom prst="rect">
            <a:avLst/>
          </a:prstGeom>
          <a:noFill/>
        </p:spPr>
        <p:txBody>
          <a:bodyPr wrap="square" lIns="73152" rIns="73152" tIns="36576" bIns="36576">
            <a:normAutofit/>
          </a:bodyPr>
          <a:lstStyle/>
          <a:p>
            <a:pPr algn="l"/>
            <a:r>
              <a:rPr sz="1850" b="0">
                <a:solidFill>
                  <a:srgbClr val="DBEAFE"/>
                </a:solidFill>
                <a:latin typeface="Aptos"/>
              </a:rPr>
              <a:t>Proje, CRISP-DM yaklaşımına göre yapılandırılmış ve her aşama bir sonraki kararı besleyecek şekilde ilerletilmiştir.</a:t>
            </a:r>
          </a:p>
        </p:txBody>
      </p:sp>
      <p:sp>
        <p:nvSpPr>
          <p:cNvPr id="4" name="TextBox 3"/>
          <p:cNvSpPr txBox="1"/>
          <p:nvPr/>
        </p:nvSpPr>
        <p:spPr>
          <a:xfrm>
            <a:off x="731520" y="2953512"/>
            <a:ext cx="10104120" cy="1572768"/>
          </a:xfrm>
          <a:prstGeom prst="rect">
            <a:avLst/>
          </a:prstGeom>
          <a:noFill/>
        </p:spPr>
        <p:txBody>
          <a:bodyPr wrap="square" lIns="73152" rIns="73152" tIns="36576" bIns="36576">
            <a:normAutofit/>
          </a:bodyPr>
          <a:lstStyle/>
          <a:p>
            <a:pPr algn="l">
              <a:spcAft>
                <a:spcPts val="600"/>
              </a:spcAft>
              <a:defRPr sz="1460">
                <a:solidFill>
                  <a:srgbClr val="FFFFFF"/>
                </a:solidFill>
                <a:latin typeface="Aptos"/>
              </a:defRPr>
            </a:pPr>
            <a:r>
              <a:t>CRISP-DM yöntemi, veri madenciliği projelerinde iş anlayışı, veri anlayışı, veri hazırlığı, modelleme, değerlendirme ve yaygınlaştırma adımlarını sistematik biçimde ele alır.</a:t>
            </a:r>
          </a:p>
          <a:p>
            <a:pPr algn="l">
              <a:spcAft>
                <a:spcPts val="600"/>
              </a:spcAft>
              <a:defRPr sz="1460">
                <a:solidFill>
                  <a:srgbClr val="FFFFFF"/>
                </a:solidFill>
                <a:latin typeface="Aptos"/>
              </a:defRPr>
            </a:pPr>
            <a:r>
              <a:t>Bu projede metodoloji yalnızca teorik olarak yazılmamış; veri setinin incelenmesinden Türkçe uygulama arayüzüne kadar tüm adımlarda uygulanmıştır.</a:t>
            </a:r>
          </a:p>
        </p:txBody>
      </p:sp>
      <p:sp>
        <p:nvSpPr>
          <p:cNvPr id="5" name="TextBox 4"/>
          <p:cNvSpPr txBox="1"/>
          <p:nvPr/>
        </p:nvSpPr>
        <p:spPr>
          <a:xfrm>
            <a:off x="502920" y="6565392"/>
            <a:ext cx="8046720" cy="201168"/>
          </a:xfrm>
          <a:prstGeom prst="rect">
            <a:avLst/>
          </a:prstGeom>
          <a:noFill/>
        </p:spPr>
        <p:txBody>
          <a:bodyPr wrap="square" lIns="73152" rIns="73152" tIns="36576" bIns="36576">
            <a:normAutofit/>
          </a:bodyPr>
          <a:lstStyle/>
          <a:p>
            <a:pPr algn="l"/>
            <a:r>
              <a:rPr sz="830" b="0">
                <a:solidFill>
                  <a:srgbClr val="4B5563"/>
                </a:solidFill>
                <a:latin typeface="Aptos"/>
              </a:rPr>
              <a:t>BLM308 Veri Madenciliği Final Projesi</a:t>
            </a:r>
          </a:p>
        </p:txBody>
      </p:sp>
      <p:sp>
        <p:nvSpPr>
          <p:cNvPr id="6" name="TextBox 5"/>
          <p:cNvSpPr txBox="1"/>
          <p:nvPr/>
        </p:nvSpPr>
        <p:spPr>
          <a:xfrm>
            <a:off x="11155680" y="6565392"/>
            <a:ext cx="457200" cy="201168"/>
          </a:xfrm>
          <a:prstGeom prst="rect">
            <a:avLst/>
          </a:prstGeom>
          <a:noFill/>
        </p:spPr>
        <p:txBody>
          <a:bodyPr wrap="square" lIns="73152" rIns="73152" tIns="36576" bIns="36576">
            <a:normAutofit/>
          </a:bodyPr>
          <a:lstStyle/>
          <a:p>
            <a:pPr algn="r"/>
            <a:r>
              <a:rPr sz="830" b="0">
                <a:solidFill>
                  <a:srgbClr val="4B5563"/>
                </a:solidFill>
                <a:latin typeface="Aptos"/>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01168"/>
            <a:ext cx="11155680" cy="457200"/>
          </a:xfrm>
          <a:prstGeom prst="rect">
            <a:avLst/>
          </a:prstGeom>
          <a:noFill/>
        </p:spPr>
        <p:txBody>
          <a:bodyPr wrap="square" lIns="73152" rIns="73152" tIns="36576" bIns="36576">
            <a:normAutofit/>
          </a:bodyPr>
          <a:lstStyle/>
          <a:p>
            <a:pPr algn="l"/>
            <a:r>
              <a:rPr sz="2250" b="1">
                <a:solidFill>
                  <a:srgbClr val="1F4E79"/>
                </a:solidFill>
                <a:latin typeface="Aptos"/>
              </a:rPr>
              <a:t>Genel Süreç: CRISP-DM Uygulaması</a:t>
            </a:r>
          </a:p>
        </p:txBody>
      </p:sp>
      <p:sp>
        <p:nvSpPr>
          <p:cNvPr id="3" name="Rectangle 2"/>
          <p:cNvSpPr/>
          <p:nvPr/>
        </p:nvSpPr>
        <p:spPr>
          <a:xfrm>
            <a:off x="502920" y="786384"/>
            <a:ext cx="11155680" cy="3200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565392"/>
            <a:ext cx="8046720" cy="201168"/>
          </a:xfrm>
          <a:prstGeom prst="rect">
            <a:avLst/>
          </a:prstGeom>
          <a:noFill/>
        </p:spPr>
        <p:txBody>
          <a:bodyPr wrap="square" lIns="73152" rIns="73152" tIns="36576" bIns="36576">
            <a:normAutofit/>
          </a:bodyPr>
          <a:lstStyle/>
          <a:p>
            <a:pPr algn="l"/>
            <a:r>
              <a:rPr sz="830" b="0">
                <a:solidFill>
                  <a:srgbClr val="4B5563"/>
                </a:solidFill>
                <a:latin typeface="Aptos"/>
              </a:rPr>
              <a:t>BLM308 Veri Madenciliği Final Projesi</a:t>
            </a:r>
          </a:p>
        </p:txBody>
      </p:sp>
      <p:sp>
        <p:nvSpPr>
          <p:cNvPr id="5" name="TextBox 4"/>
          <p:cNvSpPr txBox="1"/>
          <p:nvPr/>
        </p:nvSpPr>
        <p:spPr>
          <a:xfrm>
            <a:off x="11155680" y="6565392"/>
            <a:ext cx="457200" cy="201168"/>
          </a:xfrm>
          <a:prstGeom prst="rect">
            <a:avLst/>
          </a:prstGeom>
          <a:noFill/>
        </p:spPr>
        <p:txBody>
          <a:bodyPr wrap="square" lIns="73152" rIns="73152" tIns="36576" bIns="36576">
            <a:normAutofit/>
          </a:bodyPr>
          <a:lstStyle/>
          <a:p>
            <a:pPr algn="r"/>
            <a:r>
              <a:rPr sz="830" b="0">
                <a:solidFill>
                  <a:srgbClr val="4B5563"/>
                </a:solidFill>
                <a:latin typeface="Aptos"/>
              </a:rPr>
              <a:t>9</a:t>
            </a:r>
          </a:p>
        </p:txBody>
      </p:sp>
      <p:sp>
        <p:nvSpPr>
          <p:cNvPr id="6" name="Rounded Rectangle 5"/>
          <p:cNvSpPr/>
          <p:nvPr/>
        </p:nvSpPr>
        <p:spPr>
          <a:xfrm>
            <a:off x="530352" y="2048256"/>
            <a:ext cx="1481328" cy="786384"/>
          </a:xfrm>
          <a:prstGeom prst="round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2167128"/>
            <a:ext cx="1408176" cy="475488"/>
          </a:xfrm>
          <a:prstGeom prst="rect">
            <a:avLst/>
          </a:prstGeom>
          <a:noFill/>
        </p:spPr>
        <p:txBody>
          <a:bodyPr wrap="square" lIns="73152" rIns="73152" tIns="36576" bIns="36576">
            <a:normAutofit/>
          </a:bodyPr>
          <a:lstStyle/>
          <a:p>
            <a:pPr algn="ctr"/>
            <a:r>
              <a:rPr sz="1230" b="1">
                <a:solidFill>
                  <a:srgbClr val="FFFFFF"/>
                </a:solidFill>
                <a:latin typeface="Aptos"/>
              </a:rPr>
              <a:t>İş
Anlayışı</a:t>
            </a:r>
          </a:p>
        </p:txBody>
      </p:sp>
      <p:sp>
        <p:nvSpPr>
          <p:cNvPr id="8" name="TextBox 7"/>
          <p:cNvSpPr txBox="1"/>
          <p:nvPr/>
        </p:nvSpPr>
        <p:spPr>
          <a:xfrm>
            <a:off x="2011680" y="2276856"/>
            <a:ext cx="310896" cy="219456"/>
          </a:xfrm>
          <a:prstGeom prst="rect">
            <a:avLst/>
          </a:prstGeom>
          <a:noFill/>
        </p:spPr>
        <p:txBody>
          <a:bodyPr wrap="square" lIns="73152" rIns="73152" tIns="36576" bIns="36576">
            <a:normAutofit/>
          </a:bodyPr>
          <a:lstStyle/>
          <a:p>
            <a:pPr algn="ctr"/>
            <a:r>
              <a:rPr sz="1700" b="1">
                <a:solidFill>
                  <a:srgbClr val="4B5563"/>
                </a:solidFill>
                <a:latin typeface="Aptos"/>
              </a:rPr>
              <a:t>→</a:t>
            </a:r>
          </a:p>
        </p:txBody>
      </p:sp>
      <p:sp>
        <p:nvSpPr>
          <p:cNvPr id="9" name="Rounded Rectangle 8"/>
          <p:cNvSpPr/>
          <p:nvPr/>
        </p:nvSpPr>
        <p:spPr>
          <a:xfrm>
            <a:off x="2432304" y="2048256"/>
            <a:ext cx="1481328" cy="786384"/>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468880" y="2167128"/>
            <a:ext cx="1408176" cy="475488"/>
          </a:xfrm>
          <a:prstGeom prst="rect">
            <a:avLst/>
          </a:prstGeom>
          <a:noFill/>
        </p:spPr>
        <p:txBody>
          <a:bodyPr wrap="square" lIns="73152" rIns="73152" tIns="36576" bIns="36576">
            <a:normAutofit/>
          </a:bodyPr>
          <a:lstStyle/>
          <a:p>
            <a:pPr algn="ctr"/>
            <a:r>
              <a:rPr sz="1230" b="1">
                <a:solidFill>
                  <a:srgbClr val="FFFFFF"/>
                </a:solidFill>
                <a:latin typeface="Aptos"/>
              </a:rPr>
              <a:t>Veri
Anlayışı</a:t>
            </a:r>
          </a:p>
        </p:txBody>
      </p:sp>
      <p:sp>
        <p:nvSpPr>
          <p:cNvPr id="11" name="TextBox 10"/>
          <p:cNvSpPr txBox="1"/>
          <p:nvPr/>
        </p:nvSpPr>
        <p:spPr>
          <a:xfrm>
            <a:off x="3913632" y="2276856"/>
            <a:ext cx="310896" cy="219456"/>
          </a:xfrm>
          <a:prstGeom prst="rect">
            <a:avLst/>
          </a:prstGeom>
          <a:noFill/>
        </p:spPr>
        <p:txBody>
          <a:bodyPr wrap="square" lIns="73152" rIns="73152" tIns="36576" bIns="36576">
            <a:normAutofit/>
          </a:bodyPr>
          <a:lstStyle/>
          <a:p>
            <a:pPr algn="ctr"/>
            <a:r>
              <a:rPr sz="1700" b="1">
                <a:solidFill>
                  <a:srgbClr val="4B5563"/>
                </a:solidFill>
                <a:latin typeface="Aptos"/>
              </a:rPr>
              <a:t>→</a:t>
            </a:r>
          </a:p>
        </p:txBody>
      </p:sp>
      <p:sp>
        <p:nvSpPr>
          <p:cNvPr id="12" name="Rounded Rectangle 11"/>
          <p:cNvSpPr/>
          <p:nvPr/>
        </p:nvSpPr>
        <p:spPr>
          <a:xfrm>
            <a:off x="4334256" y="2048256"/>
            <a:ext cx="1481328" cy="786384"/>
          </a:xfrm>
          <a:prstGeom prst="round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370832" y="2167128"/>
            <a:ext cx="1408176" cy="475488"/>
          </a:xfrm>
          <a:prstGeom prst="rect">
            <a:avLst/>
          </a:prstGeom>
          <a:noFill/>
        </p:spPr>
        <p:txBody>
          <a:bodyPr wrap="square" lIns="73152" rIns="73152" tIns="36576" bIns="36576">
            <a:normAutofit/>
          </a:bodyPr>
          <a:lstStyle/>
          <a:p>
            <a:pPr algn="ctr"/>
            <a:r>
              <a:rPr sz="1230" b="1">
                <a:solidFill>
                  <a:srgbClr val="FFFFFF"/>
                </a:solidFill>
                <a:latin typeface="Aptos"/>
              </a:rPr>
              <a:t>Veri
Hazırlığı</a:t>
            </a:r>
          </a:p>
        </p:txBody>
      </p:sp>
      <p:sp>
        <p:nvSpPr>
          <p:cNvPr id="14" name="TextBox 13"/>
          <p:cNvSpPr txBox="1"/>
          <p:nvPr/>
        </p:nvSpPr>
        <p:spPr>
          <a:xfrm>
            <a:off x="5815584" y="2276856"/>
            <a:ext cx="310896" cy="219456"/>
          </a:xfrm>
          <a:prstGeom prst="rect">
            <a:avLst/>
          </a:prstGeom>
          <a:noFill/>
        </p:spPr>
        <p:txBody>
          <a:bodyPr wrap="square" lIns="73152" rIns="73152" tIns="36576" bIns="36576">
            <a:normAutofit/>
          </a:bodyPr>
          <a:lstStyle/>
          <a:p>
            <a:pPr algn="ctr"/>
            <a:r>
              <a:rPr sz="1700" b="1">
                <a:solidFill>
                  <a:srgbClr val="4B5563"/>
                </a:solidFill>
                <a:latin typeface="Aptos"/>
              </a:rPr>
              <a:t>→</a:t>
            </a:r>
          </a:p>
        </p:txBody>
      </p:sp>
      <p:sp>
        <p:nvSpPr>
          <p:cNvPr id="15" name="Rounded Rectangle 14"/>
          <p:cNvSpPr/>
          <p:nvPr/>
        </p:nvSpPr>
        <p:spPr>
          <a:xfrm>
            <a:off x="6236208" y="2048256"/>
            <a:ext cx="1481328" cy="786384"/>
          </a:xfrm>
          <a:prstGeom prst="round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2784" y="2167128"/>
            <a:ext cx="1408176" cy="475488"/>
          </a:xfrm>
          <a:prstGeom prst="rect">
            <a:avLst/>
          </a:prstGeom>
          <a:noFill/>
        </p:spPr>
        <p:txBody>
          <a:bodyPr wrap="square" lIns="73152" rIns="73152" tIns="36576" bIns="36576">
            <a:normAutofit/>
          </a:bodyPr>
          <a:lstStyle/>
          <a:p>
            <a:pPr algn="ctr"/>
            <a:r>
              <a:rPr sz="1230" b="1">
                <a:solidFill>
                  <a:srgbClr val="FFFFFF"/>
                </a:solidFill>
                <a:latin typeface="Aptos"/>
              </a:rPr>
              <a:t>Model
Eğitimi</a:t>
            </a:r>
          </a:p>
        </p:txBody>
      </p:sp>
      <p:sp>
        <p:nvSpPr>
          <p:cNvPr id="17" name="TextBox 16"/>
          <p:cNvSpPr txBox="1"/>
          <p:nvPr/>
        </p:nvSpPr>
        <p:spPr>
          <a:xfrm>
            <a:off x="7717536" y="2276856"/>
            <a:ext cx="310896" cy="219456"/>
          </a:xfrm>
          <a:prstGeom prst="rect">
            <a:avLst/>
          </a:prstGeom>
          <a:noFill/>
        </p:spPr>
        <p:txBody>
          <a:bodyPr wrap="square" lIns="73152" rIns="73152" tIns="36576" bIns="36576">
            <a:normAutofit/>
          </a:bodyPr>
          <a:lstStyle/>
          <a:p>
            <a:pPr algn="ctr"/>
            <a:r>
              <a:rPr sz="1700" b="1">
                <a:solidFill>
                  <a:srgbClr val="4B5563"/>
                </a:solidFill>
                <a:latin typeface="Aptos"/>
              </a:rPr>
              <a:t>→</a:t>
            </a:r>
          </a:p>
        </p:txBody>
      </p:sp>
      <p:sp>
        <p:nvSpPr>
          <p:cNvPr id="18" name="Rounded Rectangle 17"/>
          <p:cNvSpPr/>
          <p:nvPr/>
        </p:nvSpPr>
        <p:spPr>
          <a:xfrm>
            <a:off x="8138160" y="2048256"/>
            <a:ext cx="1481328" cy="786384"/>
          </a:xfrm>
          <a:prstGeom prst="round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74736" y="2167128"/>
            <a:ext cx="1408176" cy="475488"/>
          </a:xfrm>
          <a:prstGeom prst="rect">
            <a:avLst/>
          </a:prstGeom>
          <a:noFill/>
        </p:spPr>
        <p:txBody>
          <a:bodyPr wrap="square" lIns="73152" rIns="73152" tIns="36576" bIns="36576">
            <a:normAutofit/>
          </a:bodyPr>
          <a:lstStyle/>
          <a:p>
            <a:pPr algn="ctr"/>
            <a:r>
              <a:rPr sz="1230" b="1">
                <a:solidFill>
                  <a:srgbClr val="FFFFFF"/>
                </a:solidFill>
                <a:latin typeface="Aptos"/>
              </a:rPr>
              <a:t>Değer-
lendirme</a:t>
            </a:r>
          </a:p>
        </p:txBody>
      </p:sp>
      <p:sp>
        <p:nvSpPr>
          <p:cNvPr id="20" name="TextBox 19"/>
          <p:cNvSpPr txBox="1"/>
          <p:nvPr/>
        </p:nvSpPr>
        <p:spPr>
          <a:xfrm>
            <a:off x="9619488" y="2276856"/>
            <a:ext cx="310896" cy="219456"/>
          </a:xfrm>
          <a:prstGeom prst="rect">
            <a:avLst/>
          </a:prstGeom>
          <a:noFill/>
        </p:spPr>
        <p:txBody>
          <a:bodyPr wrap="square" lIns="73152" rIns="73152" tIns="36576" bIns="36576">
            <a:normAutofit/>
          </a:bodyPr>
          <a:lstStyle/>
          <a:p>
            <a:pPr algn="ctr"/>
            <a:r>
              <a:rPr sz="1700" b="1">
                <a:solidFill>
                  <a:srgbClr val="4B5563"/>
                </a:solidFill>
                <a:latin typeface="Aptos"/>
              </a:rPr>
              <a:t>→</a:t>
            </a:r>
          </a:p>
        </p:txBody>
      </p:sp>
      <p:sp>
        <p:nvSpPr>
          <p:cNvPr id="21" name="Rounded Rectangle 20"/>
          <p:cNvSpPr/>
          <p:nvPr/>
        </p:nvSpPr>
        <p:spPr>
          <a:xfrm>
            <a:off x="10040112" y="2048256"/>
            <a:ext cx="1481328" cy="786384"/>
          </a:xfrm>
          <a:prstGeom prst="round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076688" y="2167128"/>
            <a:ext cx="1408176" cy="475488"/>
          </a:xfrm>
          <a:prstGeom prst="rect">
            <a:avLst/>
          </a:prstGeom>
          <a:noFill/>
        </p:spPr>
        <p:txBody>
          <a:bodyPr wrap="square" lIns="73152" rIns="73152" tIns="36576" bIns="36576">
            <a:normAutofit/>
          </a:bodyPr>
          <a:lstStyle/>
          <a:p>
            <a:pPr algn="ctr"/>
            <a:r>
              <a:rPr sz="1230" b="1">
                <a:solidFill>
                  <a:srgbClr val="FFFFFF"/>
                </a:solidFill>
                <a:latin typeface="Aptos"/>
              </a:rPr>
              <a:t>XAI ve
Arayüz</a:t>
            </a:r>
          </a:p>
        </p:txBody>
      </p:sp>
      <p:graphicFrame>
        <p:nvGraphicFramePr>
          <p:cNvPr id="23" name="Table 22"/>
          <p:cNvGraphicFramePr>
            <a:graphicFrameLocks noGrp="1"/>
          </p:cNvGraphicFramePr>
          <p:nvPr/>
        </p:nvGraphicFramePr>
        <p:xfrm>
          <a:off x="685800" y="3337560"/>
          <a:ext cx="10835640" cy="1874519"/>
        </p:xfrm>
        <a:graphic>
          <a:graphicData uri="http://schemas.openxmlformats.org/drawingml/2006/table">
            <a:tbl>
              <a:tblPr firstRow="1" bandRow="1">
                <a:tableStyleId>{5C22544A-7EE6-4342-B048-85BDC9FD1C3A}</a:tableStyleId>
              </a:tblPr>
              <a:tblGrid>
                <a:gridCol w="5417820"/>
                <a:gridCol w="5417820"/>
              </a:tblGrid>
              <a:tr h="374903">
                <a:tc>
                  <a:txBody>
                    <a:bodyPr/>
                    <a:lstStyle/>
                    <a:p>
                      <a:pPr algn="ctr">
                        <a:defRPr sz="1090">
                          <a:solidFill>
                            <a:srgbClr val="FFFFFF"/>
                          </a:solidFill>
                          <a:latin typeface="Aptos"/>
                        </a:defRPr>
                      </a:pPr>
                      <a:r>
                        <a:t>Aşama</a:t>
                      </a:r>
                    </a:p>
                  </a:txBody>
                  <a:tcPr>
                    <a:solidFill>
                      <a:srgbClr val="1F4E79"/>
                    </a:solidFill>
                  </a:tcPr>
                </a:tc>
                <a:tc>
                  <a:txBody>
                    <a:bodyPr/>
                    <a:lstStyle/>
                    <a:p>
                      <a:pPr algn="ctr">
                        <a:defRPr sz="1090">
                          <a:solidFill>
                            <a:srgbClr val="FFFFFF"/>
                          </a:solidFill>
                          <a:latin typeface="Aptos"/>
                        </a:defRPr>
                      </a:pPr>
                      <a:r>
                        <a:t>Projede karşılığı</a:t>
                      </a:r>
                    </a:p>
                  </a:txBody>
                  <a:tcPr>
                    <a:solidFill>
                      <a:srgbClr val="1F4E79"/>
                    </a:solidFill>
                  </a:tcPr>
                </a:tc>
              </a:tr>
              <a:tr h="374903">
                <a:tc>
                  <a:txBody>
                    <a:bodyPr/>
                    <a:lstStyle/>
                    <a:p>
                      <a:pPr algn="ctr">
                        <a:defRPr sz="1090">
                          <a:solidFill>
                            <a:srgbClr val="111827"/>
                          </a:solidFill>
                          <a:latin typeface="Aptos"/>
                        </a:defRPr>
                      </a:pPr>
                      <a:r>
                        <a:t>İş anlayışı</a:t>
                      </a:r>
                    </a:p>
                  </a:txBody>
                  <a:tcPr>
                    <a:solidFill>
                      <a:srgbClr val="F8FAFC"/>
                    </a:solidFill>
                  </a:tcPr>
                </a:tc>
                <a:tc>
                  <a:txBody>
                    <a:bodyPr/>
                    <a:lstStyle/>
                    <a:p>
                      <a:pPr algn="ctr">
                        <a:defRPr sz="1090">
                          <a:solidFill>
                            <a:srgbClr val="111827"/>
                          </a:solidFill>
                          <a:latin typeface="Aptos"/>
                        </a:defRPr>
                      </a:pPr>
                      <a:r>
                        <a:t>Kampanya önceliklendirme ve müşteri tahmini problemi tanımlandı.</a:t>
                      </a:r>
                    </a:p>
                  </a:txBody>
                  <a:tcPr>
                    <a:solidFill>
                      <a:srgbClr val="F8FAFC"/>
                    </a:solidFill>
                  </a:tcPr>
                </a:tc>
              </a:tr>
              <a:tr h="374903">
                <a:tc>
                  <a:txBody>
                    <a:bodyPr/>
                    <a:lstStyle/>
                    <a:p>
                      <a:pPr algn="ctr">
                        <a:defRPr sz="1090">
                          <a:solidFill>
                            <a:srgbClr val="111827"/>
                          </a:solidFill>
                          <a:latin typeface="Aptos"/>
                        </a:defRPr>
                      </a:pPr>
                      <a:r>
                        <a:t>Veri hazırlığı</a:t>
                      </a:r>
                    </a:p>
                  </a:txBody>
                  <a:tcPr>
                    <a:solidFill>
                      <a:srgbClr val="F8FAFC"/>
                    </a:solidFill>
                  </a:tcPr>
                </a:tc>
                <a:tc>
                  <a:txBody>
                    <a:bodyPr/>
                    <a:lstStyle/>
                    <a:p>
                      <a:pPr algn="ctr">
                        <a:defRPr sz="1090">
                          <a:solidFill>
                            <a:srgbClr val="111827"/>
                          </a:solidFill>
                          <a:latin typeface="Aptos"/>
                        </a:defRPr>
                      </a:pPr>
                      <a:r>
                        <a:t>Kategorik değişkenler dönüştürüldü, sayısal değişkenler standartlaştırıldı.</a:t>
                      </a:r>
                    </a:p>
                  </a:txBody>
                  <a:tcPr>
                    <a:solidFill>
                      <a:srgbClr val="F8FAFC"/>
                    </a:solidFill>
                  </a:tcPr>
                </a:tc>
              </a:tr>
              <a:tr h="374903">
                <a:tc>
                  <a:txBody>
                    <a:bodyPr/>
                    <a:lstStyle/>
                    <a:p>
                      <a:pPr algn="ctr">
                        <a:defRPr sz="1090">
                          <a:solidFill>
                            <a:srgbClr val="111827"/>
                          </a:solidFill>
                          <a:latin typeface="Aptos"/>
                        </a:defRPr>
                      </a:pPr>
                      <a:r>
                        <a:t>Modelleme</a:t>
                      </a:r>
                    </a:p>
                  </a:txBody>
                  <a:tcPr>
                    <a:solidFill>
                      <a:srgbClr val="F8FAFC"/>
                    </a:solidFill>
                  </a:tcPr>
                </a:tc>
                <a:tc>
                  <a:txBody>
                    <a:bodyPr/>
                    <a:lstStyle/>
                    <a:p>
                      <a:pPr algn="ctr">
                        <a:defRPr sz="1090">
                          <a:solidFill>
                            <a:srgbClr val="111827"/>
                          </a:solidFill>
                          <a:latin typeface="Aptos"/>
                        </a:defRPr>
                      </a:pPr>
                      <a:r>
                        <a:t>Temel ve kara kutu modeller aynı test yapısında karşılaştırıldı.</a:t>
                      </a:r>
                    </a:p>
                  </a:txBody>
                  <a:tcPr>
                    <a:solidFill>
                      <a:srgbClr val="F8FAFC"/>
                    </a:solidFill>
                  </a:tcPr>
                </a:tc>
              </a:tr>
              <a:tr h="374907">
                <a:tc>
                  <a:txBody>
                    <a:bodyPr/>
                    <a:lstStyle/>
                    <a:p>
                      <a:pPr algn="ctr">
                        <a:defRPr sz="1090">
                          <a:solidFill>
                            <a:srgbClr val="111827"/>
                          </a:solidFill>
                          <a:latin typeface="Aptos"/>
                        </a:defRPr>
                      </a:pPr>
                      <a:r>
                        <a:t>Değerlendirme</a:t>
                      </a:r>
                    </a:p>
                  </a:txBody>
                  <a:tcPr>
                    <a:solidFill>
                      <a:srgbClr val="F8FAFC"/>
                    </a:solidFill>
                  </a:tcPr>
                </a:tc>
                <a:tc>
                  <a:txBody>
                    <a:bodyPr/>
                    <a:lstStyle/>
                    <a:p>
                      <a:pPr algn="ctr">
                        <a:defRPr sz="1090">
                          <a:solidFill>
                            <a:srgbClr val="111827"/>
                          </a:solidFill>
                          <a:latin typeface="Aptos"/>
                        </a:defRPr>
                      </a:pPr>
                      <a:r>
                        <a:t>Metrikler, hata matrisi, ROC-AUC ve McNemar testi birlikte yorumlandı.</a:t>
                      </a:r>
                    </a:p>
                  </a:txBody>
                  <a:tcPr>
                    <a:solidFill>
                      <a:srgbClr val="F8FAFC"/>
                    </a:solidFill>
                  </a:tcPr>
                </a:tc>
              </a:tr>
            </a:tbl>
          </a:graphicData>
        </a:graphic>
      </p:graphicFrame>
      <p:sp>
        <p:nvSpPr>
          <p:cNvPr id="24" name="TextBox 23"/>
          <p:cNvSpPr txBox="1"/>
          <p:nvPr/>
        </p:nvSpPr>
        <p:spPr>
          <a:xfrm>
            <a:off x="822960" y="5532120"/>
            <a:ext cx="10515600" cy="411480"/>
          </a:xfrm>
          <a:prstGeom prst="rect">
            <a:avLst/>
          </a:prstGeom>
          <a:noFill/>
        </p:spPr>
        <p:txBody>
          <a:bodyPr wrap="square" lIns="73152" rIns="73152" tIns="36576" bIns="36576">
            <a:normAutofit/>
          </a:bodyPr>
          <a:lstStyle/>
          <a:p>
            <a:pPr algn="l">
              <a:spcAft>
                <a:spcPts val="500"/>
              </a:spcAft>
              <a:defRPr sz="1340">
                <a:solidFill>
                  <a:srgbClr val="4B5563"/>
                </a:solidFill>
                <a:latin typeface="Aptos"/>
              </a:defRPr>
            </a:pPr>
            <a:r>
              <a:t>Bu süreç, model seçiminin rastgele değil; veri özellikleri, iş ihtiyacı ve açıklanabilirlik gereksinimiyle bağlantılı yapılmasını sağlar.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01168"/>
            <a:ext cx="11155680" cy="457200"/>
          </a:xfrm>
          <a:prstGeom prst="rect">
            <a:avLst/>
          </a:prstGeom>
          <a:noFill/>
        </p:spPr>
        <p:txBody>
          <a:bodyPr wrap="square" lIns="73152" rIns="73152" tIns="36576" bIns="36576">
            <a:normAutofit/>
          </a:bodyPr>
          <a:lstStyle/>
          <a:p>
            <a:pPr algn="l"/>
            <a:r>
              <a:rPr sz="2250" b="1">
                <a:solidFill>
                  <a:srgbClr val="1F4E79"/>
                </a:solidFill>
                <a:latin typeface="Aptos"/>
              </a:rPr>
              <a:t>Kullanılan Teknolojiler ve Proje Ortamı</a:t>
            </a:r>
          </a:p>
        </p:txBody>
      </p:sp>
      <p:sp>
        <p:nvSpPr>
          <p:cNvPr id="3" name="Rectangle 2"/>
          <p:cNvSpPr/>
          <p:nvPr/>
        </p:nvSpPr>
        <p:spPr>
          <a:xfrm>
            <a:off x="502920" y="786384"/>
            <a:ext cx="11155680" cy="3200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565392"/>
            <a:ext cx="8046720" cy="201168"/>
          </a:xfrm>
          <a:prstGeom prst="rect">
            <a:avLst/>
          </a:prstGeom>
          <a:noFill/>
        </p:spPr>
        <p:txBody>
          <a:bodyPr wrap="square" lIns="73152" rIns="73152" tIns="36576" bIns="36576">
            <a:normAutofit/>
          </a:bodyPr>
          <a:lstStyle/>
          <a:p>
            <a:pPr algn="l"/>
            <a:r>
              <a:rPr sz="830" b="0">
                <a:solidFill>
                  <a:srgbClr val="4B5563"/>
                </a:solidFill>
                <a:latin typeface="Aptos"/>
              </a:rPr>
              <a:t>BLM308 Veri Madenciliği Final Projesi</a:t>
            </a:r>
          </a:p>
        </p:txBody>
      </p:sp>
      <p:sp>
        <p:nvSpPr>
          <p:cNvPr id="5" name="TextBox 4"/>
          <p:cNvSpPr txBox="1"/>
          <p:nvPr/>
        </p:nvSpPr>
        <p:spPr>
          <a:xfrm>
            <a:off x="11155680" y="6565392"/>
            <a:ext cx="457200" cy="201168"/>
          </a:xfrm>
          <a:prstGeom prst="rect">
            <a:avLst/>
          </a:prstGeom>
          <a:noFill/>
        </p:spPr>
        <p:txBody>
          <a:bodyPr wrap="square" lIns="73152" rIns="73152" tIns="36576" bIns="36576">
            <a:normAutofit/>
          </a:bodyPr>
          <a:lstStyle/>
          <a:p>
            <a:pPr algn="r"/>
            <a:r>
              <a:rPr sz="830" b="0">
                <a:solidFill>
                  <a:srgbClr val="4B5563"/>
                </a:solidFill>
                <a:latin typeface="Aptos"/>
              </a:rPr>
              <a:t>10</a:t>
            </a:r>
          </a:p>
        </p:txBody>
      </p:sp>
      <p:graphicFrame>
        <p:nvGraphicFramePr>
          <p:cNvPr id="6" name="Table 5"/>
          <p:cNvGraphicFramePr>
            <a:graphicFrameLocks noGrp="1"/>
          </p:cNvGraphicFramePr>
          <p:nvPr/>
        </p:nvGraphicFramePr>
        <p:xfrm>
          <a:off x="594360" y="1143000"/>
          <a:ext cx="10972800" cy="2514600"/>
        </p:xfrm>
        <a:graphic>
          <a:graphicData uri="http://schemas.openxmlformats.org/drawingml/2006/table">
            <a:tbl>
              <a:tblPr firstRow="1" bandRow="1">
                <a:tableStyleId>{5C22544A-7EE6-4342-B048-85BDC9FD1C3A}</a:tableStyleId>
              </a:tblPr>
              <a:tblGrid>
                <a:gridCol w="5486400"/>
                <a:gridCol w="5486400"/>
              </a:tblGrid>
              <a:tr h="419100">
                <a:tc>
                  <a:txBody>
                    <a:bodyPr/>
                    <a:lstStyle/>
                    <a:p>
                      <a:pPr algn="ctr">
                        <a:defRPr sz="1090">
                          <a:solidFill>
                            <a:srgbClr val="FFFFFF"/>
                          </a:solidFill>
                          <a:latin typeface="Aptos"/>
                        </a:defRPr>
                      </a:pPr>
                      <a:r>
                        <a:t>Bileşen</a:t>
                      </a:r>
                    </a:p>
                  </a:txBody>
                  <a:tcPr>
                    <a:solidFill>
                      <a:srgbClr val="1F4E79"/>
                    </a:solidFill>
                  </a:tcPr>
                </a:tc>
                <a:tc>
                  <a:txBody>
                    <a:bodyPr/>
                    <a:lstStyle/>
                    <a:p>
                      <a:pPr algn="ctr">
                        <a:defRPr sz="1090">
                          <a:solidFill>
                            <a:srgbClr val="FFFFFF"/>
                          </a:solidFill>
                          <a:latin typeface="Aptos"/>
                        </a:defRPr>
                      </a:pPr>
                      <a:r>
                        <a:t>Kullanım amacı</a:t>
                      </a:r>
                    </a:p>
                  </a:txBody>
                  <a:tcPr>
                    <a:solidFill>
                      <a:srgbClr val="1F4E79"/>
                    </a:solidFill>
                  </a:tcPr>
                </a:tc>
              </a:tr>
              <a:tr h="419100">
                <a:tc>
                  <a:txBody>
                    <a:bodyPr/>
                    <a:lstStyle/>
                    <a:p>
                      <a:pPr algn="ctr">
                        <a:defRPr sz="1090">
                          <a:solidFill>
                            <a:srgbClr val="111827"/>
                          </a:solidFill>
                          <a:latin typeface="Aptos"/>
                        </a:defRPr>
                      </a:pPr>
                      <a:r>
                        <a:t>Python, pandas, numpy</a:t>
                      </a:r>
                    </a:p>
                  </a:txBody>
                  <a:tcPr>
                    <a:solidFill>
                      <a:srgbClr val="F8FAFC"/>
                    </a:solidFill>
                  </a:tcPr>
                </a:tc>
                <a:tc>
                  <a:txBody>
                    <a:bodyPr/>
                    <a:lstStyle/>
                    <a:p>
                      <a:pPr algn="ctr">
                        <a:defRPr sz="1090">
                          <a:solidFill>
                            <a:srgbClr val="111827"/>
                          </a:solidFill>
                          <a:latin typeface="Aptos"/>
                        </a:defRPr>
                      </a:pPr>
                      <a:r>
                        <a:t>Veri okuma, dönüştürme ve sayısal işlemler</a:t>
                      </a:r>
                    </a:p>
                  </a:txBody>
                  <a:tcPr>
                    <a:solidFill>
                      <a:srgbClr val="F8FAFC"/>
                    </a:solidFill>
                  </a:tcPr>
                </a:tc>
              </a:tr>
              <a:tr h="419100">
                <a:tc>
                  <a:txBody>
                    <a:bodyPr/>
                    <a:lstStyle/>
                    <a:p>
                      <a:pPr algn="ctr">
                        <a:defRPr sz="1090">
                          <a:solidFill>
                            <a:srgbClr val="111827"/>
                          </a:solidFill>
                          <a:latin typeface="Aptos"/>
                        </a:defRPr>
                      </a:pPr>
                      <a:r>
                        <a:t>scikit-learn</a:t>
                      </a:r>
                    </a:p>
                  </a:txBody>
                  <a:tcPr>
                    <a:solidFill>
                      <a:srgbClr val="F8FAFC"/>
                    </a:solidFill>
                  </a:tcPr>
                </a:tc>
                <a:tc>
                  <a:txBody>
                    <a:bodyPr/>
                    <a:lstStyle/>
                    <a:p>
                      <a:pPr algn="ctr">
                        <a:defRPr sz="1090">
                          <a:solidFill>
                            <a:srgbClr val="111827"/>
                          </a:solidFill>
                          <a:latin typeface="Aptos"/>
                        </a:defRPr>
                      </a:pPr>
                      <a:r>
                        <a:t>Modelleme, ön işleme, metrik hesaplama ve test bölme</a:t>
                      </a:r>
                    </a:p>
                  </a:txBody>
                  <a:tcPr>
                    <a:solidFill>
                      <a:srgbClr val="F8FAFC"/>
                    </a:solidFill>
                  </a:tcPr>
                </a:tc>
              </a:tr>
              <a:tr h="419100">
                <a:tc>
                  <a:txBody>
                    <a:bodyPr/>
                    <a:lstStyle/>
                    <a:p>
                      <a:pPr algn="ctr">
                        <a:defRPr sz="1090">
                          <a:solidFill>
                            <a:srgbClr val="111827"/>
                          </a:solidFill>
                          <a:latin typeface="Aptos"/>
                        </a:defRPr>
                      </a:pPr>
                      <a:r>
                        <a:t>matplotlib, seaborn</a:t>
                      </a:r>
                    </a:p>
                  </a:txBody>
                  <a:tcPr>
                    <a:solidFill>
                      <a:srgbClr val="F8FAFC"/>
                    </a:solidFill>
                  </a:tcPr>
                </a:tc>
                <a:tc>
                  <a:txBody>
                    <a:bodyPr/>
                    <a:lstStyle/>
                    <a:p>
                      <a:pPr algn="ctr">
                        <a:defRPr sz="1090">
                          <a:solidFill>
                            <a:srgbClr val="111827"/>
                          </a:solidFill>
                          <a:latin typeface="Aptos"/>
                        </a:defRPr>
                      </a:pPr>
                      <a:r>
                        <a:t>Grafik ve performans çıktılarının üretilmesi</a:t>
                      </a:r>
                    </a:p>
                  </a:txBody>
                  <a:tcPr>
                    <a:solidFill>
                      <a:srgbClr val="F8FAFC"/>
                    </a:solidFill>
                  </a:tcPr>
                </a:tc>
              </a:tr>
              <a:tr h="419100">
                <a:tc>
                  <a:txBody>
                    <a:bodyPr/>
                    <a:lstStyle/>
                    <a:p>
                      <a:pPr algn="ctr">
                        <a:defRPr sz="1090">
                          <a:solidFill>
                            <a:srgbClr val="111827"/>
                          </a:solidFill>
                          <a:latin typeface="Aptos"/>
                        </a:defRPr>
                      </a:pPr>
                      <a:r>
                        <a:t>SHAP/LIME yaklaşımı</a:t>
                      </a:r>
                    </a:p>
                  </a:txBody>
                  <a:tcPr>
                    <a:solidFill>
                      <a:srgbClr val="F8FAFC"/>
                    </a:solidFill>
                  </a:tcPr>
                </a:tc>
                <a:tc>
                  <a:txBody>
                    <a:bodyPr/>
                    <a:lstStyle/>
                    <a:p>
                      <a:pPr algn="ctr">
                        <a:defRPr sz="1090">
                          <a:solidFill>
                            <a:srgbClr val="111827"/>
                          </a:solidFill>
                          <a:latin typeface="Aptos"/>
                        </a:defRPr>
                      </a:pPr>
                      <a:r>
                        <a:t>Küresel ve yerel model açıklamalarının oluşturulması</a:t>
                      </a:r>
                    </a:p>
                  </a:txBody>
                  <a:tcPr>
                    <a:solidFill>
                      <a:srgbClr val="F8FAFC"/>
                    </a:solidFill>
                  </a:tcPr>
                </a:tc>
              </a:tr>
              <a:tr h="419100">
                <a:tc>
                  <a:txBody>
                    <a:bodyPr/>
                    <a:lstStyle/>
                    <a:p>
                      <a:pPr algn="ctr">
                        <a:defRPr sz="1090">
                          <a:solidFill>
                            <a:srgbClr val="111827"/>
                          </a:solidFill>
                          <a:latin typeface="Aptos"/>
                        </a:defRPr>
                      </a:pPr>
                      <a:r>
                        <a:t>Streamlit</a:t>
                      </a:r>
                    </a:p>
                  </a:txBody>
                  <a:tcPr>
                    <a:solidFill>
                      <a:srgbClr val="F8FAFC"/>
                    </a:solidFill>
                  </a:tcPr>
                </a:tc>
                <a:tc>
                  <a:txBody>
                    <a:bodyPr/>
                    <a:lstStyle/>
                    <a:p>
                      <a:pPr algn="ctr">
                        <a:defRPr sz="1090">
                          <a:solidFill>
                            <a:srgbClr val="111827"/>
                          </a:solidFill>
                          <a:latin typeface="Aptos"/>
                        </a:defRPr>
                      </a:pPr>
                      <a:r>
                        <a:t>Hocaya gösterilebilir Türkçe tahmin arayüzü</a:t>
                      </a:r>
                    </a:p>
                  </a:txBody>
                  <a:tcPr>
                    <a:solidFill>
                      <a:srgbClr val="F8FAFC"/>
                    </a:solidFill>
                  </a:tcPr>
                </a:tc>
              </a:tr>
            </a:tbl>
          </a:graphicData>
        </a:graphic>
      </p:graphicFrame>
      <p:sp>
        <p:nvSpPr>
          <p:cNvPr id="7" name="TextBox 6"/>
          <p:cNvSpPr txBox="1"/>
          <p:nvPr/>
        </p:nvSpPr>
        <p:spPr>
          <a:xfrm>
            <a:off x="777240" y="4069080"/>
            <a:ext cx="10652760" cy="1143000"/>
          </a:xfrm>
          <a:prstGeom prst="rect">
            <a:avLst/>
          </a:prstGeom>
          <a:noFill/>
        </p:spPr>
        <p:txBody>
          <a:bodyPr wrap="square" lIns="73152" rIns="73152" tIns="36576" bIns="36576">
            <a:normAutofit/>
          </a:bodyPr>
          <a:lstStyle/>
          <a:p>
            <a:pPr algn="l">
              <a:spcAft>
                <a:spcPts val="500"/>
              </a:spcAft>
              <a:defRPr sz="1370">
                <a:solidFill>
                  <a:srgbClr val="111827"/>
                </a:solidFill>
                <a:latin typeface="Aptos"/>
              </a:defRPr>
            </a:pPr>
            <a:r>
              <a:t>Proje Visual Studio Code + Python ortamında çalıştırılacak şekilde düzenlenmiştir. Bu tercih, kodun okunmasını, dosya yapısının incelenmesini ve uygulamanın doğrudan başlatılmasını kolaylaştırır.</a:t>
            </a:r>
          </a:p>
          <a:p>
            <a:pPr algn="l">
              <a:spcAft>
                <a:spcPts val="500"/>
              </a:spcAft>
              <a:defRPr sz="1370">
                <a:solidFill>
                  <a:srgbClr val="111827"/>
                </a:solidFill>
                <a:latin typeface="Aptos"/>
              </a:defRPr>
            </a:pPr>
            <a:r>
              <a:t>Ayrıca train.py, explain.py ve app.py dosyaları ayrı tutulduğu için eğitim, açıklama üretimi ve arayüz çalıştırma adımları net biçimde ayrılmıştır.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766E"/>
        </a:solidFill>
        <a:effectLst/>
      </p:bgPr>
    </p:bg>
    <p:spTree>
      <p:nvGrpSpPr>
        <p:cNvPr id="1" name=""/>
        <p:cNvGrpSpPr/>
        <p:nvPr/>
      </p:nvGrpSpPr>
      <p:grpSpPr/>
      <p:sp>
        <p:nvSpPr>
          <p:cNvPr id="2" name="TextBox 1"/>
          <p:cNvSpPr txBox="1"/>
          <p:nvPr/>
        </p:nvSpPr>
        <p:spPr>
          <a:xfrm>
            <a:off x="685800" y="1325880"/>
            <a:ext cx="10789920" cy="640080"/>
          </a:xfrm>
          <a:prstGeom prst="rect">
            <a:avLst/>
          </a:prstGeom>
          <a:noFill/>
        </p:spPr>
        <p:txBody>
          <a:bodyPr wrap="square" lIns="73152" rIns="73152" tIns="36576" bIns="36576">
            <a:normAutofit/>
          </a:bodyPr>
          <a:lstStyle/>
          <a:p>
            <a:pPr algn="l"/>
            <a:r>
              <a:rPr sz="3400" b="1">
                <a:solidFill>
                  <a:srgbClr val="FFFFFF"/>
                </a:solidFill>
                <a:latin typeface="Aptos"/>
              </a:rPr>
              <a:t>3. Veri Seti ve Hazırlık</a:t>
            </a:r>
          </a:p>
        </p:txBody>
      </p:sp>
      <p:sp>
        <p:nvSpPr>
          <p:cNvPr id="3" name="TextBox 2"/>
          <p:cNvSpPr txBox="1"/>
          <p:nvPr/>
        </p:nvSpPr>
        <p:spPr>
          <a:xfrm>
            <a:off x="713232" y="2121408"/>
            <a:ext cx="10424160" cy="548640"/>
          </a:xfrm>
          <a:prstGeom prst="rect">
            <a:avLst/>
          </a:prstGeom>
          <a:noFill/>
        </p:spPr>
        <p:txBody>
          <a:bodyPr wrap="square" lIns="73152" rIns="73152" tIns="36576" bIns="36576">
            <a:normAutofit/>
          </a:bodyPr>
          <a:lstStyle/>
          <a:p>
            <a:pPr algn="l"/>
            <a:r>
              <a:rPr sz="1850" b="0">
                <a:solidFill>
                  <a:srgbClr val="DBEAFE"/>
                </a:solidFill>
                <a:latin typeface="Aptos"/>
              </a:rPr>
              <a:t>Veri hazırlığı aşaması, model performansını doğrudan etkilediği için proje içinde kritik bir karar alanı olarak ele alınmıştır.</a:t>
            </a:r>
          </a:p>
        </p:txBody>
      </p:sp>
      <p:sp>
        <p:nvSpPr>
          <p:cNvPr id="4" name="TextBox 3"/>
          <p:cNvSpPr txBox="1"/>
          <p:nvPr/>
        </p:nvSpPr>
        <p:spPr>
          <a:xfrm>
            <a:off x="731520" y="2953512"/>
            <a:ext cx="10104120" cy="1572768"/>
          </a:xfrm>
          <a:prstGeom prst="rect">
            <a:avLst/>
          </a:prstGeom>
          <a:noFill/>
        </p:spPr>
        <p:txBody>
          <a:bodyPr wrap="square" lIns="73152" rIns="73152" tIns="36576" bIns="36576">
            <a:normAutofit/>
          </a:bodyPr>
          <a:lstStyle/>
          <a:p>
            <a:pPr algn="l">
              <a:spcAft>
                <a:spcPts val="600"/>
              </a:spcAft>
              <a:defRPr sz="1460">
                <a:solidFill>
                  <a:srgbClr val="FFFFFF"/>
                </a:solidFill>
                <a:latin typeface="Aptos"/>
              </a:defRPr>
            </a:pPr>
            <a:r>
              <a:t>UCI Bank Marketing veri seti, pazarlama kampanyası sonucunda müşterinin vadeli mevduata abone olup olmadığını gösteren gerçekçi bir sınıflandırma problemidir.</a:t>
            </a:r>
          </a:p>
          <a:p>
            <a:pPr algn="l">
              <a:spcAft>
                <a:spcPts val="600"/>
              </a:spcAft>
              <a:defRPr sz="1460">
                <a:solidFill>
                  <a:srgbClr val="FFFFFF"/>
                </a:solidFill>
                <a:latin typeface="Aptos"/>
              </a:defRPr>
            </a:pPr>
            <a:r>
              <a:t>Bu veri setinde sınıf dengesizliği ve görüşme süresi değişkeni gibi dikkat edilmesi gereken noktalar vardır. Bu nedenle veri hazırlığı yalnızca teknik dönüşüm değil, aynı zamanda metodolojik bir güvenilirlik aşamasıdır.</a:t>
            </a:r>
          </a:p>
        </p:txBody>
      </p:sp>
      <p:sp>
        <p:nvSpPr>
          <p:cNvPr id="5" name="TextBox 4"/>
          <p:cNvSpPr txBox="1"/>
          <p:nvPr/>
        </p:nvSpPr>
        <p:spPr>
          <a:xfrm>
            <a:off x="502920" y="6565392"/>
            <a:ext cx="8046720" cy="201168"/>
          </a:xfrm>
          <a:prstGeom prst="rect">
            <a:avLst/>
          </a:prstGeom>
          <a:noFill/>
        </p:spPr>
        <p:txBody>
          <a:bodyPr wrap="square" lIns="73152" rIns="73152" tIns="36576" bIns="36576">
            <a:normAutofit/>
          </a:bodyPr>
          <a:lstStyle/>
          <a:p>
            <a:pPr algn="l"/>
            <a:r>
              <a:rPr sz="830" b="0">
                <a:solidFill>
                  <a:srgbClr val="4B5563"/>
                </a:solidFill>
                <a:latin typeface="Aptos"/>
              </a:rPr>
              <a:t>BLM308 Veri Madenciliği Final Projesi</a:t>
            </a:r>
          </a:p>
        </p:txBody>
      </p:sp>
      <p:sp>
        <p:nvSpPr>
          <p:cNvPr id="6" name="TextBox 5"/>
          <p:cNvSpPr txBox="1"/>
          <p:nvPr/>
        </p:nvSpPr>
        <p:spPr>
          <a:xfrm>
            <a:off x="11155680" y="6565392"/>
            <a:ext cx="457200" cy="201168"/>
          </a:xfrm>
          <a:prstGeom prst="rect">
            <a:avLst/>
          </a:prstGeom>
          <a:noFill/>
        </p:spPr>
        <p:txBody>
          <a:bodyPr wrap="square" lIns="73152" rIns="73152" tIns="36576" bIns="36576">
            <a:normAutofit/>
          </a:bodyPr>
          <a:lstStyle/>
          <a:p>
            <a:pPr algn="r"/>
            <a:r>
              <a:rPr sz="830" b="0">
                <a:solidFill>
                  <a:srgbClr val="4B5563"/>
                </a:solidFill>
                <a:latin typeface="Aptos"/>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01168"/>
            <a:ext cx="11155680" cy="457200"/>
          </a:xfrm>
          <a:prstGeom prst="rect">
            <a:avLst/>
          </a:prstGeom>
          <a:noFill/>
        </p:spPr>
        <p:txBody>
          <a:bodyPr wrap="square" lIns="73152" rIns="73152" tIns="36576" bIns="36576">
            <a:normAutofit/>
          </a:bodyPr>
          <a:lstStyle/>
          <a:p>
            <a:pPr algn="l"/>
            <a:r>
              <a:rPr sz="2250" b="1">
                <a:solidFill>
                  <a:srgbClr val="1F4E79"/>
                </a:solidFill>
                <a:latin typeface="Aptos"/>
              </a:rPr>
              <a:t>Veri Kaynağı ve Temel Yapı</a:t>
            </a:r>
          </a:p>
        </p:txBody>
      </p:sp>
      <p:sp>
        <p:nvSpPr>
          <p:cNvPr id="3" name="Rectangle 2"/>
          <p:cNvSpPr/>
          <p:nvPr/>
        </p:nvSpPr>
        <p:spPr>
          <a:xfrm>
            <a:off x="502920" y="786384"/>
            <a:ext cx="11155680" cy="3200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565392"/>
            <a:ext cx="8046720" cy="201168"/>
          </a:xfrm>
          <a:prstGeom prst="rect">
            <a:avLst/>
          </a:prstGeom>
          <a:noFill/>
        </p:spPr>
        <p:txBody>
          <a:bodyPr wrap="square" lIns="73152" rIns="73152" tIns="36576" bIns="36576">
            <a:normAutofit/>
          </a:bodyPr>
          <a:lstStyle/>
          <a:p>
            <a:pPr algn="l"/>
            <a:r>
              <a:rPr sz="830" b="0">
                <a:solidFill>
                  <a:srgbClr val="4B5563"/>
                </a:solidFill>
                <a:latin typeface="Aptos"/>
              </a:rPr>
              <a:t>BLM308 Veri Madenciliği Final Projesi</a:t>
            </a:r>
          </a:p>
        </p:txBody>
      </p:sp>
      <p:sp>
        <p:nvSpPr>
          <p:cNvPr id="5" name="TextBox 4"/>
          <p:cNvSpPr txBox="1"/>
          <p:nvPr/>
        </p:nvSpPr>
        <p:spPr>
          <a:xfrm>
            <a:off x="11155680" y="6565392"/>
            <a:ext cx="457200" cy="201168"/>
          </a:xfrm>
          <a:prstGeom prst="rect">
            <a:avLst/>
          </a:prstGeom>
          <a:noFill/>
        </p:spPr>
        <p:txBody>
          <a:bodyPr wrap="square" lIns="73152" rIns="73152" tIns="36576" bIns="36576">
            <a:normAutofit/>
          </a:bodyPr>
          <a:lstStyle/>
          <a:p>
            <a:pPr algn="r"/>
            <a:r>
              <a:rPr sz="830" b="0">
                <a:solidFill>
                  <a:srgbClr val="4B5563"/>
                </a:solidFill>
                <a:latin typeface="Aptos"/>
              </a:rPr>
              <a:t>12</a:t>
            </a:r>
          </a:p>
        </p:txBody>
      </p:sp>
      <p:graphicFrame>
        <p:nvGraphicFramePr>
          <p:cNvPr id="6" name="Table 5"/>
          <p:cNvGraphicFramePr>
            <a:graphicFrameLocks noGrp="1"/>
          </p:cNvGraphicFramePr>
          <p:nvPr/>
        </p:nvGraphicFramePr>
        <p:xfrm>
          <a:off x="640080" y="1143000"/>
          <a:ext cx="5257800" cy="2240280"/>
        </p:xfrm>
        <a:graphic>
          <a:graphicData uri="http://schemas.openxmlformats.org/drawingml/2006/table">
            <a:tbl>
              <a:tblPr firstRow="1" bandRow="1">
                <a:tableStyleId>{5C22544A-7EE6-4342-B048-85BDC9FD1C3A}</a:tableStyleId>
              </a:tblPr>
              <a:tblGrid>
                <a:gridCol w="2628900"/>
                <a:gridCol w="2628900"/>
              </a:tblGrid>
              <a:tr h="373380">
                <a:tc>
                  <a:txBody>
                    <a:bodyPr/>
                    <a:lstStyle/>
                    <a:p>
                      <a:pPr algn="ctr">
                        <a:defRPr sz="1120">
                          <a:solidFill>
                            <a:srgbClr val="FFFFFF"/>
                          </a:solidFill>
                          <a:latin typeface="Aptos"/>
                        </a:defRPr>
                      </a:pPr>
                      <a:r>
                        <a:t>Özellik</a:t>
                      </a:r>
                    </a:p>
                  </a:txBody>
                  <a:tcPr>
                    <a:solidFill>
                      <a:srgbClr val="1F4E79"/>
                    </a:solidFill>
                  </a:tcPr>
                </a:tc>
                <a:tc>
                  <a:txBody>
                    <a:bodyPr/>
                    <a:lstStyle/>
                    <a:p>
                      <a:pPr algn="ctr">
                        <a:defRPr sz="1120">
                          <a:solidFill>
                            <a:srgbClr val="FFFFFF"/>
                          </a:solidFill>
                          <a:latin typeface="Aptos"/>
                        </a:defRPr>
                      </a:pPr>
                      <a:r>
                        <a:t>Değer</a:t>
                      </a:r>
                    </a:p>
                  </a:txBody>
                  <a:tcPr>
                    <a:solidFill>
                      <a:srgbClr val="1F4E79"/>
                    </a:solidFill>
                  </a:tcPr>
                </a:tc>
              </a:tr>
              <a:tr h="373380">
                <a:tc>
                  <a:txBody>
                    <a:bodyPr/>
                    <a:lstStyle/>
                    <a:p>
                      <a:pPr algn="ctr">
                        <a:defRPr sz="1120">
                          <a:solidFill>
                            <a:srgbClr val="111827"/>
                          </a:solidFill>
                          <a:latin typeface="Aptos"/>
                        </a:defRPr>
                      </a:pPr>
                      <a:r>
                        <a:t>Kaynak</a:t>
                      </a:r>
                    </a:p>
                  </a:txBody>
                  <a:tcPr>
                    <a:solidFill>
                      <a:srgbClr val="F8FAFC"/>
                    </a:solidFill>
                  </a:tcPr>
                </a:tc>
                <a:tc>
                  <a:txBody>
                    <a:bodyPr/>
                    <a:lstStyle/>
                    <a:p>
                      <a:pPr algn="ctr">
                        <a:defRPr sz="1120">
                          <a:solidFill>
                            <a:srgbClr val="111827"/>
                          </a:solidFill>
                          <a:latin typeface="Aptos"/>
                        </a:defRPr>
                      </a:pPr>
                      <a:r>
                        <a:t>UCI Bank Marketing</a:t>
                      </a:r>
                    </a:p>
                  </a:txBody>
                  <a:tcPr>
                    <a:solidFill>
                      <a:srgbClr val="F8FAFC"/>
                    </a:solidFill>
                  </a:tcPr>
                </a:tc>
              </a:tr>
              <a:tr h="373380">
                <a:tc>
                  <a:txBody>
                    <a:bodyPr/>
                    <a:lstStyle/>
                    <a:p>
                      <a:pPr algn="ctr">
                        <a:defRPr sz="1120">
                          <a:solidFill>
                            <a:srgbClr val="111827"/>
                          </a:solidFill>
                          <a:latin typeface="Aptos"/>
                        </a:defRPr>
                      </a:pPr>
                      <a:r>
                        <a:t>Örnek sayısı</a:t>
                      </a:r>
                    </a:p>
                  </a:txBody>
                  <a:tcPr>
                    <a:solidFill>
                      <a:srgbClr val="F8FAFC"/>
                    </a:solidFill>
                  </a:tcPr>
                </a:tc>
                <a:tc>
                  <a:txBody>
                    <a:bodyPr/>
                    <a:lstStyle/>
                    <a:p>
                      <a:pPr algn="ctr">
                        <a:defRPr sz="1120">
                          <a:solidFill>
                            <a:srgbClr val="111827"/>
                          </a:solidFill>
                          <a:latin typeface="Aptos"/>
                        </a:defRPr>
                      </a:pPr>
                      <a:r>
                        <a:t>41.188</a:t>
                      </a:r>
                    </a:p>
                  </a:txBody>
                  <a:tcPr>
                    <a:solidFill>
                      <a:srgbClr val="F8FAFC"/>
                    </a:solidFill>
                  </a:tcPr>
                </a:tc>
              </a:tr>
              <a:tr h="373380">
                <a:tc>
                  <a:txBody>
                    <a:bodyPr/>
                    <a:lstStyle/>
                    <a:p>
                      <a:pPr algn="ctr">
                        <a:defRPr sz="1120">
                          <a:solidFill>
                            <a:srgbClr val="111827"/>
                          </a:solidFill>
                          <a:latin typeface="Aptos"/>
                        </a:defRPr>
                      </a:pPr>
                      <a:r>
                        <a:t>Girdi değişkeni</a:t>
                      </a:r>
                    </a:p>
                  </a:txBody>
                  <a:tcPr>
                    <a:solidFill>
                      <a:srgbClr val="F8FAFC"/>
                    </a:solidFill>
                  </a:tcPr>
                </a:tc>
                <a:tc>
                  <a:txBody>
                    <a:bodyPr/>
                    <a:lstStyle/>
                    <a:p>
                      <a:pPr algn="ctr">
                        <a:defRPr sz="1120">
                          <a:solidFill>
                            <a:srgbClr val="111827"/>
                          </a:solidFill>
                          <a:latin typeface="Aptos"/>
                        </a:defRPr>
                      </a:pPr>
                      <a:r>
                        <a:t>20</a:t>
                      </a:r>
                    </a:p>
                  </a:txBody>
                  <a:tcPr>
                    <a:solidFill>
                      <a:srgbClr val="F8FAFC"/>
                    </a:solidFill>
                  </a:tcPr>
                </a:tc>
              </a:tr>
              <a:tr h="373380">
                <a:tc>
                  <a:txBody>
                    <a:bodyPr/>
                    <a:lstStyle/>
                    <a:p>
                      <a:pPr algn="ctr">
                        <a:defRPr sz="1120">
                          <a:solidFill>
                            <a:srgbClr val="111827"/>
                          </a:solidFill>
                          <a:latin typeface="Aptos"/>
                        </a:defRPr>
                      </a:pPr>
                      <a:r>
                        <a:t>Hedef değişken</a:t>
                      </a:r>
                    </a:p>
                  </a:txBody>
                  <a:tcPr>
                    <a:solidFill>
                      <a:srgbClr val="F8FAFC"/>
                    </a:solidFill>
                  </a:tcPr>
                </a:tc>
                <a:tc>
                  <a:txBody>
                    <a:bodyPr/>
                    <a:lstStyle/>
                    <a:p>
                      <a:pPr algn="ctr">
                        <a:defRPr sz="1120">
                          <a:solidFill>
                            <a:srgbClr val="111827"/>
                          </a:solidFill>
                          <a:latin typeface="Aptos"/>
                        </a:defRPr>
                      </a:pPr>
                      <a:r>
                        <a:t>Vadeli mevduat aboneliği</a:t>
                      </a:r>
                    </a:p>
                  </a:txBody>
                  <a:tcPr>
                    <a:solidFill>
                      <a:srgbClr val="F8FAFC"/>
                    </a:solidFill>
                  </a:tcPr>
                </a:tc>
              </a:tr>
              <a:tr h="373380">
                <a:tc>
                  <a:txBody>
                    <a:bodyPr/>
                    <a:lstStyle/>
                    <a:p>
                      <a:pPr algn="ctr">
                        <a:defRPr sz="1120">
                          <a:solidFill>
                            <a:srgbClr val="111827"/>
                          </a:solidFill>
                          <a:latin typeface="Aptos"/>
                        </a:defRPr>
                      </a:pPr>
                      <a:r>
                        <a:t>Pozitif sınıf</a:t>
                      </a:r>
                    </a:p>
                  </a:txBody>
                  <a:tcPr>
                    <a:solidFill>
                      <a:srgbClr val="F8FAFC"/>
                    </a:solidFill>
                  </a:tcPr>
                </a:tc>
                <a:tc>
                  <a:txBody>
                    <a:bodyPr/>
                    <a:lstStyle/>
                    <a:p>
                      <a:pPr algn="ctr">
                        <a:defRPr sz="1120">
                          <a:solidFill>
                            <a:srgbClr val="111827"/>
                          </a:solidFill>
                          <a:latin typeface="Aptos"/>
                        </a:defRPr>
                      </a:pPr>
                      <a:r>
                        <a:t>Abone oldu</a:t>
                      </a:r>
                    </a:p>
                  </a:txBody>
                  <a:tcPr>
                    <a:solidFill>
                      <a:srgbClr val="F8FAFC"/>
                    </a:solidFill>
                  </a:tcPr>
                </a:tc>
              </a:tr>
            </a:tbl>
          </a:graphicData>
        </a:graphic>
      </p:graphicFrame>
      <p:sp>
        <p:nvSpPr>
          <p:cNvPr id="7" name="TextBox 6"/>
          <p:cNvSpPr txBox="1"/>
          <p:nvPr/>
        </p:nvSpPr>
        <p:spPr>
          <a:xfrm>
            <a:off x="6355080" y="1170432"/>
            <a:ext cx="4892040" cy="2487168"/>
          </a:xfrm>
          <a:prstGeom prst="rect">
            <a:avLst/>
          </a:prstGeom>
          <a:noFill/>
        </p:spPr>
        <p:txBody>
          <a:bodyPr wrap="square" lIns="73152" rIns="73152" tIns="36576" bIns="36576">
            <a:normAutofit/>
          </a:bodyPr>
          <a:lstStyle/>
          <a:p>
            <a:pPr algn="l">
              <a:spcAft>
                <a:spcPts val="500"/>
              </a:spcAft>
              <a:defRPr sz="1310">
                <a:solidFill>
                  <a:srgbClr val="111827"/>
                </a:solidFill>
                <a:latin typeface="Aptos"/>
              </a:defRPr>
            </a:pPr>
            <a:r>
              <a:t>Veri seti, müşteri profili, finansal durum, kampanya temas bilgileri ve ekonomik göstergelerden oluşur. Bu çeşitlilik, modelin yalnızca tek bir müşteri özelliğine değil, birden fazla karar sinyaline bakmasını sağlar.</a:t>
            </a:r>
          </a:p>
          <a:p>
            <a:pPr algn="l">
              <a:spcAft>
                <a:spcPts val="500"/>
              </a:spcAft>
              <a:defRPr sz="1310">
                <a:solidFill>
                  <a:srgbClr val="111827"/>
                </a:solidFill>
                <a:latin typeface="Aptos"/>
              </a:defRPr>
            </a:pPr>
            <a:r>
              <a:t>Hedef değişken ikili yapıdadır: müşteri kampanya sonunda vadeli mevduata abone olmuştur veya olmamıştır. Bu nedenle problem, denetimli ikili sınıflandırma problemi olarak modellenmiştir.</a:t>
            </a:r>
          </a:p>
        </p:txBody>
      </p:sp>
      <p:sp>
        <p:nvSpPr>
          <p:cNvPr id="8" name="Rounded Rectangle 7"/>
          <p:cNvSpPr/>
          <p:nvPr/>
        </p:nvSpPr>
        <p:spPr>
          <a:xfrm>
            <a:off x="822960" y="4206240"/>
            <a:ext cx="10515600" cy="960120"/>
          </a:xfrm>
          <a:prstGeom prst="roundRect">
            <a:avLst/>
          </a:prstGeom>
          <a:solidFill>
            <a:srgbClr val="F5F7FA"/>
          </a:solidFill>
          <a:ln w="1397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91440" bIns="36576">
            <a:normAutofit/>
          </a:bodyPr>
          <a:lstStyle/>
          <a:p>
            <a:pPr algn="ctr"/>
            <a:r>
              <a:rPr sz="1360" b="1">
                <a:solidFill>
                  <a:srgbClr val="2563EB"/>
                </a:solidFill>
                <a:latin typeface="Aptos"/>
              </a:rPr>
              <a:t>Akademik değerlendirme</a:t>
            </a:r>
          </a:p>
          <a:p>
            <a:pPr>
              <a:spcBef>
                <a:spcPts val="400"/>
              </a:spcBef>
              <a:defRPr sz="1220">
                <a:solidFill>
                  <a:srgbClr val="111827"/>
                </a:solidFill>
                <a:latin typeface="Aptos"/>
              </a:defRPr>
            </a:pPr>
            <a:r>
              <a:t>Veri kaynağının açık olması, çalışmanın tekrar üretilebilirliğini artırır. Aynı veri seti üzerinde farklı modeller denenebilir, sonuçlar karşılaştırılabilir ve model kararları daha şeffaf biçimde tartışılabilir.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01168"/>
            <a:ext cx="11155680" cy="457200"/>
          </a:xfrm>
          <a:prstGeom prst="rect">
            <a:avLst/>
          </a:prstGeom>
          <a:noFill/>
        </p:spPr>
        <p:txBody>
          <a:bodyPr wrap="square" lIns="73152" rIns="73152" tIns="36576" bIns="36576">
            <a:normAutofit/>
          </a:bodyPr>
          <a:lstStyle/>
          <a:p>
            <a:pPr algn="l"/>
            <a:r>
              <a:rPr sz="2250" b="1">
                <a:solidFill>
                  <a:srgbClr val="1F4E79"/>
                </a:solidFill>
                <a:latin typeface="Aptos"/>
              </a:rPr>
              <a:t>Hedef Değişken Dağılımı</a:t>
            </a:r>
          </a:p>
        </p:txBody>
      </p:sp>
      <p:sp>
        <p:nvSpPr>
          <p:cNvPr id="3" name="Rectangle 2"/>
          <p:cNvSpPr/>
          <p:nvPr/>
        </p:nvSpPr>
        <p:spPr>
          <a:xfrm>
            <a:off x="502920" y="786384"/>
            <a:ext cx="11155680" cy="3200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565392"/>
            <a:ext cx="8046720" cy="201168"/>
          </a:xfrm>
          <a:prstGeom prst="rect">
            <a:avLst/>
          </a:prstGeom>
          <a:noFill/>
        </p:spPr>
        <p:txBody>
          <a:bodyPr wrap="square" lIns="73152" rIns="73152" tIns="36576" bIns="36576">
            <a:normAutofit/>
          </a:bodyPr>
          <a:lstStyle/>
          <a:p>
            <a:pPr algn="l"/>
            <a:r>
              <a:rPr sz="830" b="0">
                <a:solidFill>
                  <a:srgbClr val="4B5563"/>
                </a:solidFill>
                <a:latin typeface="Aptos"/>
              </a:rPr>
              <a:t>BLM308 Veri Madenciliği Final Projesi</a:t>
            </a:r>
          </a:p>
        </p:txBody>
      </p:sp>
      <p:sp>
        <p:nvSpPr>
          <p:cNvPr id="5" name="TextBox 4"/>
          <p:cNvSpPr txBox="1"/>
          <p:nvPr/>
        </p:nvSpPr>
        <p:spPr>
          <a:xfrm>
            <a:off x="11155680" y="6565392"/>
            <a:ext cx="457200" cy="201168"/>
          </a:xfrm>
          <a:prstGeom prst="rect">
            <a:avLst/>
          </a:prstGeom>
          <a:noFill/>
        </p:spPr>
        <p:txBody>
          <a:bodyPr wrap="square" lIns="73152" rIns="73152" tIns="36576" bIns="36576">
            <a:normAutofit/>
          </a:bodyPr>
          <a:lstStyle/>
          <a:p>
            <a:pPr algn="r"/>
            <a:r>
              <a:rPr sz="830" b="0">
                <a:solidFill>
                  <a:srgbClr val="4B5563"/>
                </a:solidFill>
                <a:latin typeface="Aptos"/>
              </a:rPr>
              <a:t>13</a:t>
            </a:r>
          </a:p>
        </p:txBody>
      </p:sp>
      <p:pic>
        <p:nvPicPr>
          <p:cNvPr id="6" name="Picture 5" descr="target_distribution_turkce.png"/>
          <p:cNvPicPr>
            <a:picLocks noChangeAspect="1"/>
          </p:cNvPicPr>
          <p:nvPr/>
        </p:nvPicPr>
        <p:blipFill>
          <a:blip r:embed="rId2"/>
          <a:stretch>
            <a:fillRect/>
          </a:stretch>
        </p:blipFill>
        <p:spPr>
          <a:xfrm>
            <a:off x="941832" y="1069848"/>
            <a:ext cx="5349240" cy="3056709"/>
          </a:xfrm>
          <a:prstGeom prst="rect">
            <a:avLst/>
          </a:prstGeom>
        </p:spPr>
      </p:pic>
      <p:sp>
        <p:nvSpPr>
          <p:cNvPr id="7" name="TextBox 6"/>
          <p:cNvSpPr txBox="1"/>
          <p:nvPr/>
        </p:nvSpPr>
        <p:spPr>
          <a:xfrm>
            <a:off x="6583680" y="1188720"/>
            <a:ext cx="4709160" cy="3566160"/>
          </a:xfrm>
          <a:prstGeom prst="rect">
            <a:avLst/>
          </a:prstGeom>
          <a:noFill/>
        </p:spPr>
        <p:txBody>
          <a:bodyPr wrap="square" lIns="73152" rIns="73152" tIns="36576" bIns="36576">
            <a:normAutofit/>
          </a:bodyPr>
          <a:lstStyle/>
          <a:p>
            <a:pPr algn="l">
              <a:spcAft>
                <a:spcPts val="500"/>
              </a:spcAft>
              <a:defRPr sz="1320">
                <a:solidFill>
                  <a:srgbClr val="111827"/>
                </a:solidFill>
                <a:latin typeface="Aptos"/>
              </a:defRPr>
            </a:pPr>
            <a:r>
              <a:t>Grafik, abone olmayan müşterilerin veri setinde açık biçimde çoğunlukta olduğunu gösterir. Bu durum sınıf dengesizliği problemidir ve model değerlendirmesinde doğrudan dikkate alınmalıdır.</a:t>
            </a:r>
          </a:p>
          <a:p>
            <a:pPr algn="l">
              <a:spcAft>
                <a:spcPts val="500"/>
              </a:spcAft>
              <a:defRPr sz="1320">
                <a:solidFill>
                  <a:srgbClr val="111827"/>
                </a:solidFill>
                <a:latin typeface="Aptos"/>
              </a:defRPr>
            </a:pPr>
            <a:r>
              <a:t>Eğer yalnızca doğruluk metriğine bakılırsa model çoğunluk sınıfını tahmin ederek yüksek görünen fakat iş açısından zayıf bir başarı elde edebilir. Bu nedenle kesinlik, duyarlılık, F1 ve ROC-AUC metrikleri birlikte raporlanmıştır.</a:t>
            </a:r>
          </a:p>
          <a:p>
            <a:pPr algn="l">
              <a:spcAft>
                <a:spcPts val="500"/>
              </a:spcAft>
              <a:defRPr sz="1320">
                <a:solidFill>
                  <a:srgbClr val="111827"/>
                </a:solidFill>
                <a:latin typeface="Aptos"/>
              </a:defRPr>
            </a:pPr>
            <a:r>
              <a:t>Bankanın hedefi yalnızca doğru tahmin sayısını artırmak değil, abone olabilecek müşterileri yakalayabilmektir. Bu yüzden pozitif sınıf performansı özellikle önemlidir.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01168"/>
            <a:ext cx="11155680" cy="457200"/>
          </a:xfrm>
          <a:prstGeom prst="rect">
            <a:avLst/>
          </a:prstGeom>
          <a:noFill/>
        </p:spPr>
        <p:txBody>
          <a:bodyPr wrap="square" lIns="73152" rIns="73152" tIns="36576" bIns="36576">
            <a:normAutofit/>
          </a:bodyPr>
          <a:lstStyle/>
          <a:p>
            <a:pPr algn="l"/>
            <a:r>
              <a:rPr sz="2250" b="1">
                <a:solidFill>
                  <a:srgbClr val="1F4E79"/>
                </a:solidFill>
                <a:latin typeface="Aptos"/>
              </a:rPr>
              <a:t>Veri Hazırlığı Kararları</a:t>
            </a:r>
          </a:p>
        </p:txBody>
      </p:sp>
      <p:sp>
        <p:nvSpPr>
          <p:cNvPr id="3" name="Rectangle 2"/>
          <p:cNvSpPr/>
          <p:nvPr/>
        </p:nvSpPr>
        <p:spPr>
          <a:xfrm>
            <a:off x="502920" y="786384"/>
            <a:ext cx="11155680" cy="3200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565392"/>
            <a:ext cx="8046720" cy="201168"/>
          </a:xfrm>
          <a:prstGeom prst="rect">
            <a:avLst/>
          </a:prstGeom>
          <a:noFill/>
        </p:spPr>
        <p:txBody>
          <a:bodyPr wrap="square" lIns="73152" rIns="73152" tIns="36576" bIns="36576">
            <a:normAutofit/>
          </a:bodyPr>
          <a:lstStyle/>
          <a:p>
            <a:pPr algn="l"/>
            <a:r>
              <a:rPr sz="830" b="0">
                <a:solidFill>
                  <a:srgbClr val="4B5563"/>
                </a:solidFill>
                <a:latin typeface="Aptos"/>
              </a:rPr>
              <a:t>BLM308 Veri Madenciliği Final Projesi</a:t>
            </a:r>
          </a:p>
        </p:txBody>
      </p:sp>
      <p:sp>
        <p:nvSpPr>
          <p:cNvPr id="5" name="TextBox 4"/>
          <p:cNvSpPr txBox="1"/>
          <p:nvPr/>
        </p:nvSpPr>
        <p:spPr>
          <a:xfrm>
            <a:off x="11155680" y="6565392"/>
            <a:ext cx="457200" cy="201168"/>
          </a:xfrm>
          <a:prstGeom prst="rect">
            <a:avLst/>
          </a:prstGeom>
          <a:noFill/>
        </p:spPr>
        <p:txBody>
          <a:bodyPr wrap="square" lIns="73152" rIns="73152" tIns="36576" bIns="36576">
            <a:normAutofit/>
          </a:bodyPr>
          <a:lstStyle/>
          <a:p>
            <a:pPr algn="r"/>
            <a:r>
              <a:rPr sz="830" b="0">
                <a:solidFill>
                  <a:srgbClr val="4B5563"/>
                </a:solidFill>
                <a:latin typeface="Aptos"/>
              </a:rPr>
              <a:t>14</a:t>
            </a:r>
          </a:p>
        </p:txBody>
      </p:sp>
      <p:graphicFrame>
        <p:nvGraphicFramePr>
          <p:cNvPr id="6" name="Table 5"/>
          <p:cNvGraphicFramePr>
            <a:graphicFrameLocks noGrp="1"/>
          </p:cNvGraphicFramePr>
          <p:nvPr/>
        </p:nvGraphicFramePr>
        <p:xfrm>
          <a:off x="594360" y="1097280"/>
          <a:ext cx="10972800" cy="2816352"/>
        </p:xfrm>
        <a:graphic>
          <a:graphicData uri="http://schemas.openxmlformats.org/drawingml/2006/table">
            <a:tbl>
              <a:tblPr firstRow="1" bandRow="1">
                <a:tableStyleId>{5C22544A-7EE6-4342-B048-85BDC9FD1C3A}</a:tableStyleId>
              </a:tblPr>
              <a:tblGrid>
                <a:gridCol w="5486400"/>
                <a:gridCol w="5486400"/>
              </a:tblGrid>
              <a:tr h="563270">
                <a:tc>
                  <a:txBody>
                    <a:bodyPr/>
                    <a:lstStyle/>
                    <a:p>
                      <a:pPr algn="ctr">
                        <a:defRPr sz="1070">
                          <a:solidFill>
                            <a:srgbClr val="FFFFFF"/>
                          </a:solidFill>
                          <a:latin typeface="Aptos"/>
                        </a:defRPr>
                      </a:pPr>
                      <a:r>
                        <a:t>Karar</a:t>
                      </a:r>
                    </a:p>
                  </a:txBody>
                  <a:tcPr>
                    <a:solidFill>
                      <a:srgbClr val="1F4E79"/>
                    </a:solidFill>
                  </a:tcPr>
                </a:tc>
                <a:tc>
                  <a:txBody>
                    <a:bodyPr/>
                    <a:lstStyle/>
                    <a:p>
                      <a:pPr algn="ctr">
                        <a:defRPr sz="1070">
                          <a:solidFill>
                            <a:srgbClr val="FFFFFF"/>
                          </a:solidFill>
                          <a:latin typeface="Aptos"/>
                        </a:defRPr>
                      </a:pPr>
                      <a:r>
                        <a:t>Neden gerekli?</a:t>
                      </a:r>
                    </a:p>
                  </a:txBody>
                  <a:tcPr>
                    <a:solidFill>
                      <a:srgbClr val="1F4E79"/>
                    </a:solidFill>
                  </a:tcPr>
                </a:tc>
              </a:tr>
              <a:tr h="563270">
                <a:tc>
                  <a:txBody>
                    <a:bodyPr/>
                    <a:lstStyle/>
                    <a:p>
                      <a:pPr algn="ctr">
                        <a:defRPr sz="1070">
                          <a:solidFill>
                            <a:srgbClr val="111827"/>
                          </a:solidFill>
                          <a:latin typeface="Aptos"/>
                        </a:defRPr>
                      </a:pPr>
                      <a:r>
                        <a:t>Kategorik değişkenlerin dönüştürülmesi</a:t>
                      </a:r>
                    </a:p>
                  </a:txBody>
                  <a:tcPr>
                    <a:solidFill>
                      <a:srgbClr val="F8FAFC"/>
                    </a:solidFill>
                  </a:tcPr>
                </a:tc>
                <a:tc>
                  <a:txBody>
                    <a:bodyPr/>
                    <a:lstStyle/>
                    <a:p>
                      <a:pPr algn="ctr">
                        <a:defRPr sz="1070">
                          <a:solidFill>
                            <a:srgbClr val="111827"/>
                          </a:solidFill>
                          <a:latin typeface="Aptos"/>
                        </a:defRPr>
                      </a:pPr>
                      <a:r>
                        <a:t>Meslek, medeni durum ve iletişim kanalı gibi alanlar sayısal modele uygun hale getirildi.</a:t>
                      </a:r>
                    </a:p>
                  </a:txBody>
                  <a:tcPr>
                    <a:solidFill>
                      <a:srgbClr val="F8FAFC"/>
                    </a:solidFill>
                  </a:tcPr>
                </a:tc>
              </a:tr>
              <a:tr h="563270">
                <a:tc>
                  <a:txBody>
                    <a:bodyPr/>
                    <a:lstStyle/>
                    <a:p>
                      <a:pPr algn="ctr">
                        <a:defRPr sz="1070">
                          <a:solidFill>
                            <a:srgbClr val="111827"/>
                          </a:solidFill>
                          <a:latin typeface="Aptos"/>
                        </a:defRPr>
                      </a:pPr>
                      <a:r>
                        <a:t>Sayısal değişkenlerin ölçeklenmesi</a:t>
                      </a:r>
                    </a:p>
                  </a:txBody>
                  <a:tcPr>
                    <a:solidFill>
                      <a:srgbClr val="F8FAFC"/>
                    </a:solidFill>
                  </a:tcPr>
                </a:tc>
                <a:tc>
                  <a:txBody>
                    <a:bodyPr/>
                    <a:lstStyle/>
                    <a:p>
                      <a:pPr algn="ctr">
                        <a:defRPr sz="1070">
                          <a:solidFill>
                            <a:srgbClr val="111827"/>
                          </a:solidFill>
                          <a:latin typeface="Aptos"/>
                        </a:defRPr>
                      </a:pPr>
                      <a:r>
                        <a:t>Özellikle sinir ağı modelinde değişken ölçeklerinin öğrenmeyi bozması engellendi.</a:t>
                      </a:r>
                    </a:p>
                  </a:txBody>
                  <a:tcPr>
                    <a:solidFill>
                      <a:srgbClr val="F8FAFC"/>
                    </a:solidFill>
                  </a:tcPr>
                </a:tc>
              </a:tr>
              <a:tr h="563270">
                <a:tc>
                  <a:txBody>
                    <a:bodyPr/>
                    <a:lstStyle/>
                    <a:p>
                      <a:pPr algn="ctr">
                        <a:defRPr sz="1070">
                          <a:solidFill>
                            <a:srgbClr val="111827"/>
                          </a:solidFill>
                          <a:latin typeface="Aptos"/>
                        </a:defRPr>
                      </a:pPr>
                      <a:r>
                        <a:t>Stratified train-test split</a:t>
                      </a:r>
                    </a:p>
                  </a:txBody>
                  <a:tcPr>
                    <a:solidFill>
                      <a:srgbClr val="F8FAFC"/>
                    </a:solidFill>
                  </a:tcPr>
                </a:tc>
                <a:tc>
                  <a:txBody>
                    <a:bodyPr/>
                    <a:lstStyle/>
                    <a:p>
                      <a:pPr algn="ctr">
                        <a:defRPr sz="1070">
                          <a:solidFill>
                            <a:srgbClr val="111827"/>
                          </a:solidFill>
                          <a:latin typeface="Aptos"/>
                        </a:defRPr>
                      </a:pPr>
                      <a:r>
                        <a:t>Azınlık sınıf oranının eğitim ve test kümelerinde korunması sağlandı.</a:t>
                      </a:r>
                    </a:p>
                  </a:txBody>
                  <a:tcPr>
                    <a:solidFill>
                      <a:srgbClr val="F8FAFC"/>
                    </a:solidFill>
                  </a:tcPr>
                </a:tc>
              </a:tr>
              <a:tr h="563272">
                <a:tc>
                  <a:txBody>
                    <a:bodyPr/>
                    <a:lstStyle/>
                    <a:p>
                      <a:pPr algn="ctr">
                        <a:defRPr sz="1070">
                          <a:solidFill>
                            <a:srgbClr val="111827"/>
                          </a:solidFill>
                          <a:latin typeface="Aptos"/>
                        </a:defRPr>
                      </a:pPr>
                      <a:r>
                        <a:t>Sınıf ağırlığı kullanımı</a:t>
                      </a:r>
                    </a:p>
                  </a:txBody>
                  <a:tcPr>
                    <a:solidFill>
                      <a:srgbClr val="F8FAFC"/>
                    </a:solidFill>
                  </a:tcPr>
                </a:tc>
                <a:tc>
                  <a:txBody>
                    <a:bodyPr/>
                    <a:lstStyle/>
                    <a:p>
                      <a:pPr algn="ctr">
                        <a:defRPr sz="1070">
                          <a:solidFill>
                            <a:srgbClr val="111827"/>
                          </a:solidFill>
                          <a:latin typeface="Aptos"/>
                        </a:defRPr>
                      </a:pPr>
                      <a:r>
                        <a:t>Abone olan azınlık sınıfın model tarafından tamamen göz ardı edilmesi azaltıldı.</a:t>
                      </a:r>
                    </a:p>
                  </a:txBody>
                  <a:tcPr>
                    <a:solidFill>
                      <a:srgbClr val="F8FAFC"/>
                    </a:solidFill>
                  </a:tcPr>
                </a:tc>
              </a:tr>
            </a:tbl>
          </a:graphicData>
        </a:graphic>
      </p:graphicFrame>
      <p:sp>
        <p:nvSpPr>
          <p:cNvPr id="7" name="TextBox 6"/>
          <p:cNvSpPr txBox="1"/>
          <p:nvPr/>
        </p:nvSpPr>
        <p:spPr>
          <a:xfrm>
            <a:off x="777240" y="4325112"/>
            <a:ext cx="10652760" cy="960120"/>
          </a:xfrm>
          <a:prstGeom prst="rect">
            <a:avLst/>
          </a:prstGeom>
          <a:noFill/>
        </p:spPr>
        <p:txBody>
          <a:bodyPr wrap="square" lIns="73152" rIns="73152" tIns="36576" bIns="36576">
            <a:normAutofit/>
          </a:bodyPr>
          <a:lstStyle/>
          <a:p>
            <a:pPr algn="l">
              <a:spcAft>
                <a:spcPts val="500"/>
              </a:spcAft>
              <a:defRPr sz="1330">
                <a:solidFill>
                  <a:srgbClr val="111827"/>
                </a:solidFill>
                <a:latin typeface="Aptos"/>
              </a:defRPr>
            </a:pPr>
            <a:r>
              <a:t>Bu kararların ortak amacı, modelin yalnızca eğitim verisine ezberci biçimde uyum sağlamasını değil, daha önce görmediği test örnekleri üzerinde de tutarlı davranmasını sağlamaktır.</a:t>
            </a:r>
          </a:p>
          <a:p>
            <a:pPr algn="l">
              <a:spcAft>
                <a:spcPts val="500"/>
              </a:spcAft>
              <a:defRPr sz="1330">
                <a:solidFill>
                  <a:srgbClr val="111827"/>
                </a:solidFill>
                <a:latin typeface="Aptos"/>
              </a:defRPr>
            </a:pPr>
            <a:r>
              <a:t>Veri hazırlığı aşaması bu nedenle projenin teknik temelini oluşturur; hatalı hazırlanan veri, daha sonra kullanılan gelişmiş modelin de yanlış sonuç üretmesine yol açabilir.</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01168"/>
            <a:ext cx="11155680" cy="457200"/>
          </a:xfrm>
          <a:prstGeom prst="rect">
            <a:avLst/>
          </a:prstGeom>
          <a:noFill/>
        </p:spPr>
        <p:txBody>
          <a:bodyPr wrap="square" lIns="73152" rIns="73152" tIns="36576" bIns="36576">
            <a:normAutofit/>
          </a:bodyPr>
          <a:lstStyle/>
          <a:p>
            <a:pPr algn="l"/>
            <a:r>
              <a:rPr sz="2250" b="1">
                <a:solidFill>
                  <a:srgbClr val="1F4E79"/>
                </a:solidFill>
                <a:latin typeface="Aptos"/>
              </a:rPr>
              <a:t>Kritik Nokta: Görüşme Süresi ve Veri Sızıntısı</a:t>
            </a:r>
          </a:p>
        </p:txBody>
      </p:sp>
      <p:sp>
        <p:nvSpPr>
          <p:cNvPr id="3" name="Rectangle 2"/>
          <p:cNvSpPr/>
          <p:nvPr/>
        </p:nvSpPr>
        <p:spPr>
          <a:xfrm>
            <a:off x="502920" y="786384"/>
            <a:ext cx="11155680" cy="3200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565392"/>
            <a:ext cx="8046720" cy="201168"/>
          </a:xfrm>
          <a:prstGeom prst="rect">
            <a:avLst/>
          </a:prstGeom>
          <a:noFill/>
        </p:spPr>
        <p:txBody>
          <a:bodyPr wrap="square" lIns="73152" rIns="73152" tIns="36576" bIns="36576">
            <a:normAutofit/>
          </a:bodyPr>
          <a:lstStyle/>
          <a:p>
            <a:pPr algn="l"/>
            <a:r>
              <a:rPr sz="830" b="0">
                <a:solidFill>
                  <a:srgbClr val="4B5563"/>
                </a:solidFill>
                <a:latin typeface="Aptos"/>
              </a:rPr>
              <a:t>BLM308 Veri Madenciliği Final Projesi</a:t>
            </a:r>
          </a:p>
        </p:txBody>
      </p:sp>
      <p:sp>
        <p:nvSpPr>
          <p:cNvPr id="5" name="TextBox 4"/>
          <p:cNvSpPr txBox="1"/>
          <p:nvPr/>
        </p:nvSpPr>
        <p:spPr>
          <a:xfrm>
            <a:off x="11155680" y="6565392"/>
            <a:ext cx="457200" cy="201168"/>
          </a:xfrm>
          <a:prstGeom prst="rect">
            <a:avLst/>
          </a:prstGeom>
          <a:noFill/>
        </p:spPr>
        <p:txBody>
          <a:bodyPr wrap="square" lIns="73152" rIns="73152" tIns="36576" bIns="36576">
            <a:normAutofit/>
          </a:bodyPr>
          <a:lstStyle/>
          <a:p>
            <a:pPr algn="r"/>
            <a:r>
              <a:rPr sz="830" b="0">
                <a:solidFill>
                  <a:srgbClr val="4B5563"/>
                </a:solidFill>
                <a:latin typeface="Aptos"/>
              </a:rPr>
              <a:t>15</a:t>
            </a:r>
          </a:p>
        </p:txBody>
      </p:sp>
      <p:sp>
        <p:nvSpPr>
          <p:cNvPr id="6" name="TextBox 5"/>
          <p:cNvSpPr txBox="1"/>
          <p:nvPr/>
        </p:nvSpPr>
        <p:spPr>
          <a:xfrm>
            <a:off x="713232" y="1143000"/>
            <a:ext cx="5715000" cy="3703320"/>
          </a:xfrm>
          <a:prstGeom prst="rect">
            <a:avLst/>
          </a:prstGeom>
          <a:noFill/>
        </p:spPr>
        <p:txBody>
          <a:bodyPr wrap="square" lIns="73152" rIns="73152" tIns="36576" bIns="36576">
            <a:normAutofit/>
          </a:bodyPr>
          <a:lstStyle/>
          <a:p>
            <a:pPr algn="l">
              <a:spcAft>
                <a:spcPts val="500"/>
              </a:spcAft>
              <a:defRPr sz="1350">
                <a:solidFill>
                  <a:srgbClr val="111827"/>
                </a:solidFill>
                <a:latin typeface="Aptos"/>
              </a:defRPr>
            </a:pPr>
            <a:r>
              <a:t>Görüşme süresi değişkeni, müşteriyle yapılan aramanın ne kadar sürdüğünü ifade eder. Bu değişken genellikle hedef değişkenle güçlü ilişki taşır; çünkü uzun görüşmeler çoğu zaman müşterinin daha ilgili olduğunu gösterebilir.</a:t>
            </a:r>
          </a:p>
          <a:p>
            <a:pPr algn="l">
              <a:spcAft>
                <a:spcPts val="500"/>
              </a:spcAft>
              <a:defRPr sz="1350">
                <a:solidFill>
                  <a:srgbClr val="111827"/>
                </a:solidFill>
                <a:latin typeface="Aptos"/>
              </a:defRPr>
            </a:pPr>
            <a:r>
              <a:t>Fakat gerçek kampanya öncesi tahmin senaryosunda bu bilgi henüz mevcut değildir. Banka müşteriyi aramadan önce görüşmenin kaç dakika süreceğini bilemez.</a:t>
            </a:r>
          </a:p>
          <a:p>
            <a:pPr algn="l">
              <a:spcAft>
                <a:spcPts val="500"/>
              </a:spcAft>
              <a:defRPr sz="1350">
                <a:solidFill>
                  <a:srgbClr val="111827"/>
                </a:solidFill>
                <a:latin typeface="Aptos"/>
              </a:defRPr>
            </a:pPr>
            <a:r>
              <a:t>Bu nedenle görüşme süresini kullanmak, modelin testte yüksek performans göstermesine rağmen gerçek kullanımda uygulanamayacak bir bilgiye dayanması anlamına gelir. Projede bu risk açıkça belirtilmiş ve gerçekçi senaryoda değişken modelden çıkarılmıştır.</a:t>
            </a:r>
          </a:p>
        </p:txBody>
      </p:sp>
      <p:sp>
        <p:nvSpPr>
          <p:cNvPr id="7" name="Rounded Rectangle 6"/>
          <p:cNvSpPr/>
          <p:nvPr/>
        </p:nvSpPr>
        <p:spPr>
          <a:xfrm>
            <a:off x="6858000" y="1325880"/>
            <a:ext cx="4160520" cy="1554480"/>
          </a:xfrm>
          <a:prstGeom prst="roundRect">
            <a:avLst/>
          </a:prstGeom>
          <a:solidFill>
            <a:srgbClr val="F5F7FA"/>
          </a:solidFill>
          <a:ln w="13970">
            <a:solidFill>
              <a:srgbClr val="BE123C"/>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91440" bIns="36576">
            <a:normAutofit/>
          </a:bodyPr>
          <a:lstStyle/>
          <a:p>
            <a:pPr algn="ctr"/>
            <a:r>
              <a:rPr sz="1380" b="1">
                <a:solidFill>
                  <a:srgbClr val="BE123C"/>
                </a:solidFill>
                <a:latin typeface="Aptos"/>
              </a:rPr>
              <a:t>Neden önemli?</a:t>
            </a:r>
          </a:p>
          <a:p>
            <a:pPr>
              <a:spcBef>
                <a:spcPts val="400"/>
              </a:spcBef>
              <a:defRPr sz="1180">
                <a:solidFill>
                  <a:srgbClr val="111827"/>
                </a:solidFill>
                <a:latin typeface="Aptos"/>
              </a:defRPr>
            </a:pPr>
            <a:r>
              <a:t>Veri sızıntısı, modelin gelecekte bilinmeyecek bilgileri öğrenmesine neden olur. Bu durum akademik olarak yanıltıcı ve uygulama açısından güvenilmez sonuç üretir.</a:t>
            </a:r>
          </a:p>
        </p:txBody>
      </p:sp>
      <p:sp>
        <p:nvSpPr>
          <p:cNvPr id="8" name="Rounded Rectangle 7"/>
          <p:cNvSpPr/>
          <p:nvPr/>
        </p:nvSpPr>
        <p:spPr>
          <a:xfrm>
            <a:off x="6858000" y="3246120"/>
            <a:ext cx="4160520" cy="1325880"/>
          </a:xfrm>
          <a:prstGeom prst="roundRect">
            <a:avLst/>
          </a:prstGeom>
          <a:solidFill>
            <a:srgbClr val="F5F7FA"/>
          </a:solidFill>
          <a:ln w="1397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91440" bIns="36576">
            <a:normAutofit/>
          </a:bodyPr>
          <a:lstStyle/>
          <a:p>
            <a:pPr algn="ctr"/>
            <a:r>
              <a:rPr sz="1380" b="1">
                <a:solidFill>
                  <a:srgbClr val="0F766E"/>
                </a:solidFill>
                <a:latin typeface="Aptos"/>
              </a:rPr>
              <a:t>Projede alınan karar</a:t>
            </a:r>
          </a:p>
          <a:p>
            <a:pPr>
              <a:spcBef>
                <a:spcPts val="400"/>
              </a:spcBef>
              <a:defRPr sz="1180">
                <a:solidFill>
                  <a:srgbClr val="111827"/>
                </a:solidFill>
                <a:latin typeface="Aptos"/>
              </a:defRPr>
            </a:pPr>
            <a:r>
              <a:t>Hem görüşme süresi dahil hem de hariç senaryolar raporlandı; ana yorum gerçekçi senaryo olan görüşme süresi hariç modele dayandırıldı.</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97316"/>
        </a:solidFill>
        <a:effectLst/>
      </p:bgPr>
    </p:bg>
    <p:spTree>
      <p:nvGrpSpPr>
        <p:cNvPr id="1" name=""/>
        <p:cNvGrpSpPr/>
        <p:nvPr/>
      </p:nvGrpSpPr>
      <p:grpSpPr/>
      <p:sp>
        <p:nvSpPr>
          <p:cNvPr id="2" name="TextBox 1"/>
          <p:cNvSpPr txBox="1"/>
          <p:nvPr/>
        </p:nvSpPr>
        <p:spPr>
          <a:xfrm>
            <a:off x="685800" y="1325880"/>
            <a:ext cx="10789920" cy="640080"/>
          </a:xfrm>
          <a:prstGeom prst="rect">
            <a:avLst/>
          </a:prstGeom>
          <a:noFill/>
        </p:spPr>
        <p:txBody>
          <a:bodyPr wrap="square" lIns="73152" rIns="73152" tIns="36576" bIns="36576">
            <a:normAutofit/>
          </a:bodyPr>
          <a:lstStyle/>
          <a:p>
            <a:pPr algn="l"/>
            <a:r>
              <a:rPr sz="3400" b="1">
                <a:solidFill>
                  <a:srgbClr val="FFFFFF"/>
                </a:solidFill>
                <a:latin typeface="Aptos"/>
              </a:rPr>
              <a:t>4. Modelleme Yaklaşımı</a:t>
            </a:r>
          </a:p>
        </p:txBody>
      </p:sp>
      <p:sp>
        <p:nvSpPr>
          <p:cNvPr id="3" name="TextBox 2"/>
          <p:cNvSpPr txBox="1"/>
          <p:nvPr/>
        </p:nvSpPr>
        <p:spPr>
          <a:xfrm>
            <a:off x="713232" y="2121408"/>
            <a:ext cx="10424160" cy="548640"/>
          </a:xfrm>
          <a:prstGeom prst="rect">
            <a:avLst/>
          </a:prstGeom>
          <a:noFill/>
        </p:spPr>
        <p:txBody>
          <a:bodyPr wrap="square" lIns="73152" rIns="73152" tIns="36576" bIns="36576">
            <a:normAutofit/>
          </a:bodyPr>
          <a:lstStyle/>
          <a:p>
            <a:pPr algn="l"/>
            <a:r>
              <a:rPr sz="1850" b="0">
                <a:solidFill>
                  <a:srgbClr val="DBEAFE"/>
                </a:solidFill>
                <a:latin typeface="Aptos"/>
              </a:rPr>
              <a:t>Modelleme aşamasında basit referans modeller ile kara kutu modeller birlikte değerlendirilmiştir.</a:t>
            </a:r>
          </a:p>
        </p:txBody>
      </p:sp>
      <p:sp>
        <p:nvSpPr>
          <p:cNvPr id="4" name="TextBox 3"/>
          <p:cNvSpPr txBox="1"/>
          <p:nvPr/>
        </p:nvSpPr>
        <p:spPr>
          <a:xfrm>
            <a:off x="731520" y="2953512"/>
            <a:ext cx="10104120" cy="1572768"/>
          </a:xfrm>
          <a:prstGeom prst="rect">
            <a:avLst/>
          </a:prstGeom>
          <a:noFill/>
        </p:spPr>
        <p:txBody>
          <a:bodyPr wrap="square" lIns="73152" rIns="73152" tIns="36576" bIns="36576">
            <a:normAutofit/>
          </a:bodyPr>
          <a:lstStyle/>
          <a:p>
            <a:pPr algn="l">
              <a:spcAft>
                <a:spcPts val="600"/>
              </a:spcAft>
              <a:defRPr sz="1460">
                <a:solidFill>
                  <a:srgbClr val="FFFFFF"/>
                </a:solidFill>
                <a:latin typeface="Aptos"/>
              </a:defRPr>
            </a:pPr>
            <a:r>
              <a:t>Bu yaklaşım, yalnızca en karmaşık modeli seçmek yerine model başarısını karşılaştırmalı olarak görmeyi sağlar. Basit modeller referans noktası oluştururken, kara kutu modeller daha karmaşık ilişkileri yakalayabilir.</a:t>
            </a:r>
          </a:p>
          <a:p>
            <a:pPr algn="l">
              <a:spcAft>
                <a:spcPts val="600"/>
              </a:spcAft>
              <a:defRPr sz="1460">
                <a:solidFill>
                  <a:srgbClr val="FFFFFF"/>
                </a:solidFill>
                <a:latin typeface="Aptos"/>
              </a:defRPr>
            </a:pPr>
            <a:r>
              <a:t>Proje başlığı XAI olduğu için kara kutu modellerin açıklanabilir hale getirilmesi özellikle önemlidir.</a:t>
            </a:r>
          </a:p>
        </p:txBody>
      </p:sp>
      <p:sp>
        <p:nvSpPr>
          <p:cNvPr id="5" name="TextBox 4"/>
          <p:cNvSpPr txBox="1"/>
          <p:nvPr/>
        </p:nvSpPr>
        <p:spPr>
          <a:xfrm>
            <a:off x="502920" y="6565392"/>
            <a:ext cx="8046720" cy="201168"/>
          </a:xfrm>
          <a:prstGeom prst="rect">
            <a:avLst/>
          </a:prstGeom>
          <a:noFill/>
        </p:spPr>
        <p:txBody>
          <a:bodyPr wrap="square" lIns="73152" rIns="73152" tIns="36576" bIns="36576">
            <a:normAutofit/>
          </a:bodyPr>
          <a:lstStyle/>
          <a:p>
            <a:pPr algn="l"/>
            <a:r>
              <a:rPr sz="830" b="0">
                <a:solidFill>
                  <a:srgbClr val="4B5563"/>
                </a:solidFill>
                <a:latin typeface="Aptos"/>
              </a:rPr>
              <a:t>BLM308 Veri Madenciliği Final Projesi</a:t>
            </a:r>
          </a:p>
        </p:txBody>
      </p:sp>
      <p:sp>
        <p:nvSpPr>
          <p:cNvPr id="6" name="TextBox 5"/>
          <p:cNvSpPr txBox="1"/>
          <p:nvPr/>
        </p:nvSpPr>
        <p:spPr>
          <a:xfrm>
            <a:off x="11155680" y="6565392"/>
            <a:ext cx="457200" cy="201168"/>
          </a:xfrm>
          <a:prstGeom prst="rect">
            <a:avLst/>
          </a:prstGeom>
          <a:noFill/>
        </p:spPr>
        <p:txBody>
          <a:bodyPr wrap="square" lIns="73152" rIns="73152" tIns="36576" bIns="36576">
            <a:normAutofit/>
          </a:bodyPr>
          <a:lstStyle/>
          <a:p>
            <a:pPr algn="r"/>
            <a:r>
              <a:rPr sz="830" b="0">
                <a:solidFill>
                  <a:srgbClr val="4B5563"/>
                </a:solidFill>
                <a:latin typeface="Aptos"/>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01168"/>
            <a:ext cx="11155680" cy="457200"/>
          </a:xfrm>
          <a:prstGeom prst="rect">
            <a:avLst/>
          </a:prstGeom>
          <a:noFill/>
        </p:spPr>
        <p:txBody>
          <a:bodyPr wrap="square" lIns="73152" rIns="73152" tIns="36576" bIns="36576">
            <a:normAutofit/>
          </a:bodyPr>
          <a:lstStyle/>
          <a:p>
            <a:pPr algn="l"/>
            <a:r>
              <a:rPr sz="2250" b="1">
                <a:solidFill>
                  <a:srgbClr val="1F4E79"/>
                </a:solidFill>
                <a:latin typeface="Aptos"/>
              </a:rPr>
              <a:t>Seçilen Modeller ve Gerekçeleri</a:t>
            </a:r>
          </a:p>
        </p:txBody>
      </p:sp>
      <p:sp>
        <p:nvSpPr>
          <p:cNvPr id="3" name="Rectangle 2"/>
          <p:cNvSpPr/>
          <p:nvPr/>
        </p:nvSpPr>
        <p:spPr>
          <a:xfrm>
            <a:off x="502920" y="786384"/>
            <a:ext cx="11155680" cy="3200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565392"/>
            <a:ext cx="8046720" cy="201168"/>
          </a:xfrm>
          <a:prstGeom prst="rect">
            <a:avLst/>
          </a:prstGeom>
          <a:noFill/>
        </p:spPr>
        <p:txBody>
          <a:bodyPr wrap="square" lIns="73152" rIns="73152" tIns="36576" bIns="36576">
            <a:normAutofit/>
          </a:bodyPr>
          <a:lstStyle/>
          <a:p>
            <a:pPr algn="l"/>
            <a:r>
              <a:rPr sz="830" b="0">
                <a:solidFill>
                  <a:srgbClr val="4B5563"/>
                </a:solidFill>
                <a:latin typeface="Aptos"/>
              </a:rPr>
              <a:t>BLM308 Veri Madenciliği Final Projesi</a:t>
            </a:r>
          </a:p>
        </p:txBody>
      </p:sp>
      <p:sp>
        <p:nvSpPr>
          <p:cNvPr id="5" name="TextBox 4"/>
          <p:cNvSpPr txBox="1"/>
          <p:nvPr/>
        </p:nvSpPr>
        <p:spPr>
          <a:xfrm>
            <a:off x="11155680" y="6565392"/>
            <a:ext cx="457200" cy="201168"/>
          </a:xfrm>
          <a:prstGeom prst="rect">
            <a:avLst/>
          </a:prstGeom>
          <a:noFill/>
        </p:spPr>
        <p:txBody>
          <a:bodyPr wrap="square" lIns="73152" rIns="73152" tIns="36576" bIns="36576">
            <a:normAutofit/>
          </a:bodyPr>
          <a:lstStyle/>
          <a:p>
            <a:pPr algn="r"/>
            <a:r>
              <a:rPr sz="830" b="0">
                <a:solidFill>
                  <a:srgbClr val="4B5563"/>
                </a:solidFill>
                <a:latin typeface="Aptos"/>
              </a:rPr>
              <a:t>17</a:t>
            </a:r>
          </a:p>
        </p:txBody>
      </p:sp>
      <p:graphicFrame>
        <p:nvGraphicFramePr>
          <p:cNvPr id="6" name="Table 5"/>
          <p:cNvGraphicFramePr>
            <a:graphicFrameLocks noGrp="1"/>
          </p:cNvGraphicFramePr>
          <p:nvPr/>
        </p:nvGraphicFramePr>
        <p:xfrm>
          <a:off x="502920" y="1097280"/>
          <a:ext cx="11201400" cy="3063240"/>
        </p:xfrm>
        <a:graphic>
          <a:graphicData uri="http://schemas.openxmlformats.org/drawingml/2006/table">
            <a:tbl>
              <a:tblPr firstRow="1" bandRow="1">
                <a:tableStyleId>{5C22544A-7EE6-4342-B048-85BDC9FD1C3A}</a:tableStyleId>
              </a:tblPr>
              <a:tblGrid>
                <a:gridCol w="3733800"/>
                <a:gridCol w="3733800"/>
                <a:gridCol w="3733800"/>
              </a:tblGrid>
              <a:tr h="612648">
                <a:tc>
                  <a:txBody>
                    <a:bodyPr/>
                    <a:lstStyle/>
                    <a:p>
                      <a:pPr algn="ctr">
                        <a:defRPr sz="1040">
                          <a:solidFill>
                            <a:srgbClr val="FFFFFF"/>
                          </a:solidFill>
                          <a:latin typeface="Aptos"/>
                        </a:defRPr>
                      </a:pPr>
                      <a:r>
                        <a:t>Model</a:t>
                      </a:r>
                    </a:p>
                  </a:txBody>
                  <a:tcPr>
                    <a:solidFill>
                      <a:srgbClr val="1F4E79"/>
                    </a:solidFill>
                  </a:tcPr>
                </a:tc>
                <a:tc>
                  <a:txBody>
                    <a:bodyPr/>
                    <a:lstStyle/>
                    <a:p>
                      <a:pPr algn="ctr">
                        <a:defRPr sz="1040">
                          <a:solidFill>
                            <a:srgbClr val="FFFFFF"/>
                          </a:solidFill>
                          <a:latin typeface="Aptos"/>
                        </a:defRPr>
                      </a:pPr>
                      <a:r>
                        <a:t>Projedeki rolü</a:t>
                      </a:r>
                    </a:p>
                  </a:txBody>
                  <a:tcPr>
                    <a:solidFill>
                      <a:srgbClr val="1F4E79"/>
                    </a:solidFill>
                  </a:tcPr>
                </a:tc>
                <a:tc>
                  <a:txBody>
                    <a:bodyPr/>
                    <a:lstStyle/>
                    <a:p>
                      <a:pPr algn="ctr">
                        <a:defRPr sz="1040">
                          <a:solidFill>
                            <a:srgbClr val="FFFFFF"/>
                          </a:solidFill>
                          <a:latin typeface="Aptos"/>
                        </a:defRPr>
                      </a:pPr>
                      <a:r>
                        <a:t>Gerekçe</a:t>
                      </a:r>
                    </a:p>
                  </a:txBody>
                  <a:tcPr>
                    <a:solidFill>
                      <a:srgbClr val="1F4E79"/>
                    </a:solidFill>
                  </a:tcPr>
                </a:tc>
              </a:tr>
              <a:tr h="612648">
                <a:tc>
                  <a:txBody>
                    <a:bodyPr/>
                    <a:lstStyle/>
                    <a:p>
                      <a:pPr algn="ctr">
                        <a:defRPr sz="1040">
                          <a:solidFill>
                            <a:srgbClr val="111827"/>
                          </a:solidFill>
                          <a:latin typeface="Aptos"/>
                        </a:defRPr>
                      </a:pPr>
                      <a:r>
                        <a:t>Lojistik Regresyon</a:t>
                      </a:r>
                    </a:p>
                  </a:txBody>
                  <a:tcPr>
                    <a:solidFill>
                      <a:srgbClr val="F8FAFC"/>
                    </a:solidFill>
                  </a:tcPr>
                </a:tc>
                <a:tc>
                  <a:txBody>
                    <a:bodyPr/>
                    <a:lstStyle/>
                    <a:p>
                      <a:pPr algn="ctr">
                        <a:defRPr sz="1040">
                          <a:solidFill>
                            <a:srgbClr val="111827"/>
                          </a:solidFill>
                          <a:latin typeface="Aptos"/>
                        </a:defRPr>
                      </a:pPr>
                      <a:r>
                        <a:t>Referans model</a:t>
                      </a:r>
                    </a:p>
                  </a:txBody>
                  <a:tcPr>
                    <a:solidFill>
                      <a:srgbClr val="F8FAFC"/>
                    </a:solidFill>
                  </a:tcPr>
                </a:tc>
                <a:tc>
                  <a:txBody>
                    <a:bodyPr/>
                    <a:lstStyle/>
                    <a:p>
                      <a:pPr algn="ctr">
                        <a:defRPr sz="1040">
                          <a:solidFill>
                            <a:srgbClr val="111827"/>
                          </a:solidFill>
                          <a:latin typeface="Aptos"/>
                        </a:defRPr>
                      </a:pPr>
                      <a:r>
                        <a:t>Basit, hızlı ve temel performans çizgisi sağlar.</a:t>
                      </a:r>
                    </a:p>
                  </a:txBody>
                  <a:tcPr>
                    <a:solidFill>
                      <a:srgbClr val="F8FAFC"/>
                    </a:solidFill>
                  </a:tcPr>
                </a:tc>
              </a:tr>
              <a:tr h="612648">
                <a:tc>
                  <a:txBody>
                    <a:bodyPr/>
                    <a:lstStyle/>
                    <a:p>
                      <a:pPr algn="ctr">
                        <a:defRPr sz="1040">
                          <a:solidFill>
                            <a:srgbClr val="111827"/>
                          </a:solidFill>
                          <a:latin typeface="Aptos"/>
                        </a:defRPr>
                      </a:pPr>
                      <a:r>
                        <a:t>Karar Ağacı</a:t>
                      </a:r>
                    </a:p>
                  </a:txBody>
                  <a:tcPr>
                    <a:solidFill>
                      <a:srgbClr val="F8FAFC"/>
                    </a:solidFill>
                  </a:tcPr>
                </a:tc>
                <a:tc>
                  <a:txBody>
                    <a:bodyPr/>
                    <a:lstStyle/>
                    <a:p>
                      <a:pPr algn="ctr">
                        <a:defRPr sz="1040">
                          <a:solidFill>
                            <a:srgbClr val="111827"/>
                          </a:solidFill>
                          <a:latin typeface="Aptos"/>
                        </a:defRPr>
                      </a:pPr>
                      <a:r>
                        <a:t>Yorumlanabilir karşılaştırma</a:t>
                      </a:r>
                    </a:p>
                  </a:txBody>
                  <a:tcPr>
                    <a:solidFill>
                      <a:srgbClr val="F8FAFC"/>
                    </a:solidFill>
                  </a:tcPr>
                </a:tc>
                <a:tc>
                  <a:txBody>
                    <a:bodyPr/>
                    <a:lstStyle/>
                    <a:p>
                      <a:pPr algn="ctr">
                        <a:defRPr sz="1040">
                          <a:solidFill>
                            <a:srgbClr val="111827"/>
                          </a:solidFill>
                          <a:latin typeface="Aptos"/>
                        </a:defRPr>
                      </a:pPr>
                      <a:r>
                        <a:t>Kural benzeri yapı ile ağaç tabanlı öğrenmeyi temsil eder.</a:t>
                      </a:r>
                    </a:p>
                  </a:txBody>
                  <a:tcPr>
                    <a:solidFill>
                      <a:srgbClr val="F8FAFC"/>
                    </a:solidFill>
                  </a:tcPr>
                </a:tc>
              </a:tr>
              <a:tr h="612648">
                <a:tc>
                  <a:txBody>
                    <a:bodyPr/>
                    <a:lstStyle/>
                    <a:p>
                      <a:pPr algn="ctr">
                        <a:defRPr sz="1040">
                          <a:solidFill>
                            <a:srgbClr val="111827"/>
                          </a:solidFill>
                          <a:latin typeface="Aptos"/>
                        </a:defRPr>
                      </a:pPr>
                      <a:r>
                        <a:t>Random Forest</a:t>
                      </a:r>
                    </a:p>
                  </a:txBody>
                  <a:tcPr>
                    <a:solidFill>
                      <a:srgbClr val="F8FAFC"/>
                    </a:solidFill>
                  </a:tcPr>
                </a:tc>
                <a:tc>
                  <a:txBody>
                    <a:bodyPr/>
                    <a:lstStyle/>
                    <a:p>
                      <a:pPr algn="ctr">
                        <a:defRPr sz="1040">
                          <a:solidFill>
                            <a:srgbClr val="111827"/>
                          </a:solidFill>
                          <a:latin typeface="Aptos"/>
                        </a:defRPr>
                      </a:pPr>
                      <a:r>
                        <a:t>Ana kara kutu model</a:t>
                      </a:r>
                    </a:p>
                  </a:txBody>
                  <a:tcPr>
                    <a:solidFill>
                      <a:srgbClr val="F8FAFC"/>
                    </a:solidFill>
                  </a:tcPr>
                </a:tc>
                <a:tc>
                  <a:txBody>
                    <a:bodyPr/>
                    <a:lstStyle/>
                    <a:p>
                      <a:pPr algn="ctr">
                        <a:defRPr sz="1040">
                          <a:solidFill>
                            <a:srgbClr val="111827"/>
                          </a:solidFill>
                          <a:latin typeface="Aptos"/>
                        </a:defRPr>
                      </a:pPr>
                      <a:r>
                        <a:t>Birden fazla ağacı birleştirerek daha kararlı tahmin üretir.</a:t>
                      </a:r>
                    </a:p>
                  </a:txBody>
                  <a:tcPr>
                    <a:solidFill>
                      <a:srgbClr val="F8FAFC"/>
                    </a:solidFill>
                  </a:tcPr>
                </a:tc>
              </a:tr>
              <a:tr h="612648">
                <a:tc>
                  <a:txBody>
                    <a:bodyPr/>
                    <a:lstStyle/>
                    <a:p>
                      <a:pPr algn="ctr">
                        <a:defRPr sz="1040">
                          <a:solidFill>
                            <a:srgbClr val="111827"/>
                          </a:solidFill>
                          <a:latin typeface="Aptos"/>
                        </a:defRPr>
                      </a:pPr>
                      <a:r>
                        <a:t>Çok Katmanlı Algılayıcı</a:t>
                      </a:r>
                    </a:p>
                  </a:txBody>
                  <a:tcPr>
                    <a:solidFill>
                      <a:srgbClr val="F8FAFC"/>
                    </a:solidFill>
                  </a:tcPr>
                </a:tc>
                <a:tc>
                  <a:txBody>
                    <a:bodyPr/>
                    <a:lstStyle/>
                    <a:p>
                      <a:pPr algn="ctr">
                        <a:defRPr sz="1040">
                          <a:solidFill>
                            <a:srgbClr val="111827"/>
                          </a:solidFill>
                          <a:latin typeface="Aptos"/>
                        </a:defRPr>
                      </a:pPr>
                      <a:r>
                        <a:t>Alternatif kara kutu model</a:t>
                      </a:r>
                    </a:p>
                  </a:txBody>
                  <a:tcPr>
                    <a:solidFill>
                      <a:srgbClr val="F8FAFC"/>
                    </a:solidFill>
                  </a:tcPr>
                </a:tc>
                <a:tc>
                  <a:txBody>
                    <a:bodyPr/>
                    <a:lstStyle/>
                    <a:p>
                      <a:pPr algn="ctr">
                        <a:defRPr sz="1040">
                          <a:solidFill>
                            <a:srgbClr val="111827"/>
                          </a:solidFill>
                          <a:latin typeface="Aptos"/>
                        </a:defRPr>
                      </a:pPr>
                      <a:r>
                        <a:t>Doğrusal olmayan ilişkileri öğrenebilen sinir ağı yaklaşımıdır.</a:t>
                      </a:r>
                    </a:p>
                  </a:txBody>
                  <a:tcPr>
                    <a:solidFill>
                      <a:srgbClr val="F8FAFC"/>
                    </a:solidFill>
                  </a:tcPr>
                </a:tc>
              </a:tr>
            </a:tbl>
          </a:graphicData>
        </a:graphic>
      </p:graphicFrame>
      <p:sp>
        <p:nvSpPr>
          <p:cNvPr id="7" name="TextBox 6"/>
          <p:cNvSpPr txBox="1"/>
          <p:nvPr/>
        </p:nvSpPr>
        <p:spPr>
          <a:xfrm>
            <a:off x="777240" y="4590288"/>
            <a:ext cx="10607040" cy="841248"/>
          </a:xfrm>
          <a:prstGeom prst="rect">
            <a:avLst/>
          </a:prstGeom>
          <a:noFill/>
        </p:spPr>
        <p:txBody>
          <a:bodyPr wrap="square" lIns="73152" rIns="73152" tIns="36576" bIns="36576">
            <a:normAutofit/>
          </a:bodyPr>
          <a:lstStyle/>
          <a:p>
            <a:pPr algn="l">
              <a:spcAft>
                <a:spcPts val="500"/>
              </a:spcAft>
              <a:defRPr sz="1380">
                <a:solidFill>
                  <a:srgbClr val="4B5563"/>
                </a:solidFill>
                <a:latin typeface="Aptos"/>
              </a:defRPr>
            </a:pPr>
            <a:r>
              <a:t>Random Forest, performans ve açıklanabilirlik dengesi nedeniyle uygulama tarafında ana model olarak konumlandırılmıştır. Modelin değişken önem düzeyleri üretmesi, SHAP/LIME yorumlarıyla birlikte sunulduğunda karar mekanizmasını daha anlaşılır hale getirir.</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01168"/>
            <a:ext cx="11155680" cy="457200"/>
          </a:xfrm>
          <a:prstGeom prst="rect">
            <a:avLst/>
          </a:prstGeom>
          <a:noFill/>
        </p:spPr>
        <p:txBody>
          <a:bodyPr wrap="square" lIns="73152" rIns="73152" tIns="36576" bIns="36576">
            <a:normAutofit/>
          </a:bodyPr>
          <a:lstStyle/>
          <a:p>
            <a:pPr algn="l"/>
            <a:r>
              <a:rPr sz="2250" b="1">
                <a:solidFill>
                  <a:srgbClr val="1F4E79"/>
                </a:solidFill>
                <a:latin typeface="Aptos"/>
              </a:rPr>
              <a:t>Deney Kurulumu ve Ölçüm Mantığı</a:t>
            </a:r>
          </a:p>
        </p:txBody>
      </p:sp>
      <p:sp>
        <p:nvSpPr>
          <p:cNvPr id="3" name="Rectangle 2"/>
          <p:cNvSpPr/>
          <p:nvPr/>
        </p:nvSpPr>
        <p:spPr>
          <a:xfrm>
            <a:off x="502920" y="786384"/>
            <a:ext cx="11155680" cy="3200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565392"/>
            <a:ext cx="8046720" cy="201168"/>
          </a:xfrm>
          <a:prstGeom prst="rect">
            <a:avLst/>
          </a:prstGeom>
          <a:noFill/>
        </p:spPr>
        <p:txBody>
          <a:bodyPr wrap="square" lIns="73152" rIns="73152" tIns="36576" bIns="36576">
            <a:normAutofit/>
          </a:bodyPr>
          <a:lstStyle/>
          <a:p>
            <a:pPr algn="l"/>
            <a:r>
              <a:rPr sz="830" b="0">
                <a:solidFill>
                  <a:srgbClr val="4B5563"/>
                </a:solidFill>
                <a:latin typeface="Aptos"/>
              </a:rPr>
              <a:t>BLM308 Veri Madenciliği Final Projesi</a:t>
            </a:r>
          </a:p>
        </p:txBody>
      </p:sp>
      <p:sp>
        <p:nvSpPr>
          <p:cNvPr id="5" name="TextBox 4"/>
          <p:cNvSpPr txBox="1"/>
          <p:nvPr/>
        </p:nvSpPr>
        <p:spPr>
          <a:xfrm>
            <a:off x="11155680" y="6565392"/>
            <a:ext cx="457200" cy="201168"/>
          </a:xfrm>
          <a:prstGeom prst="rect">
            <a:avLst/>
          </a:prstGeom>
          <a:noFill/>
        </p:spPr>
        <p:txBody>
          <a:bodyPr wrap="square" lIns="73152" rIns="73152" tIns="36576" bIns="36576">
            <a:normAutofit/>
          </a:bodyPr>
          <a:lstStyle/>
          <a:p>
            <a:pPr algn="r"/>
            <a:r>
              <a:rPr sz="830" b="0">
                <a:solidFill>
                  <a:srgbClr val="4B5563"/>
                </a:solidFill>
                <a:latin typeface="Aptos"/>
              </a:rPr>
              <a:t>18</a:t>
            </a:r>
          </a:p>
        </p:txBody>
      </p:sp>
      <p:sp>
        <p:nvSpPr>
          <p:cNvPr id="6" name="TextBox 5"/>
          <p:cNvSpPr txBox="1"/>
          <p:nvPr/>
        </p:nvSpPr>
        <p:spPr>
          <a:xfrm>
            <a:off x="731520" y="1143000"/>
            <a:ext cx="5650992" cy="3611880"/>
          </a:xfrm>
          <a:prstGeom prst="rect">
            <a:avLst/>
          </a:prstGeom>
          <a:noFill/>
        </p:spPr>
        <p:txBody>
          <a:bodyPr wrap="square" lIns="73152" rIns="73152" tIns="36576" bIns="36576">
            <a:normAutofit/>
          </a:bodyPr>
          <a:lstStyle/>
          <a:p>
            <a:pPr algn="l">
              <a:spcAft>
                <a:spcPts val="500"/>
              </a:spcAft>
              <a:defRPr sz="1360">
                <a:solidFill>
                  <a:srgbClr val="111827"/>
                </a:solidFill>
                <a:latin typeface="Aptos"/>
              </a:defRPr>
            </a:pPr>
            <a:r>
              <a:t>Veri %75 eğitim ve %25 test olacak şekilde ayrılmıştır. Eğitim kümesi modelin öğrenmesi, test kümesi ise daha önce görülmeyen örneklerde modelin genelleme başarısını ölçmek için kullanılmıştır.</a:t>
            </a:r>
          </a:p>
          <a:p>
            <a:pPr algn="l">
              <a:spcAft>
                <a:spcPts val="500"/>
              </a:spcAft>
              <a:defRPr sz="1360">
                <a:solidFill>
                  <a:srgbClr val="111827"/>
                </a:solidFill>
                <a:latin typeface="Aptos"/>
              </a:defRPr>
            </a:pPr>
            <a:r>
              <a:t>Sınıf dengesizliği nedeniyle tek başına doğruluk yanıltıcı olabilir. Bu nedenle kesinlik, duyarlılık, F1 skoru ve ROC-AUC birlikte değerlendirilmiştir.</a:t>
            </a:r>
          </a:p>
          <a:p>
            <a:pPr algn="l">
              <a:spcAft>
                <a:spcPts val="500"/>
              </a:spcAft>
              <a:defRPr sz="1360">
                <a:solidFill>
                  <a:srgbClr val="111827"/>
                </a:solidFill>
                <a:latin typeface="Aptos"/>
              </a:defRPr>
            </a:pPr>
            <a:r>
              <a:t>Model karşılaştırmasının daha güçlü olması için Random Forest ve çok katmanlı algılayıcı aynı test örnekleri üzerinde McNemar testiyle karşılaştırılmıştır.</a:t>
            </a:r>
          </a:p>
        </p:txBody>
      </p:sp>
      <p:graphicFrame>
        <p:nvGraphicFramePr>
          <p:cNvPr id="7" name="Table 6"/>
          <p:cNvGraphicFramePr>
            <a:graphicFrameLocks noGrp="1"/>
          </p:cNvGraphicFramePr>
          <p:nvPr/>
        </p:nvGraphicFramePr>
        <p:xfrm>
          <a:off x="6720840" y="1298448"/>
          <a:ext cx="4434840" cy="2697480"/>
        </p:xfrm>
        <a:graphic>
          <a:graphicData uri="http://schemas.openxmlformats.org/drawingml/2006/table">
            <a:tbl>
              <a:tblPr firstRow="1" bandRow="1">
                <a:tableStyleId>{5C22544A-7EE6-4342-B048-85BDC9FD1C3A}</a:tableStyleId>
              </a:tblPr>
              <a:tblGrid>
                <a:gridCol w="2217420"/>
                <a:gridCol w="2217420"/>
              </a:tblGrid>
              <a:tr h="449580">
                <a:tc>
                  <a:txBody>
                    <a:bodyPr/>
                    <a:lstStyle/>
                    <a:p>
                      <a:pPr algn="ctr">
                        <a:defRPr sz="969">
                          <a:solidFill>
                            <a:srgbClr val="FFFFFF"/>
                          </a:solidFill>
                          <a:latin typeface="Aptos"/>
                        </a:defRPr>
                      </a:pPr>
                      <a:r>
                        <a:t>Metrik</a:t>
                      </a:r>
                    </a:p>
                  </a:txBody>
                  <a:tcPr>
                    <a:solidFill>
                      <a:srgbClr val="1F4E79"/>
                    </a:solidFill>
                  </a:tcPr>
                </a:tc>
                <a:tc>
                  <a:txBody>
                    <a:bodyPr/>
                    <a:lstStyle/>
                    <a:p>
                      <a:pPr algn="ctr">
                        <a:defRPr sz="969">
                          <a:solidFill>
                            <a:srgbClr val="FFFFFF"/>
                          </a:solidFill>
                          <a:latin typeface="Aptos"/>
                        </a:defRPr>
                      </a:pPr>
                      <a:r>
                        <a:t>Yorum</a:t>
                      </a:r>
                    </a:p>
                  </a:txBody>
                  <a:tcPr>
                    <a:solidFill>
                      <a:srgbClr val="1F4E79"/>
                    </a:solidFill>
                  </a:tcPr>
                </a:tc>
              </a:tr>
              <a:tr h="449580">
                <a:tc>
                  <a:txBody>
                    <a:bodyPr/>
                    <a:lstStyle/>
                    <a:p>
                      <a:pPr algn="ctr">
                        <a:defRPr sz="969">
                          <a:solidFill>
                            <a:srgbClr val="111827"/>
                          </a:solidFill>
                          <a:latin typeface="Aptos"/>
                        </a:defRPr>
                      </a:pPr>
                      <a:r>
                        <a:t>Doğruluk</a:t>
                      </a:r>
                    </a:p>
                  </a:txBody>
                  <a:tcPr>
                    <a:solidFill>
                      <a:srgbClr val="F8FAFC"/>
                    </a:solidFill>
                  </a:tcPr>
                </a:tc>
                <a:tc>
                  <a:txBody>
                    <a:bodyPr/>
                    <a:lstStyle/>
                    <a:p>
                      <a:pPr algn="ctr">
                        <a:defRPr sz="969">
                          <a:solidFill>
                            <a:srgbClr val="111827"/>
                          </a:solidFill>
                          <a:latin typeface="Aptos"/>
                        </a:defRPr>
                      </a:pPr>
                      <a:r>
                        <a:t>Toplam doğru tahmin oranı</a:t>
                      </a:r>
                    </a:p>
                  </a:txBody>
                  <a:tcPr>
                    <a:solidFill>
                      <a:srgbClr val="F8FAFC"/>
                    </a:solidFill>
                  </a:tcPr>
                </a:tc>
              </a:tr>
              <a:tr h="449580">
                <a:tc>
                  <a:txBody>
                    <a:bodyPr/>
                    <a:lstStyle/>
                    <a:p>
                      <a:pPr algn="ctr">
                        <a:defRPr sz="969">
                          <a:solidFill>
                            <a:srgbClr val="111827"/>
                          </a:solidFill>
                          <a:latin typeface="Aptos"/>
                        </a:defRPr>
                      </a:pPr>
                      <a:r>
                        <a:t>Kesinlik</a:t>
                      </a:r>
                    </a:p>
                  </a:txBody>
                  <a:tcPr>
                    <a:solidFill>
                      <a:srgbClr val="F8FAFC"/>
                    </a:solidFill>
                  </a:tcPr>
                </a:tc>
                <a:tc>
                  <a:txBody>
                    <a:bodyPr/>
                    <a:lstStyle/>
                    <a:p>
                      <a:pPr algn="ctr">
                        <a:defRPr sz="969">
                          <a:solidFill>
                            <a:srgbClr val="111827"/>
                          </a:solidFill>
                          <a:latin typeface="Aptos"/>
                        </a:defRPr>
                      </a:pPr>
                      <a:r>
                        <a:t>Pozitif tahminlerin ne kadarının doğru olduğu</a:t>
                      </a:r>
                    </a:p>
                  </a:txBody>
                  <a:tcPr>
                    <a:solidFill>
                      <a:srgbClr val="F8FAFC"/>
                    </a:solidFill>
                  </a:tcPr>
                </a:tc>
              </a:tr>
              <a:tr h="449580">
                <a:tc>
                  <a:txBody>
                    <a:bodyPr/>
                    <a:lstStyle/>
                    <a:p>
                      <a:pPr algn="ctr">
                        <a:defRPr sz="969">
                          <a:solidFill>
                            <a:srgbClr val="111827"/>
                          </a:solidFill>
                          <a:latin typeface="Aptos"/>
                        </a:defRPr>
                      </a:pPr>
                      <a:r>
                        <a:t>Duyarlılık</a:t>
                      </a:r>
                    </a:p>
                  </a:txBody>
                  <a:tcPr>
                    <a:solidFill>
                      <a:srgbClr val="F8FAFC"/>
                    </a:solidFill>
                  </a:tcPr>
                </a:tc>
                <a:tc>
                  <a:txBody>
                    <a:bodyPr/>
                    <a:lstStyle/>
                    <a:p>
                      <a:pPr algn="ctr">
                        <a:defRPr sz="969">
                          <a:solidFill>
                            <a:srgbClr val="111827"/>
                          </a:solidFill>
                          <a:latin typeface="Aptos"/>
                        </a:defRPr>
                      </a:pPr>
                      <a:r>
                        <a:t>Gerçek pozitiflerin ne kadarının yakalandığı</a:t>
                      </a:r>
                    </a:p>
                  </a:txBody>
                  <a:tcPr>
                    <a:solidFill>
                      <a:srgbClr val="F8FAFC"/>
                    </a:solidFill>
                  </a:tcPr>
                </a:tc>
              </a:tr>
              <a:tr h="449580">
                <a:tc>
                  <a:txBody>
                    <a:bodyPr/>
                    <a:lstStyle/>
                    <a:p>
                      <a:pPr algn="ctr">
                        <a:defRPr sz="969">
                          <a:solidFill>
                            <a:srgbClr val="111827"/>
                          </a:solidFill>
                          <a:latin typeface="Aptos"/>
                        </a:defRPr>
                      </a:pPr>
                      <a:r>
                        <a:t>F1</a:t>
                      </a:r>
                    </a:p>
                  </a:txBody>
                  <a:tcPr>
                    <a:solidFill>
                      <a:srgbClr val="F8FAFC"/>
                    </a:solidFill>
                  </a:tcPr>
                </a:tc>
                <a:tc>
                  <a:txBody>
                    <a:bodyPr/>
                    <a:lstStyle/>
                    <a:p>
                      <a:pPr algn="ctr">
                        <a:defRPr sz="969">
                          <a:solidFill>
                            <a:srgbClr val="111827"/>
                          </a:solidFill>
                          <a:latin typeface="Aptos"/>
                        </a:defRPr>
                      </a:pPr>
                      <a:r>
                        <a:t>Kesinlik ve duyarlılık dengesi</a:t>
                      </a:r>
                    </a:p>
                  </a:txBody>
                  <a:tcPr>
                    <a:solidFill>
                      <a:srgbClr val="F8FAFC"/>
                    </a:solidFill>
                  </a:tcPr>
                </a:tc>
              </a:tr>
              <a:tr h="449580">
                <a:tc>
                  <a:txBody>
                    <a:bodyPr/>
                    <a:lstStyle/>
                    <a:p>
                      <a:pPr algn="ctr">
                        <a:defRPr sz="969">
                          <a:solidFill>
                            <a:srgbClr val="111827"/>
                          </a:solidFill>
                          <a:latin typeface="Aptos"/>
                        </a:defRPr>
                      </a:pPr>
                      <a:r>
                        <a:t>ROC-AUC</a:t>
                      </a:r>
                    </a:p>
                  </a:txBody>
                  <a:tcPr>
                    <a:solidFill>
                      <a:srgbClr val="F8FAFC"/>
                    </a:solidFill>
                  </a:tcPr>
                </a:tc>
                <a:tc>
                  <a:txBody>
                    <a:bodyPr/>
                    <a:lstStyle/>
                    <a:p>
                      <a:pPr algn="ctr">
                        <a:defRPr sz="969">
                          <a:solidFill>
                            <a:srgbClr val="111827"/>
                          </a:solidFill>
                          <a:latin typeface="Aptos"/>
                        </a:defRPr>
                      </a:pPr>
                      <a:r>
                        <a:t>Sınıfları ayırt etme gücü</a:t>
                      </a:r>
                    </a:p>
                  </a:txBody>
                  <a:tcPr>
                    <a:solidFill>
                      <a:srgbClr val="F8FAFC"/>
                    </a:solidFill>
                  </a:tcPr>
                </a:tc>
              </a:tr>
            </a:tbl>
          </a:graphicData>
        </a:graphic>
      </p:graphicFrame>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01168"/>
            <a:ext cx="11155680" cy="457200"/>
          </a:xfrm>
          <a:prstGeom prst="rect">
            <a:avLst/>
          </a:prstGeom>
          <a:noFill/>
        </p:spPr>
        <p:txBody>
          <a:bodyPr wrap="square" lIns="73152" rIns="73152" tIns="36576" bIns="36576">
            <a:normAutofit/>
          </a:bodyPr>
          <a:lstStyle/>
          <a:p>
            <a:pPr algn="l"/>
            <a:r>
              <a:rPr sz="2250" b="1">
                <a:solidFill>
                  <a:srgbClr val="1F4E79"/>
                </a:solidFill>
                <a:latin typeface="Aptos"/>
              </a:rPr>
              <a:t>Karar Eşiği ve Bankacılık Yorumu</a:t>
            </a:r>
          </a:p>
        </p:txBody>
      </p:sp>
      <p:sp>
        <p:nvSpPr>
          <p:cNvPr id="3" name="Rectangle 2"/>
          <p:cNvSpPr/>
          <p:nvPr/>
        </p:nvSpPr>
        <p:spPr>
          <a:xfrm>
            <a:off x="502920" y="786384"/>
            <a:ext cx="11155680" cy="3200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565392"/>
            <a:ext cx="8046720" cy="201168"/>
          </a:xfrm>
          <a:prstGeom prst="rect">
            <a:avLst/>
          </a:prstGeom>
          <a:noFill/>
        </p:spPr>
        <p:txBody>
          <a:bodyPr wrap="square" lIns="73152" rIns="73152" tIns="36576" bIns="36576">
            <a:normAutofit/>
          </a:bodyPr>
          <a:lstStyle/>
          <a:p>
            <a:pPr algn="l"/>
            <a:r>
              <a:rPr sz="830" b="0">
                <a:solidFill>
                  <a:srgbClr val="4B5563"/>
                </a:solidFill>
                <a:latin typeface="Aptos"/>
              </a:rPr>
              <a:t>BLM308 Veri Madenciliği Final Projesi</a:t>
            </a:r>
          </a:p>
        </p:txBody>
      </p:sp>
      <p:sp>
        <p:nvSpPr>
          <p:cNvPr id="5" name="TextBox 4"/>
          <p:cNvSpPr txBox="1"/>
          <p:nvPr/>
        </p:nvSpPr>
        <p:spPr>
          <a:xfrm>
            <a:off x="11155680" y="6565392"/>
            <a:ext cx="457200" cy="201168"/>
          </a:xfrm>
          <a:prstGeom prst="rect">
            <a:avLst/>
          </a:prstGeom>
          <a:noFill/>
        </p:spPr>
        <p:txBody>
          <a:bodyPr wrap="square" lIns="73152" rIns="73152" tIns="36576" bIns="36576">
            <a:normAutofit/>
          </a:bodyPr>
          <a:lstStyle/>
          <a:p>
            <a:pPr algn="r"/>
            <a:r>
              <a:rPr sz="830" b="0">
                <a:solidFill>
                  <a:srgbClr val="4B5563"/>
                </a:solidFill>
                <a:latin typeface="Aptos"/>
              </a:rPr>
              <a:t>19</a:t>
            </a:r>
          </a:p>
        </p:txBody>
      </p:sp>
      <p:sp>
        <p:nvSpPr>
          <p:cNvPr id="6" name="TextBox 5"/>
          <p:cNvSpPr txBox="1"/>
          <p:nvPr/>
        </p:nvSpPr>
        <p:spPr>
          <a:xfrm>
            <a:off x="731520" y="1143000"/>
            <a:ext cx="5669280" cy="3703320"/>
          </a:xfrm>
          <a:prstGeom prst="rect">
            <a:avLst/>
          </a:prstGeom>
          <a:noFill/>
        </p:spPr>
        <p:txBody>
          <a:bodyPr wrap="square" lIns="73152" rIns="73152" tIns="36576" bIns="36576">
            <a:normAutofit/>
          </a:bodyPr>
          <a:lstStyle/>
          <a:p>
            <a:pPr algn="l">
              <a:spcAft>
                <a:spcPts val="500"/>
              </a:spcAft>
              <a:defRPr sz="1360">
                <a:solidFill>
                  <a:srgbClr val="111827"/>
                </a:solidFill>
                <a:latin typeface="Aptos"/>
              </a:defRPr>
            </a:pPr>
            <a:r>
              <a:t>Model çıktısı yalnızca sınıf etiketi değildir; çoğu model müşterinin abone olma olasılığını da üretir. Bu olasılık, karar eşiğine göre düşük veya yüksek ihtimal olarak yorumlanır.</a:t>
            </a:r>
          </a:p>
          <a:p>
            <a:pPr algn="l">
              <a:spcAft>
                <a:spcPts val="500"/>
              </a:spcAft>
              <a:defRPr sz="1360">
                <a:solidFill>
                  <a:srgbClr val="111827"/>
                </a:solidFill>
                <a:latin typeface="Aptos"/>
              </a:defRPr>
            </a:pPr>
            <a:r>
              <a:t>Bankacılıkta karar eşiği iş stratejisine göre değişebilir. Eğer kampanya ekibi daha fazla potansiyel müşteriyi yakalamak istiyorsa duyarlılığı artıran bir eşik tercih edilebilir. Eğer gereksiz aramaları azaltmak daha önemliyse kesinlik odaklı bir eşik kullanılabilir.</a:t>
            </a:r>
          </a:p>
          <a:p>
            <a:pPr algn="l">
              <a:spcAft>
                <a:spcPts val="500"/>
              </a:spcAft>
              <a:defRPr sz="1360">
                <a:solidFill>
                  <a:srgbClr val="111827"/>
                </a:solidFill>
                <a:latin typeface="Aptos"/>
              </a:defRPr>
            </a:pPr>
            <a:r>
              <a:t>Bu nedenle proje, modelin yalnızca teknik doğruluğunu değil, karar destek sistemi olarak nasıl kullanılabileceğini de tartışır.</a:t>
            </a:r>
          </a:p>
        </p:txBody>
      </p:sp>
      <p:sp>
        <p:nvSpPr>
          <p:cNvPr id="7" name="Rounded Rectangle 6"/>
          <p:cNvSpPr/>
          <p:nvPr/>
        </p:nvSpPr>
        <p:spPr>
          <a:xfrm>
            <a:off x="6812280" y="1371600"/>
            <a:ext cx="4206240" cy="1417320"/>
          </a:xfrm>
          <a:prstGeom prst="roundRect">
            <a:avLst/>
          </a:prstGeom>
          <a:solidFill>
            <a:srgbClr val="F5F7FA"/>
          </a:solidFill>
          <a:ln w="1397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91440" bIns="36576">
            <a:normAutofit/>
          </a:bodyPr>
          <a:lstStyle/>
          <a:p>
            <a:pPr algn="ctr"/>
            <a:r>
              <a:rPr sz="1360" b="1">
                <a:solidFill>
                  <a:srgbClr val="2563EB"/>
                </a:solidFill>
                <a:latin typeface="Aptos"/>
              </a:rPr>
              <a:t>Örnek kullanım</a:t>
            </a:r>
          </a:p>
          <a:p>
            <a:pPr>
              <a:spcBef>
                <a:spcPts val="400"/>
              </a:spcBef>
              <a:defRPr sz="1180">
                <a:solidFill>
                  <a:srgbClr val="111827"/>
                </a:solidFill>
                <a:latin typeface="Aptos"/>
              </a:defRPr>
            </a:pPr>
            <a:r>
              <a:t>Günlük 1.000 müşterilik listede model, en yüksek olasılıklı ilk 200 müşteriyi öncelikli arama listesine alabilir.</a:t>
            </a:r>
          </a:p>
        </p:txBody>
      </p:sp>
      <p:sp>
        <p:nvSpPr>
          <p:cNvPr id="8" name="Rounded Rectangle 7"/>
          <p:cNvSpPr/>
          <p:nvPr/>
        </p:nvSpPr>
        <p:spPr>
          <a:xfrm>
            <a:off x="6812280" y="3154680"/>
            <a:ext cx="4206240" cy="1554480"/>
          </a:xfrm>
          <a:prstGeom prst="roundRect">
            <a:avLst/>
          </a:prstGeom>
          <a:solidFill>
            <a:srgbClr val="F5F7FA"/>
          </a:solidFill>
          <a:ln w="13970">
            <a:solidFill>
              <a:srgbClr val="F97316"/>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91440" bIns="36576">
            <a:normAutofit/>
          </a:bodyPr>
          <a:lstStyle/>
          <a:p>
            <a:pPr algn="ctr"/>
            <a:r>
              <a:rPr sz="1360" b="1">
                <a:solidFill>
                  <a:srgbClr val="F97316"/>
                </a:solidFill>
                <a:latin typeface="Aptos"/>
              </a:rPr>
              <a:t>Yorumlama ihtiyacı</a:t>
            </a:r>
          </a:p>
          <a:p>
            <a:pPr>
              <a:spcBef>
                <a:spcPts val="400"/>
              </a:spcBef>
              <a:defRPr sz="1180">
                <a:solidFill>
                  <a:srgbClr val="111827"/>
                </a:solidFill>
                <a:latin typeface="Aptos"/>
              </a:defRPr>
            </a:pPr>
            <a:r>
              <a:t>Pazarlama uzmanı, sadece kimin aranacağını değil, modelin bu öneriyi hangi değişkenler nedeniyle yaptığını da görmelidir.</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6D28D9"/>
        </a:solidFill>
        <a:effectLst/>
      </p:bgPr>
    </p:bg>
    <p:spTree>
      <p:nvGrpSpPr>
        <p:cNvPr id="1" name=""/>
        <p:cNvGrpSpPr/>
        <p:nvPr/>
      </p:nvGrpSpPr>
      <p:grpSpPr/>
      <p:sp>
        <p:nvSpPr>
          <p:cNvPr id="2" name="TextBox 1"/>
          <p:cNvSpPr txBox="1"/>
          <p:nvPr/>
        </p:nvSpPr>
        <p:spPr>
          <a:xfrm>
            <a:off x="685800" y="1325880"/>
            <a:ext cx="10789920" cy="640080"/>
          </a:xfrm>
          <a:prstGeom prst="rect">
            <a:avLst/>
          </a:prstGeom>
          <a:noFill/>
        </p:spPr>
        <p:txBody>
          <a:bodyPr wrap="square" lIns="73152" rIns="73152" tIns="36576" bIns="36576">
            <a:normAutofit/>
          </a:bodyPr>
          <a:lstStyle/>
          <a:p>
            <a:pPr algn="l"/>
            <a:r>
              <a:rPr sz="3400" b="1">
                <a:solidFill>
                  <a:srgbClr val="FFFFFF"/>
                </a:solidFill>
                <a:latin typeface="Aptos"/>
              </a:rPr>
              <a:t>5. Performans Sonuçları</a:t>
            </a:r>
          </a:p>
        </p:txBody>
      </p:sp>
      <p:sp>
        <p:nvSpPr>
          <p:cNvPr id="3" name="TextBox 2"/>
          <p:cNvSpPr txBox="1"/>
          <p:nvPr/>
        </p:nvSpPr>
        <p:spPr>
          <a:xfrm>
            <a:off x="713232" y="2121408"/>
            <a:ext cx="10424160" cy="548640"/>
          </a:xfrm>
          <a:prstGeom prst="rect">
            <a:avLst/>
          </a:prstGeom>
          <a:noFill/>
        </p:spPr>
        <p:txBody>
          <a:bodyPr wrap="square" lIns="73152" rIns="73152" tIns="36576" bIns="36576">
            <a:normAutofit/>
          </a:bodyPr>
          <a:lstStyle/>
          <a:p>
            <a:pPr algn="l"/>
            <a:r>
              <a:rPr sz="1850" b="0">
                <a:solidFill>
                  <a:srgbClr val="DBEAFE"/>
                </a:solidFill>
                <a:latin typeface="Aptos"/>
              </a:rPr>
              <a:t>Sonuçlar, yüksek görünen skorların gerçekçi kullanım koşullarıyla birlikte değerlendirilmesi gerektiğini göstermektedir.</a:t>
            </a:r>
          </a:p>
        </p:txBody>
      </p:sp>
      <p:sp>
        <p:nvSpPr>
          <p:cNvPr id="4" name="TextBox 3"/>
          <p:cNvSpPr txBox="1"/>
          <p:nvPr/>
        </p:nvSpPr>
        <p:spPr>
          <a:xfrm>
            <a:off x="731520" y="2953512"/>
            <a:ext cx="10104120" cy="1572768"/>
          </a:xfrm>
          <a:prstGeom prst="rect">
            <a:avLst/>
          </a:prstGeom>
          <a:noFill/>
        </p:spPr>
        <p:txBody>
          <a:bodyPr wrap="square" lIns="73152" rIns="73152" tIns="36576" bIns="36576">
            <a:normAutofit/>
          </a:bodyPr>
          <a:lstStyle/>
          <a:p>
            <a:pPr algn="l">
              <a:spcAft>
                <a:spcPts val="600"/>
              </a:spcAft>
              <a:defRPr sz="1460">
                <a:solidFill>
                  <a:srgbClr val="FFFFFF"/>
                </a:solidFill>
                <a:latin typeface="Aptos"/>
              </a:defRPr>
            </a:pPr>
            <a:r>
              <a:t>Görüşme süresi dahil edildiğinde modeller daha yüksek performans gösterebilir; ancak bu bilgi kampanya öncesi bilinmediğinden pratikte kullanılması doğru değildir.</a:t>
            </a:r>
          </a:p>
          <a:p>
            <a:pPr algn="l">
              <a:spcAft>
                <a:spcPts val="600"/>
              </a:spcAft>
              <a:defRPr sz="1460">
                <a:solidFill>
                  <a:srgbClr val="FFFFFF"/>
                </a:solidFill>
                <a:latin typeface="Aptos"/>
              </a:defRPr>
            </a:pPr>
            <a:r>
              <a:t>Bu nedenle asıl yorum, görüşme süresi hariç senaryoda elde edilen sonuçlara dayanır.</a:t>
            </a:r>
          </a:p>
        </p:txBody>
      </p:sp>
      <p:sp>
        <p:nvSpPr>
          <p:cNvPr id="5" name="TextBox 4"/>
          <p:cNvSpPr txBox="1"/>
          <p:nvPr/>
        </p:nvSpPr>
        <p:spPr>
          <a:xfrm>
            <a:off x="502920" y="6565392"/>
            <a:ext cx="8046720" cy="201168"/>
          </a:xfrm>
          <a:prstGeom prst="rect">
            <a:avLst/>
          </a:prstGeom>
          <a:noFill/>
        </p:spPr>
        <p:txBody>
          <a:bodyPr wrap="square" lIns="73152" rIns="73152" tIns="36576" bIns="36576">
            <a:normAutofit/>
          </a:bodyPr>
          <a:lstStyle/>
          <a:p>
            <a:pPr algn="l"/>
            <a:r>
              <a:rPr sz="830" b="0">
                <a:solidFill>
                  <a:srgbClr val="4B5563"/>
                </a:solidFill>
                <a:latin typeface="Aptos"/>
              </a:rPr>
              <a:t>BLM308 Veri Madenciliği Final Projesi</a:t>
            </a:r>
          </a:p>
        </p:txBody>
      </p:sp>
      <p:sp>
        <p:nvSpPr>
          <p:cNvPr id="6" name="TextBox 5"/>
          <p:cNvSpPr txBox="1"/>
          <p:nvPr/>
        </p:nvSpPr>
        <p:spPr>
          <a:xfrm>
            <a:off x="11155680" y="6565392"/>
            <a:ext cx="457200" cy="201168"/>
          </a:xfrm>
          <a:prstGeom prst="rect">
            <a:avLst/>
          </a:prstGeom>
          <a:noFill/>
        </p:spPr>
        <p:txBody>
          <a:bodyPr wrap="square" lIns="73152" rIns="73152" tIns="36576" bIns="36576">
            <a:normAutofit/>
          </a:bodyPr>
          <a:lstStyle/>
          <a:p>
            <a:pPr algn="r"/>
            <a:r>
              <a:rPr sz="830" b="0">
                <a:solidFill>
                  <a:srgbClr val="4B5563"/>
                </a:solidFill>
                <a:latin typeface="Aptos"/>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01168"/>
            <a:ext cx="11155680" cy="457200"/>
          </a:xfrm>
          <a:prstGeom prst="rect">
            <a:avLst/>
          </a:prstGeom>
          <a:noFill/>
        </p:spPr>
        <p:txBody>
          <a:bodyPr wrap="square" lIns="73152" rIns="73152" tIns="36576" bIns="36576">
            <a:normAutofit/>
          </a:bodyPr>
          <a:lstStyle/>
          <a:p>
            <a:pPr algn="l"/>
            <a:r>
              <a:rPr sz="2250" b="1">
                <a:solidFill>
                  <a:srgbClr val="1F4E79"/>
                </a:solidFill>
                <a:latin typeface="Aptos"/>
              </a:rPr>
              <a:t>Performans Tablosu ve Ana Yorum</a:t>
            </a:r>
          </a:p>
        </p:txBody>
      </p:sp>
      <p:sp>
        <p:nvSpPr>
          <p:cNvPr id="3" name="Rectangle 2"/>
          <p:cNvSpPr/>
          <p:nvPr/>
        </p:nvSpPr>
        <p:spPr>
          <a:xfrm>
            <a:off x="502920" y="786384"/>
            <a:ext cx="11155680" cy="3200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565392"/>
            <a:ext cx="8046720" cy="201168"/>
          </a:xfrm>
          <a:prstGeom prst="rect">
            <a:avLst/>
          </a:prstGeom>
          <a:noFill/>
        </p:spPr>
        <p:txBody>
          <a:bodyPr wrap="square" lIns="73152" rIns="73152" tIns="36576" bIns="36576">
            <a:normAutofit/>
          </a:bodyPr>
          <a:lstStyle/>
          <a:p>
            <a:pPr algn="l"/>
            <a:r>
              <a:rPr sz="830" b="0">
                <a:solidFill>
                  <a:srgbClr val="4B5563"/>
                </a:solidFill>
                <a:latin typeface="Aptos"/>
              </a:rPr>
              <a:t>BLM308 Veri Madenciliği Final Projesi</a:t>
            </a:r>
          </a:p>
        </p:txBody>
      </p:sp>
      <p:sp>
        <p:nvSpPr>
          <p:cNvPr id="5" name="TextBox 4"/>
          <p:cNvSpPr txBox="1"/>
          <p:nvPr/>
        </p:nvSpPr>
        <p:spPr>
          <a:xfrm>
            <a:off x="11155680" y="6565392"/>
            <a:ext cx="457200" cy="201168"/>
          </a:xfrm>
          <a:prstGeom prst="rect">
            <a:avLst/>
          </a:prstGeom>
          <a:noFill/>
        </p:spPr>
        <p:txBody>
          <a:bodyPr wrap="square" lIns="73152" rIns="73152" tIns="36576" bIns="36576">
            <a:normAutofit/>
          </a:bodyPr>
          <a:lstStyle/>
          <a:p>
            <a:pPr algn="r"/>
            <a:r>
              <a:rPr sz="830" b="0">
                <a:solidFill>
                  <a:srgbClr val="4B5563"/>
                </a:solidFill>
                <a:latin typeface="Aptos"/>
              </a:rPr>
              <a:t>21</a:t>
            </a:r>
          </a:p>
        </p:txBody>
      </p:sp>
      <p:graphicFrame>
        <p:nvGraphicFramePr>
          <p:cNvPr id="6" name="Table 5"/>
          <p:cNvGraphicFramePr>
            <a:graphicFrameLocks noGrp="1"/>
          </p:cNvGraphicFramePr>
          <p:nvPr/>
        </p:nvGraphicFramePr>
        <p:xfrm>
          <a:off x="320040" y="1024128"/>
          <a:ext cx="11567160" cy="3273552"/>
        </p:xfrm>
        <a:graphic>
          <a:graphicData uri="http://schemas.openxmlformats.org/drawingml/2006/table">
            <a:tbl>
              <a:tblPr firstRow="1" bandRow="1">
                <a:tableStyleId>{5C22544A-7EE6-4342-B048-85BDC9FD1C3A}</a:tableStyleId>
              </a:tblPr>
              <a:tblGrid>
                <a:gridCol w="1652451"/>
                <a:gridCol w="1652451"/>
                <a:gridCol w="1652451"/>
                <a:gridCol w="1652451"/>
                <a:gridCol w="1652451"/>
                <a:gridCol w="1652451"/>
                <a:gridCol w="1652454"/>
              </a:tblGrid>
              <a:tr h="545592">
                <a:tc>
                  <a:txBody>
                    <a:bodyPr/>
                    <a:lstStyle/>
                    <a:p>
                      <a:pPr algn="ctr">
                        <a:defRPr sz="980">
                          <a:solidFill>
                            <a:srgbClr val="FFFFFF"/>
                          </a:solidFill>
                          <a:latin typeface="Aptos"/>
                        </a:defRPr>
                      </a:pPr>
                      <a:r>
                        <a:t>Senaryo</a:t>
                      </a:r>
                    </a:p>
                  </a:txBody>
                  <a:tcPr>
                    <a:solidFill>
                      <a:srgbClr val="1F4E79"/>
                    </a:solidFill>
                  </a:tcPr>
                </a:tc>
                <a:tc>
                  <a:txBody>
                    <a:bodyPr/>
                    <a:lstStyle/>
                    <a:p>
                      <a:pPr algn="ctr">
                        <a:defRPr sz="980">
                          <a:solidFill>
                            <a:srgbClr val="FFFFFF"/>
                          </a:solidFill>
                          <a:latin typeface="Aptos"/>
                        </a:defRPr>
                      </a:pPr>
                      <a:r>
                        <a:t>Model</a:t>
                      </a:r>
                    </a:p>
                  </a:txBody>
                  <a:tcPr>
                    <a:solidFill>
                      <a:srgbClr val="1F4E79"/>
                    </a:solidFill>
                  </a:tcPr>
                </a:tc>
                <a:tc>
                  <a:txBody>
                    <a:bodyPr/>
                    <a:lstStyle/>
                    <a:p>
                      <a:pPr algn="ctr">
                        <a:defRPr sz="980">
                          <a:solidFill>
                            <a:srgbClr val="FFFFFF"/>
                          </a:solidFill>
                          <a:latin typeface="Aptos"/>
                        </a:defRPr>
                      </a:pPr>
                      <a:r>
                        <a:t>Doğ.</a:t>
                      </a:r>
                    </a:p>
                  </a:txBody>
                  <a:tcPr>
                    <a:solidFill>
                      <a:srgbClr val="1F4E79"/>
                    </a:solidFill>
                  </a:tcPr>
                </a:tc>
                <a:tc>
                  <a:txBody>
                    <a:bodyPr/>
                    <a:lstStyle/>
                    <a:p>
                      <a:pPr algn="ctr">
                        <a:defRPr sz="980">
                          <a:solidFill>
                            <a:srgbClr val="FFFFFF"/>
                          </a:solidFill>
                          <a:latin typeface="Aptos"/>
                        </a:defRPr>
                      </a:pPr>
                      <a:r>
                        <a:t>Kes.</a:t>
                      </a:r>
                    </a:p>
                  </a:txBody>
                  <a:tcPr>
                    <a:solidFill>
                      <a:srgbClr val="1F4E79"/>
                    </a:solidFill>
                  </a:tcPr>
                </a:tc>
                <a:tc>
                  <a:txBody>
                    <a:bodyPr/>
                    <a:lstStyle/>
                    <a:p>
                      <a:pPr algn="ctr">
                        <a:defRPr sz="980">
                          <a:solidFill>
                            <a:srgbClr val="FFFFFF"/>
                          </a:solidFill>
                          <a:latin typeface="Aptos"/>
                        </a:defRPr>
                      </a:pPr>
                      <a:r>
                        <a:t>Duy.</a:t>
                      </a:r>
                    </a:p>
                  </a:txBody>
                  <a:tcPr>
                    <a:solidFill>
                      <a:srgbClr val="1F4E79"/>
                    </a:solidFill>
                  </a:tcPr>
                </a:tc>
                <a:tc>
                  <a:txBody>
                    <a:bodyPr/>
                    <a:lstStyle/>
                    <a:p>
                      <a:pPr algn="ctr">
                        <a:defRPr sz="980">
                          <a:solidFill>
                            <a:srgbClr val="FFFFFF"/>
                          </a:solidFill>
                          <a:latin typeface="Aptos"/>
                        </a:defRPr>
                      </a:pPr>
                      <a:r>
                        <a:t>F1</a:t>
                      </a:r>
                    </a:p>
                  </a:txBody>
                  <a:tcPr>
                    <a:solidFill>
                      <a:srgbClr val="1F4E79"/>
                    </a:solidFill>
                  </a:tcPr>
                </a:tc>
                <a:tc>
                  <a:txBody>
                    <a:bodyPr/>
                    <a:lstStyle/>
                    <a:p>
                      <a:pPr algn="ctr">
                        <a:defRPr sz="980">
                          <a:solidFill>
                            <a:srgbClr val="FFFFFF"/>
                          </a:solidFill>
                          <a:latin typeface="Aptos"/>
                        </a:defRPr>
                      </a:pPr>
                      <a:r>
                        <a:t>AUC</a:t>
                      </a:r>
                    </a:p>
                  </a:txBody>
                  <a:tcPr>
                    <a:solidFill>
                      <a:srgbClr val="1F4E79"/>
                    </a:solidFill>
                  </a:tcPr>
                </a:tc>
              </a:tr>
              <a:tr h="545592">
                <a:tc>
                  <a:txBody>
                    <a:bodyPr/>
                    <a:lstStyle/>
                    <a:p>
                      <a:pPr algn="ctr">
                        <a:defRPr sz="980">
                          <a:solidFill>
                            <a:srgbClr val="111827"/>
                          </a:solidFill>
                          <a:latin typeface="Aptos"/>
                        </a:defRPr>
                      </a:pPr>
                      <a:r>
                        <a:t>Görüşme süresi dahil</a:t>
                      </a:r>
                    </a:p>
                  </a:txBody>
                  <a:tcPr>
                    <a:solidFill>
                      <a:srgbClr val="F8FAFC"/>
                    </a:solidFill>
                  </a:tcPr>
                </a:tc>
                <a:tc>
                  <a:txBody>
                    <a:bodyPr/>
                    <a:lstStyle/>
                    <a:p>
                      <a:pPr algn="ctr">
                        <a:defRPr sz="980">
                          <a:solidFill>
                            <a:srgbClr val="111827"/>
                          </a:solidFill>
                          <a:latin typeface="Aptos"/>
                        </a:defRPr>
                      </a:pPr>
                      <a:r>
                        <a:t>Random Forest</a:t>
                      </a:r>
                    </a:p>
                  </a:txBody>
                  <a:tcPr>
                    <a:solidFill>
                      <a:srgbClr val="F8FAFC"/>
                    </a:solidFill>
                  </a:tcPr>
                </a:tc>
                <a:tc>
                  <a:txBody>
                    <a:bodyPr/>
                    <a:lstStyle/>
                    <a:p>
                      <a:pPr algn="ctr">
                        <a:defRPr sz="980">
                          <a:solidFill>
                            <a:srgbClr val="111827"/>
                          </a:solidFill>
                          <a:latin typeface="Aptos"/>
                        </a:defRPr>
                      </a:pPr>
                      <a:r>
                        <a:t>0.868</a:t>
                      </a:r>
                    </a:p>
                  </a:txBody>
                  <a:tcPr>
                    <a:solidFill>
                      <a:srgbClr val="F8FAFC"/>
                    </a:solidFill>
                  </a:tcPr>
                </a:tc>
                <a:tc>
                  <a:txBody>
                    <a:bodyPr/>
                    <a:lstStyle/>
                    <a:p>
                      <a:pPr algn="ctr">
                        <a:defRPr sz="980">
                          <a:solidFill>
                            <a:srgbClr val="111827"/>
                          </a:solidFill>
                          <a:latin typeface="Aptos"/>
                        </a:defRPr>
                      </a:pPr>
                      <a:r>
                        <a:t>0.457</a:t>
                      </a:r>
                    </a:p>
                  </a:txBody>
                  <a:tcPr>
                    <a:solidFill>
                      <a:srgbClr val="F8FAFC"/>
                    </a:solidFill>
                  </a:tcPr>
                </a:tc>
                <a:tc>
                  <a:txBody>
                    <a:bodyPr/>
                    <a:lstStyle/>
                    <a:p>
                      <a:pPr algn="ctr">
                        <a:defRPr sz="980">
                          <a:solidFill>
                            <a:srgbClr val="111827"/>
                          </a:solidFill>
                          <a:latin typeface="Aptos"/>
                        </a:defRPr>
                      </a:pPr>
                      <a:r>
                        <a:t>0.925</a:t>
                      </a:r>
                    </a:p>
                  </a:txBody>
                  <a:tcPr>
                    <a:solidFill>
                      <a:srgbClr val="F8FAFC"/>
                    </a:solidFill>
                  </a:tcPr>
                </a:tc>
                <a:tc>
                  <a:txBody>
                    <a:bodyPr/>
                    <a:lstStyle/>
                    <a:p>
                      <a:pPr algn="ctr">
                        <a:defRPr sz="980">
                          <a:solidFill>
                            <a:srgbClr val="111827"/>
                          </a:solidFill>
                          <a:latin typeface="Aptos"/>
                        </a:defRPr>
                      </a:pPr>
                      <a:r>
                        <a:t>0.611</a:t>
                      </a:r>
                    </a:p>
                  </a:txBody>
                  <a:tcPr>
                    <a:solidFill>
                      <a:srgbClr val="F8FAFC"/>
                    </a:solidFill>
                  </a:tcPr>
                </a:tc>
                <a:tc>
                  <a:txBody>
                    <a:bodyPr/>
                    <a:lstStyle/>
                    <a:p>
                      <a:pPr algn="ctr">
                        <a:defRPr sz="980">
                          <a:solidFill>
                            <a:srgbClr val="111827"/>
                          </a:solidFill>
                          <a:latin typeface="Aptos"/>
                        </a:defRPr>
                      </a:pPr>
                      <a:r>
                        <a:t>0.949</a:t>
                      </a:r>
                    </a:p>
                  </a:txBody>
                  <a:tcPr>
                    <a:solidFill>
                      <a:srgbClr val="F8FAFC"/>
                    </a:solidFill>
                  </a:tcPr>
                </a:tc>
              </a:tr>
              <a:tr h="545592">
                <a:tc>
                  <a:txBody>
                    <a:bodyPr/>
                    <a:lstStyle/>
                    <a:p>
                      <a:pPr algn="ctr">
                        <a:defRPr sz="980">
                          <a:solidFill>
                            <a:srgbClr val="111827"/>
                          </a:solidFill>
                          <a:latin typeface="Aptos"/>
                        </a:defRPr>
                      </a:pPr>
                      <a:r>
                        <a:t>Görüşme süresi dahil</a:t>
                      </a:r>
                    </a:p>
                  </a:txBody>
                  <a:tcPr>
                    <a:solidFill>
                      <a:srgbClr val="F8FAFC"/>
                    </a:solidFill>
                  </a:tcPr>
                </a:tc>
                <a:tc>
                  <a:txBody>
                    <a:bodyPr/>
                    <a:lstStyle/>
                    <a:p>
                      <a:pPr algn="ctr">
                        <a:defRPr sz="980">
                          <a:solidFill>
                            <a:srgbClr val="111827"/>
                          </a:solidFill>
                          <a:latin typeface="Aptos"/>
                        </a:defRPr>
                      </a:pPr>
                      <a:r>
                        <a:t>Çok Katmanlı Algılayıcı</a:t>
                      </a:r>
                    </a:p>
                  </a:txBody>
                  <a:tcPr>
                    <a:solidFill>
                      <a:srgbClr val="F8FAFC"/>
                    </a:solidFill>
                  </a:tcPr>
                </a:tc>
                <a:tc>
                  <a:txBody>
                    <a:bodyPr/>
                    <a:lstStyle/>
                    <a:p>
                      <a:pPr algn="ctr">
                        <a:defRPr sz="980">
                          <a:solidFill>
                            <a:srgbClr val="111827"/>
                          </a:solidFill>
                          <a:latin typeface="Aptos"/>
                        </a:defRPr>
                      </a:pPr>
                      <a:r>
                        <a:t>0.915</a:t>
                      </a:r>
                    </a:p>
                  </a:txBody>
                  <a:tcPr>
                    <a:solidFill>
                      <a:srgbClr val="F8FAFC"/>
                    </a:solidFill>
                  </a:tcPr>
                </a:tc>
                <a:tc>
                  <a:txBody>
                    <a:bodyPr/>
                    <a:lstStyle/>
                    <a:p>
                      <a:pPr algn="ctr">
                        <a:defRPr sz="980">
                          <a:solidFill>
                            <a:srgbClr val="111827"/>
                          </a:solidFill>
                          <a:latin typeface="Aptos"/>
                        </a:defRPr>
                      </a:pPr>
                      <a:r>
                        <a:t>0.650</a:t>
                      </a:r>
                    </a:p>
                  </a:txBody>
                  <a:tcPr>
                    <a:solidFill>
                      <a:srgbClr val="F8FAFC"/>
                    </a:solidFill>
                  </a:tcPr>
                </a:tc>
                <a:tc>
                  <a:txBody>
                    <a:bodyPr/>
                    <a:lstStyle/>
                    <a:p>
                      <a:pPr algn="ctr">
                        <a:defRPr sz="980">
                          <a:solidFill>
                            <a:srgbClr val="111827"/>
                          </a:solidFill>
                          <a:latin typeface="Aptos"/>
                        </a:defRPr>
                      </a:pPr>
                      <a:r>
                        <a:t>0.528</a:t>
                      </a:r>
                    </a:p>
                  </a:txBody>
                  <a:tcPr>
                    <a:solidFill>
                      <a:srgbClr val="F8FAFC"/>
                    </a:solidFill>
                  </a:tcPr>
                </a:tc>
                <a:tc>
                  <a:txBody>
                    <a:bodyPr/>
                    <a:lstStyle/>
                    <a:p>
                      <a:pPr algn="ctr">
                        <a:defRPr sz="980">
                          <a:solidFill>
                            <a:srgbClr val="111827"/>
                          </a:solidFill>
                          <a:latin typeface="Aptos"/>
                        </a:defRPr>
                      </a:pPr>
                      <a:r>
                        <a:t>0.582</a:t>
                      </a:r>
                    </a:p>
                  </a:txBody>
                  <a:tcPr>
                    <a:solidFill>
                      <a:srgbClr val="F8FAFC"/>
                    </a:solidFill>
                  </a:tcPr>
                </a:tc>
                <a:tc>
                  <a:txBody>
                    <a:bodyPr/>
                    <a:lstStyle/>
                    <a:p>
                      <a:pPr algn="ctr">
                        <a:defRPr sz="980">
                          <a:solidFill>
                            <a:srgbClr val="111827"/>
                          </a:solidFill>
                          <a:latin typeface="Aptos"/>
                        </a:defRPr>
                      </a:pPr>
                      <a:r>
                        <a:t>0.947</a:t>
                      </a:r>
                    </a:p>
                  </a:txBody>
                  <a:tcPr>
                    <a:solidFill>
                      <a:srgbClr val="F8FAFC"/>
                    </a:solidFill>
                  </a:tcPr>
                </a:tc>
              </a:tr>
              <a:tr h="545592">
                <a:tc>
                  <a:txBody>
                    <a:bodyPr/>
                    <a:lstStyle/>
                    <a:p>
                      <a:pPr algn="ctr">
                        <a:defRPr sz="980">
                          <a:solidFill>
                            <a:srgbClr val="111827"/>
                          </a:solidFill>
                          <a:latin typeface="Aptos"/>
                        </a:defRPr>
                      </a:pPr>
                      <a:r>
                        <a:t>Görüşme süresi hariç</a:t>
                      </a:r>
                    </a:p>
                  </a:txBody>
                  <a:tcPr>
                    <a:solidFill>
                      <a:srgbClr val="F8FAFC"/>
                    </a:solidFill>
                  </a:tcPr>
                </a:tc>
                <a:tc>
                  <a:txBody>
                    <a:bodyPr/>
                    <a:lstStyle/>
                    <a:p>
                      <a:pPr algn="ctr">
                        <a:defRPr sz="980">
                          <a:solidFill>
                            <a:srgbClr val="111827"/>
                          </a:solidFill>
                          <a:latin typeface="Aptos"/>
                        </a:defRPr>
                      </a:pPr>
                      <a:r>
                        <a:t>Lojistik Regresyon</a:t>
                      </a:r>
                    </a:p>
                  </a:txBody>
                  <a:tcPr>
                    <a:solidFill>
                      <a:srgbClr val="F8FAFC"/>
                    </a:solidFill>
                  </a:tcPr>
                </a:tc>
                <a:tc>
                  <a:txBody>
                    <a:bodyPr/>
                    <a:lstStyle/>
                    <a:p>
                      <a:pPr algn="ctr">
                        <a:defRPr sz="980">
                          <a:solidFill>
                            <a:srgbClr val="111827"/>
                          </a:solidFill>
                          <a:latin typeface="Aptos"/>
                        </a:defRPr>
                      </a:pPr>
                      <a:r>
                        <a:t>0.835</a:t>
                      </a:r>
                    </a:p>
                  </a:txBody>
                  <a:tcPr>
                    <a:solidFill>
                      <a:srgbClr val="F8FAFC"/>
                    </a:solidFill>
                  </a:tcPr>
                </a:tc>
                <a:tc>
                  <a:txBody>
                    <a:bodyPr/>
                    <a:lstStyle/>
                    <a:p>
                      <a:pPr algn="ctr">
                        <a:defRPr sz="980">
                          <a:solidFill>
                            <a:srgbClr val="111827"/>
                          </a:solidFill>
                          <a:latin typeface="Aptos"/>
                        </a:defRPr>
                      </a:pPr>
                      <a:r>
                        <a:t>0.367</a:t>
                      </a:r>
                    </a:p>
                  </a:txBody>
                  <a:tcPr>
                    <a:solidFill>
                      <a:srgbClr val="F8FAFC"/>
                    </a:solidFill>
                  </a:tcPr>
                </a:tc>
                <a:tc>
                  <a:txBody>
                    <a:bodyPr/>
                    <a:lstStyle/>
                    <a:p>
                      <a:pPr algn="ctr">
                        <a:defRPr sz="980">
                          <a:solidFill>
                            <a:srgbClr val="111827"/>
                          </a:solidFill>
                          <a:latin typeface="Aptos"/>
                        </a:defRPr>
                      </a:pPr>
                      <a:r>
                        <a:t>0.644</a:t>
                      </a:r>
                    </a:p>
                  </a:txBody>
                  <a:tcPr>
                    <a:solidFill>
                      <a:srgbClr val="F8FAFC"/>
                    </a:solidFill>
                  </a:tcPr>
                </a:tc>
                <a:tc>
                  <a:txBody>
                    <a:bodyPr/>
                    <a:lstStyle/>
                    <a:p>
                      <a:pPr algn="ctr">
                        <a:defRPr sz="980">
                          <a:solidFill>
                            <a:srgbClr val="111827"/>
                          </a:solidFill>
                          <a:latin typeface="Aptos"/>
                        </a:defRPr>
                      </a:pPr>
                      <a:r>
                        <a:t>0.467</a:t>
                      </a:r>
                    </a:p>
                  </a:txBody>
                  <a:tcPr>
                    <a:solidFill>
                      <a:srgbClr val="F8FAFC"/>
                    </a:solidFill>
                  </a:tcPr>
                </a:tc>
                <a:tc>
                  <a:txBody>
                    <a:bodyPr/>
                    <a:lstStyle/>
                    <a:p>
                      <a:pPr algn="ctr">
                        <a:defRPr sz="980">
                          <a:solidFill>
                            <a:srgbClr val="111827"/>
                          </a:solidFill>
                          <a:latin typeface="Aptos"/>
                        </a:defRPr>
                      </a:pPr>
                      <a:r>
                        <a:t>0.805</a:t>
                      </a:r>
                    </a:p>
                  </a:txBody>
                  <a:tcPr>
                    <a:solidFill>
                      <a:srgbClr val="F8FAFC"/>
                    </a:solidFill>
                  </a:tcPr>
                </a:tc>
              </a:tr>
              <a:tr h="545592">
                <a:tc>
                  <a:txBody>
                    <a:bodyPr/>
                    <a:lstStyle/>
                    <a:p>
                      <a:pPr algn="ctr">
                        <a:defRPr sz="980">
                          <a:solidFill>
                            <a:srgbClr val="111827"/>
                          </a:solidFill>
                          <a:latin typeface="Aptos"/>
                        </a:defRPr>
                      </a:pPr>
                      <a:r>
                        <a:t>Görüşme süresi hariç</a:t>
                      </a:r>
                    </a:p>
                  </a:txBody>
                  <a:tcPr>
                    <a:solidFill>
                      <a:srgbClr val="F8FAFC"/>
                    </a:solidFill>
                  </a:tcPr>
                </a:tc>
                <a:tc>
                  <a:txBody>
                    <a:bodyPr/>
                    <a:lstStyle/>
                    <a:p>
                      <a:pPr algn="ctr">
                        <a:defRPr sz="980">
                          <a:solidFill>
                            <a:srgbClr val="111827"/>
                          </a:solidFill>
                          <a:latin typeface="Aptos"/>
                        </a:defRPr>
                      </a:pPr>
                      <a:r>
                        <a:t>Random Forest</a:t>
                      </a:r>
                    </a:p>
                  </a:txBody>
                  <a:tcPr>
                    <a:solidFill>
                      <a:srgbClr val="F8FAFC"/>
                    </a:solidFill>
                  </a:tcPr>
                </a:tc>
                <a:tc>
                  <a:txBody>
                    <a:bodyPr/>
                    <a:lstStyle/>
                    <a:p>
                      <a:pPr algn="ctr">
                        <a:defRPr sz="980">
                          <a:solidFill>
                            <a:srgbClr val="111827"/>
                          </a:solidFill>
                          <a:latin typeface="Aptos"/>
                        </a:defRPr>
                      </a:pPr>
                      <a:r>
                        <a:t>0.864</a:t>
                      </a:r>
                    </a:p>
                  </a:txBody>
                  <a:tcPr>
                    <a:solidFill>
                      <a:srgbClr val="F8FAFC"/>
                    </a:solidFill>
                  </a:tcPr>
                </a:tc>
                <a:tc>
                  <a:txBody>
                    <a:bodyPr/>
                    <a:lstStyle/>
                    <a:p>
                      <a:pPr algn="ctr">
                        <a:defRPr sz="980">
                          <a:solidFill>
                            <a:srgbClr val="111827"/>
                          </a:solidFill>
                          <a:latin typeface="Aptos"/>
                        </a:defRPr>
                      </a:pPr>
                      <a:r>
                        <a:t>0.430</a:t>
                      </a:r>
                    </a:p>
                  </a:txBody>
                  <a:tcPr>
                    <a:solidFill>
                      <a:srgbClr val="F8FAFC"/>
                    </a:solidFill>
                  </a:tcPr>
                </a:tc>
                <a:tc>
                  <a:txBody>
                    <a:bodyPr/>
                    <a:lstStyle/>
                    <a:p>
                      <a:pPr algn="ctr">
                        <a:defRPr sz="980">
                          <a:solidFill>
                            <a:srgbClr val="111827"/>
                          </a:solidFill>
                          <a:latin typeface="Aptos"/>
                        </a:defRPr>
                      </a:pPr>
                      <a:r>
                        <a:t>0.633</a:t>
                      </a:r>
                    </a:p>
                  </a:txBody>
                  <a:tcPr>
                    <a:solidFill>
                      <a:srgbClr val="F8FAFC"/>
                    </a:solidFill>
                  </a:tcPr>
                </a:tc>
                <a:tc>
                  <a:txBody>
                    <a:bodyPr/>
                    <a:lstStyle/>
                    <a:p>
                      <a:pPr algn="ctr">
                        <a:defRPr sz="980">
                          <a:solidFill>
                            <a:srgbClr val="111827"/>
                          </a:solidFill>
                          <a:latin typeface="Aptos"/>
                        </a:defRPr>
                      </a:pPr>
                      <a:r>
                        <a:t>0.512</a:t>
                      </a:r>
                    </a:p>
                  </a:txBody>
                  <a:tcPr>
                    <a:solidFill>
                      <a:srgbClr val="F8FAFC"/>
                    </a:solidFill>
                  </a:tcPr>
                </a:tc>
                <a:tc>
                  <a:txBody>
                    <a:bodyPr/>
                    <a:lstStyle/>
                    <a:p>
                      <a:pPr algn="ctr">
                        <a:defRPr sz="980">
                          <a:solidFill>
                            <a:srgbClr val="111827"/>
                          </a:solidFill>
                          <a:latin typeface="Aptos"/>
                        </a:defRPr>
                      </a:pPr>
                      <a:r>
                        <a:t>0.816</a:t>
                      </a:r>
                    </a:p>
                  </a:txBody>
                  <a:tcPr>
                    <a:solidFill>
                      <a:srgbClr val="F8FAFC"/>
                    </a:solidFill>
                  </a:tcPr>
                </a:tc>
              </a:tr>
              <a:tr h="545592">
                <a:tc>
                  <a:txBody>
                    <a:bodyPr/>
                    <a:lstStyle/>
                    <a:p>
                      <a:pPr algn="ctr">
                        <a:defRPr sz="980">
                          <a:solidFill>
                            <a:srgbClr val="111827"/>
                          </a:solidFill>
                          <a:latin typeface="Aptos"/>
                        </a:defRPr>
                      </a:pPr>
                      <a:r>
                        <a:t>Görüşme süresi hariç</a:t>
                      </a:r>
                    </a:p>
                  </a:txBody>
                  <a:tcPr>
                    <a:solidFill>
                      <a:srgbClr val="F8FAFC"/>
                    </a:solidFill>
                  </a:tcPr>
                </a:tc>
                <a:tc>
                  <a:txBody>
                    <a:bodyPr/>
                    <a:lstStyle/>
                    <a:p>
                      <a:pPr algn="ctr">
                        <a:defRPr sz="980">
                          <a:solidFill>
                            <a:srgbClr val="111827"/>
                          </a:solidFill>
                          <a:latin typeface="Aptos"/>
                        </a:defRPr>
                      </a:pPr>
                      <a:r>
                        <a:t>Çok Katmanlı Algılayıcı</a:t>
                      </a:r>
                    </a:p>
                  </a:txBody>
                  <a:tcPr>
                    <a:solidFill>
                      <a:srgbClr val="F8FAFC"/>
                    </a:solidFill>
                  </a:tcPr>
                </a:tc>
                <a:tc>
                  <a:txBody>
                    <a:bodyPr/>
                    <a:lstStyle/>
                    <a:p>
                      <a:pPr algn="ctr">
                        <a:defRPr sz="980">
                          <a:solidFill>
                            <a:srgbClr val="111827"/>
                          </a:solidFill>
                          <a:latin typeface="Aptos"/>
                        </a:defRPr>
                      </a:pPr>
                      <a:r>
                        <a:t>0.900</a:t>
                      </a:r>
                    </a:p>
                  </a:txBody>
                  <a:tcPr>
                    <a:solidFill>
                      <a:srgbClr val="F8FAFC"/>
                    </a:solidFill>
                  </a:tcPr>
                </a:tc>
                <a:tc>
                  <a:txBody>
                    <a:bodyPr/>
                    <a:lstStyle/>
                    <a:p>
                      <a:pPr algn="ctr">
                        <a:defRPr sz="980">
                          <a:solidFill>
                            <a:srgbClr val="111827"/>
                          </a:solidFill>
                          <a:latin typeface="Aptos"/>
                        </a:defRPr>
                      </a:pPr>
                      <a:r>
                        <a:t>0.647</a:t>
                      </a:r>
                    </a:p>
                  </a:txBody>
                  <a:tcPr>
                    <a:solidFill>
                      <a:srgbClr val="F8FAFC"/>
                    </a:solidFill>
                  </a:tcPr>
                </a:tc>
                <a:tc>
                  <a:txBody>
                    <a:bodyPr/>
                    <a:lstStyle/>
                    <a:p>
                      <a:pPr algn="ctr">
                        <a:defRPr sz="980">
                          <a:solidFill>
                            <a:srgbClr val="111827"/>
                          </a:solidFill>
                          <a:latin typeface="Aptos"/>
                        </a:defRPr>
                      </a:pPr>
                      <a:r>
                        <a:t>0.245</a:t>
                      </a:r>
                    </a:p>
                  </a:txBody>
                  <a:tcPr>
                    <a:solidFill>
                      <a:srgbClr val="F8FAFC"/>
                    </a:solidFill>
                  </a:tcPr>
                </a:tc>
                <a:tc>
                  <a:txBody>
                    <a:bodyPr/>
                    <a:lstStyle/>
                    <a:p>
                      <a:pPr algn="ctr">
                        <a:defRPr sz="980">
                          <a:solidFill>
                            <a:srgbClr val="111827"/>
                          </a:solidFill>
                          <a:latin typeface="Aptos"/>
                        </a:defRPr>
                      </a:pPr>
                      <a:r>
                        <a:t>0.355</a:t>
                      </a:r>
                    </a:p>
                  </a:txBody>
                  <a:tcPr>
                    <a:solidFill>
                      <a:srgbClr val="F8FAFC"/>
                    </a:solidFill>
                  </a:tcPr>
                </a:tc>
                <a:tc>
                  <a:txBody>
                    <a:bodyPr/>
                    <a:lstStyle/>
                    <a:p>
                      <a:pPr algn="ctr">
                        <a:defRPr sz="980">
                          <a:solidFill>
                            <a:srgbClr val="111827"/>
                          </a:solidFill>
                          <a:latin typeface="Aptos"/>
                        </a:defRPr>
                      </a:pPr>
                      <a:r>
                        <a:t>0.808</a:t>
                      </a:r>
                    </a:p>
                  </a:txBody>
                  <a:tcPr>
                    <a:solidFill>
                      <a:srgbClr val="F8FAFC"/>
                    </a:solidFill>
                  </a:tcPr>
                </a:tc>
              </a:tr>
            </a:tbl>
          </a:graphicData>
        </a:graphic>
      </p:graphicFrame>
      <p:sp>
        <p:nvSpPr>
          <p:cNvPr id="7" name="TextBox 6"/>
          <p:cNvSpPr txBox="1"/>
          <p:nvPr/>
        </p:nvSpPr>
        <p:spPr>
          <a:xfrm>
            <a:off x="749808" y="4645152"/>
            <a:ext cx="10698480" cy="868680"/>
          </a:xfrm>
          <a:prstGeom prst="rect">
            <a:avLst/>
          </a:prstGeom>
          <a:noFill/>
        </p:spPr>
        <p:txBody>
          <a:bodyPr wrap="square" lIns="73152" rIns="73152" tIns="36576" bIns="36576">
            <a:normAutofit/>
          </a:bodyPr>
          <a:lstStyle/>
          <a:p>
            <a:pPr algn="l">
              <a:spcAft>
                <a:spcPts val="500"/>
              </a:spcAft>
              <a:defRPr sz="1280">
                <a:solidFill>
                  <a:srgbClr val="4B5563"/>
                </a:solidFill>
                <a:latin typeface="Aptos"/>
              </a:defRPr>
            </a:pPr>
            <a:r>
              <a:t>Tablo, görüşme süresi dahil senaryoda performansın belirgin şekilde yükseldiğini gösterir. Ancak bu artış gerçek kampanya öncesi kullanım için yanıltıcıdır.</a:t>
            </a:r>
          </a:p>
          <a:p>
            <a:pPr algn="l">
              <a:spcAft>
                <a:spcPts val="500"/>
              </a:spcAft>
              <a:defRPr sz="1280">
                <a:solidFill>
                  <a:srgbClr val="4B5563"/>
                </a:solidFill>
                <a:latin typeface="Aptos"/>
              </a:defRPr>
            </a:pPr>
            <a:r>
              <a:t>Görüşme süresi hariç senaryoda Random Forest, duyarlılık ve F1 dengesi açısından daha uygulanabilir bir çözüm sunar; bu nedenle ana model olarak tercih edilmiştir.</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01168"/>
            <a:ext cx="11155680" cy="457200"/>
          </a:xfrm>
          <a:prstGeom prst="rect">
            <a:avLst/>
          </a:prstGeom>
          <a:noFill/>
        </p:spPr>
        <p:txBody>
          <a:bodyPr wrap="square" lIns="73152" rIns="73152" tIns="36576" bIns="36576">
            <a:normAutofit/>
          </a:bodyPr>
          <a:lstStyle/>
          <a:p>
            <a:pPr algn="l"/>
            <a:r>
              <a:rPr sz="2250" b="1">
                <a:solidFill>
                  <a:srgbClr val="1F4E79"/>
                </a:solidFill>
                <a:latin typeface="Aptos"/>
              </a:rPr>
              <a:t>ROC-AUC Karşılaştırması</a:t>
            </a:r>
          </a:p>
        </p:txBody>
      </p:sp>
      <p:sp>
        <p:nvSpPr>
          <p:cNvPr id="3" name="Rectangle 2"/>
          <p:cNvSpPr/>
          <p:nvPr/>
        </p:nvSpPr>
        <p:spPr>
          <a:xfrm>
            <a:off x="502920" y="786384"/>
            <a:ext cx="11155680" cy="3200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565392"/>
            <a:ext cx="8046720" cy="201168"/>
          </a:xfrm>
          <a:prstGeom prst="rect">
            <a:avLst/>
          </a:prstGeom>
          <a:noFill/>
        </p:spPr>
        <p:txBody>
          <a:bodyPr wrap="square" lIns="73152" rIns="73152" tIns="36576" bIns="36576">
            <a:normAutofit/>
          </a:bodyPr>
          <a:lstStyle/>
          <a:p>
            <a:pPr algn="l"/>
            <a:r>
              <a:rPr sz="830" b="0">
                <a:solidFill>
                  <a:srgbClr val="4B5563"/>
                </a:solidFill>
                <a:latin typeface="Aptos"/>
              </a:rPr>
              <a:t>BLM308 Veri Madenciliği Final Projesi</a:t>
            </a:r>
          </a:p>
        </p:txBody>
      </p:sp>
      <p:sp>
        <p:nvSpPr>
          <p:cNvPr id="5" name="TextBox 4"/>
          <p:cNvSpPr txBox="1"/>
          <p:nvPr/>
        </p:nvSpPr>
        <p:spPr>
          <a:xfrm>
            <a:off x="11155680" y="6565392"/>
            <a:ext cx="457200" cy="201168"/>
          </a:xfrm>
          <a:prstGeom prst="rect">
            <a:avLst/>
          </a:prstGeom>
          <a:noFill/>
        </p:spPr>
        <p:txBody>
          <a:bodyPr wrap="square" lIns="73152" rIns="73152" tIns="36576" bIns="36576">
            <a:normAutofit/>
          </a:bodyPr>
          <a:lstStyle/>
          <a:p>
            <a:pPr algn="r"/>
            <a:r>
              <a:rPr sz="830" b="0">
                <a:solidFill>
                  <a:srgbClr val="4B5563"/>
                </a:solidFill>
                <a:latin typeface="Aptos"/>
              </a:rPr>
              <a:t>22</a:t>
            </a:r>
          </a:p>
        </p:txBody>
      </p:sp>
      <p:pic>
        <p:nvPicPr>
          <p:cNvPr id="6" name="Picture 5" descr="model_auc_comparison_turkce.png"/>
          <p:cNvPicPr>
            <a:picLocks noChangeAspect="1"/>
          </p:cNvPicPr>
          <p:nvPr/>
        </p:nvPicPr>
        <p:blipFill>
          <a:blip r:embed="rId2"/>
          <a:stretch>
            <a:fillRect/>
          </a:stretch>
        </p:blipFill>
        <p:spPr>
          <a:xfrm>
            <a:off x="822960" y="1033271"/>
            <a:ext cx="5669280" cy="3188970"/>
          </a:xfrm>
          <a:prstGeom prst="rect">
            <a:avLst/>
          </a:prstGeom>
        </p:spPr>
      </p:pic>
      <p:sp>
        <p:nvSpPr>
          <p:cNvPr id="7" name="TextBox 6"/>
          <p:cNvSpPr txBox="1"/>
          <p:nvPr/>
        </p:nvSpPr>
        <p:spPr>
          <a:xfrm>
            <a:off x="6629400" y="1188720"/>
            <a:ext cx="4617720" cy="3611880"/>
          </a:xfrm>
          <a:prstGeom prst="rect">
            <a:avLst/>
          </a:prstGeom>
          <a:noFill/>
        </p:spPr>
        <p:txBody>
          <a:bodyPr wrap="square" lIns="73152" rIns="73152" tIns="36576" bIns="36576">
            <a:normAutofit/>
          </a:bodyPr>
          <a:lstStyle/>
          <a:p>
            <a:pPr algn="l">
              <a:spcAft>
                <a:spcPts val="500"/>
              </a:spcAft>
              <a:defRPr sz="1320">
                <a:solidFill>
                  <a:srgbClr val="111827"/>
                </a:solidFill>
                <a:latin typeface="Aptos"/>
              </a:defRPr>
            </a:pPr>
            <a:r>
              <a:t>ROC-AUC metriği, modelin abone olan ve olmayan müşterileri ayırt etme gücünü ölçer. Değer 1’e yaklaştıkça modelin sınıfları ayırma becerisi artar.</a:t>
            </a:r>
          </a:p>
          <a:p>
            <a:pPr algn="l">
              <a:spcAft>
                <a:spcPts val="500"/>
              </a:spcAft>
              <a:defRPr sz="1320">
                <a:solidFill>
                  <a:srgbClr val="111827"/>
                </a:solidFill>
                <a:latin typeface="Aptos"/>
              </a:defRPr>
            </a:pPr>
            <a:r>
              <a:t>Grafikte Random Forest ve çok katmanlı algılayıcının benzer ayırt etme gücüne sahip olduğu görülür. Ancak AUC tek başına model seçimi için yeterli değildir; duyarlılık, kesinlik ve açıklanabilirlik de birlikte değerlendirilmelidir.</a:t>
            </a:r>
          </a:p>
          <a:p>
            <a:pPr algn="l">
              <a:spcAft>
                <a:spcPts val="500"/>
              </a:spcAft>
              <a:defRPr sz="1320">
                <a:solidFill>
                  <a:srgbClr val="111827"/>
                </a:solidFill>
                <a:latin typeface="Aptos"/>
              </a:defRPr>
            </a:pPr>
            <a:r>
              <a:t>Random Forest, uygulama senaryosunda daha dengeli yorumlanabilirlik sağladığı için öne çıkar.</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01168"/>
            <a:ext cx="11155680" cy="457200"/>
          </a:xfrm>
          <a:prstGeom prst="rect">
            <a:avLst/>
          </a:prstGeom>
          <a:noFill/>
        </p:spPr>
        <p:txBody>
          <a:bodyPr wrap="square" lIns="73152" rIns="73152" tIns="36576" bIns="36576">
            <a:normAutofit/>
          </a:bodyPr>
          <a:lstStyle/>
          <a:p>
            <a:pPr algn="l"/>
            <a:r>
              <a:rPr sz="2250" b="1">
                <a:solidFill>
                  <a:srgbClr val="1F4E79"/>
                </a:solidFill>
                <a:latin typeface="Aptos"/>
              </a:rPr>
              <a:t>Hata Matrisi: Random Forest</a:t>
            </a:r>
          </a:p>
        </p:txBody>
      </p:sp>
      <p:sp>
        <p:nvSpPr>
          <p:cNvPr id="3" name="Rectangle 2"/>
          <p:cNvSpPr/>
          <p:nvPr/>
        </p:nvSpPr>
        <p:spPr>
          <a:xfrm>
            <a:off x="502920" y="786384"/>
            <a:ext cx="11155680" cy="3200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565392"/>
            <a:ext cx="8046720" cy="201168"/>
          </a:xfrm>
          <a:prstGeom prst="rect">
            <a:avLst/>
          </a:prstGeom>
          <a:noFill/>
        </p:spPr>
        <p:txBody>
          <a:bodyPr wrap="square" lIns="73152" rIns="73152" tIns="36576" bIns="36576">
            <a:normAutofit/>
          </a:bodyPr>
          <a:lstStyle/>
          <a:p>
            <a:pPr algn="l"/>
            <a:r>
              <a:rPr sz="830" b="0">
                <a:solidFill>
                  <a:srgbClr val="4B5563"/>
                </a:solidFill>
                <a:latin typeface="Aptos"/>
              </a:rPr>
              <a:t>BLM308 Veri Madenciliği Final Projesi</a:t>
            </a:r>
          </a:p>
        </p:txBody>
      </p:sp>
      <p:sp>
        <p:nvSpPr>
          <p:cNvPr id="5" name="TextBox 4"/>
          <p:cNvSpPr txBox="1"/>
          <p:nvPr/>
        </p:nvSpPr>
        <p:spPr>
          <a:xfrm>
            <a:off x="11155680" y="6565392"/>
            <a:ext cx="457200" cy="201168"/>
          </a:xfrm>
          <a:prstGeom prst="rect">
            <a:avLst/>
          </a:prstGeom>
          <a:noFill/>
        </p:spPr>
        <p:txBody>
          <a:bodyPr wrap="square" lIns="73152" rIns="73152" tIns="36576" bIns="36576">
            <a:normAutofit/>
          </a:bodyPr>
          <a:lstStyle/>
          <a:p>
            <a:pPr algn="r"/>
            <a:r>
              <a:rPr sz="830" b="0">
                <a:solidFill>
                  <a:srgbClr val="4B5563"/>
                </a:solidFill>
                <a:latin typeface="Aptos"/>
              </a:rPr>
              <a:t>23</a:t>
            </a:r>
          </a:p>
        </p:txBody>
      </p:sp>
      <p:pic>
        <p:nvPicPr>
          <p:cNvPr id="6" name="Picture 5" descr="rf_confusion_matrix.png"/>
          <p:cNvPicPr>
            <a:picLocks noChangeAspect="1"/>
          </p:cNvPicPr>
          <p:nvPr/>
        </p:nvPicPr>
        <p:blipFill>
          <a:blip r:embed="rId2"/>
          <a:stretch>
            <a:fillRect/>
          </a:stretch>
        </p:blipFill>
        <p:spPr>
          <a:xfrm>
            <a:off x="868680" y="1078992"/>
            <a:ext cx="4526280" cy="3703320"/>
          </a:xfrm>
          <a:prstGeom prst="rect">
            <a:avLst/>
          </a:prstGeom>
        </p:spPr>
      </p:pic>
      <p:sp>
        <p:nvSpPr>
          <p:cNvPr id="7" name="TextBox 6"/>
          <p:cNvSpPr txBox="1"/>
          <p:nvPr/>
        </p:nvSpPr>
        <p:spPr>
          <a:xfrm>
            <a:off x="5897880" y="1188720"/>
            <a:ext cx="5349240" cy="3566160"/>
          </a:xfrm>
          <a:prstGeom prst="rect">
            <a:avLst/>
          </a:prstGeom>
          <a:noFill/>
        </p:spPr>
        <p:txBody>
          <a:bodyPr wrap="square" lIns="73152" rIns="73152" tIns="36576" bIns="36576">
            <a:normAutofit/>
          </a:bodyPr>
          <a:lstStyle/>
          <a:p>
            <a:pPr algn="l">
              <a:spcAft>
                <a:spcPts val="500"/>
              </a:spcAft>
              <a:defRPr sz="1320">
                <a:solidFill>
                  <a:srgbClr val="111827"/>
                </a:solidFill>
                <a:latin typeface="Aptos"/>
              </a:defRPr>
            </a:pPr>
            <a:r>
              <a:t>Hata matrisi, modelin doğru ve yanlış tahminlerini sınıf bazında gösterir. Bu görsel, yalnızca toplam başarıyı değil, hataların hangi yönde yoğunlaştığını anlamaya yardımcı olur.</a:t>
            </a:r>
          </a:p>
          <a:p>
            <a:pPr algn="l">
              <a:spcAft>
                <a:spcPts val="500"/>
              </a:spcAft>
              <a:defRPr sz="1320">
                <a:solidFill>
                  <a:srgbClr val="111827"/>
                </a:solidFill>
                <a:latin typeface="Aptos"/>
              </a:defRPr>
            </a:pPr>
            <a:r>
              <a:t>Bankacılık senaryosunda iki hata türünün maliyeti farklıdır. Abone olabilecek bir müşteriyi düşük ihtimal olarak görmek fırsat kaybına yol açabilir. Abone olmayacak bir müşteriyi yüksek ihtimal olarak görmek ise gereksiz arama maliyeti oluşturur.</a:t>
            </a:r>
          </a:p>
          <a:p>
            <a:pPr algn="l">
              <a:spcAft>
                <a:spcPts val="500"/>
              </a:spcAft>
              <a:defRPr sz="1320">
                <a:solidFill>
                  <a:srgbClr val="111827"/>
                </a:solidFill>
                <a:latin typeface="Aptos"/>
              </a:defRPr>
            </a:pPr>
            <a:r>
              <a:t>Bu nedenle hata matrisi, modelin kampanya stratejisine nasıl entegre edileceğini tartışmak için önemlidir.</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01168"/>
            <a:ext cx="11155680" cy="457200"/>
          </a:xfrm>
          <a:prstGeom prst="rect">
            <a:avLst/>
          </a:prstGeom>
          <a:noFill/>
        </p:spPr>
        <p:txBody>
          <a:bodyPr wrap="square" lIns="73152" rIns="73152" tIns="36576" bIns="36576">
            <a:normAutofit/>
          </a:bodyPr>
          <a:lstStyle/>
          <a:p>
            <a:pPr algn="l"/>
            <a:r>
              <a:rPr sz="2250" b="1">
                <a:solidFill>
                  <a:srgbClr val="1F4E79"/>
                </a:solidFill>
                <a:latin typeface="Aptos"/>
              </a:rPr>
              <a:t>McNemar Testi ile İstatistiksel Değerlendirme</a:t>
            </a:r>
          </a:p>
        </p:txBody>
      </p:sp>
      <p:sp>
        <p:nvSpPr>
          <p:cNvPr id="3" name="Rectangle 2"/>
          <p:cNvSpPr/>
          <p:nvPr/>
        </p:nvSpPr>
        <p:spPr>
          <a:xfrm>
            <a:off x="502920" y="786384"/>
            <a:ext cx="11155680" cy="3200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565392"/>
            <a:ext cx="8046720" cy="201168"/>
          </a:xfrm>
          <a:prstGeom prst="rect">
            <a:avLst/>
          </a:prstGeom>
          <a:noFill/>
        </p:spPr>
        <p:txBody>
          <a:bodyPr wrap="square" lIns="73152" rIns="73152" tIns="36576" bIns="36576">
            <a:normAutofit/>
          </a:bodyPr>
          <a:lstStyle/>
          <a:p>
            <a:pPr algn="l"/>
            <a:r>
              <a:rPr sz="830" b="0">
                <a:solidFill>
                  <a:srgbClr val="4B5563"/>
                </a:solidFill>
                <a:latin typeface="Aptos"/>
              </a:rPr>
              <a:t>BLM308 Veri Madenciliği Final Projesi</a:t>
            </a:r>
          </a:p>
        </p:txBody>
      </p:sp>
      <p:sp>
        <p:nvSpPr>
          <p:cNvPr id="5" name="TextBox 4"/>
          <p:cNvSpPr txBox="1"/>
          <p:nvPr/>
        </p:nvSpPr>
        <p:spPr>
          <a:xfrm>
            <a:off x="11155680" y="6565392"/>
            <a:ext cx="457200" cy="201168"/>
          </a:xfrm>
          <a:prstGeom prst="rect">
            <a:avLst/>
          </a:prstGeom>
          <a:noFill/>
        </p:spPr>
        <p:txBody>
          <a:bodyPr wrap="square" lIns="73152" rIns="73152" tIns="36576" bIns="36576">
            <a:normAutofit/>
          </a:bodyPr>
          <a:lstStyle/>
          <a:p>
            <a:pPr algn="r"/>
            <a:r>
              <a:rPr sz="830" b="0">
                <a:solidFill>
                  <a:srgbClr val="4B5563"/>
                </a:solidFill>
                <a:latin typeface="Aptos"/>
              </a:rPr>
              <a:t>24</a:t>
            </a:r>
          </a:p>
        </p:txBody>
      </p:sp>
      <p:sp>
        <p:nvSpPr>
          <p:cNvPr id="6" name="Rounded Rectangle 5"/>
          <p:cNvSpPr/>
          <p:nvPr/>
        </p:nvSpPr>
        <p:spPr>
          <a:xfrm>
            <a:off x="685800" y="1143000"/>
            <a:ext cx="5440680" cy="1600200"/>
          </a:xfrm>
          <a:prstGeom prst="roundRect">
            <a:avLst/>
          </a:prstGeom>
          <a:solidFill>
            <a:srgbClr val="F5F7FA"/>
          </a:solidFill>
          <a:ln w="1397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91440" bIns="36576">
            <a:normAutofit/>
          </a:bodyPr>
          <a:lstStyle/>
          <a:p>
            <a:pPr algn="ctr"/>
            <a:r>
              <a:rPr sz="1360" b="1">
                <a:solidFill>
                  <a:srgbClr val="2563EB"/>
                </a:solidFill>
                <a:latin typeface="Aptos"/>
              </a:rPr>
              <a:t>Test sonucu</a:t>
            </a:r>
          </a:p>
          <a:p>
            <a:pPr>
              <a:spcBef>
                <a:spcPts val="400"/>
              </a:spcBef>
              <a:defRPr sz="1190">
                <a:solidFill>
                  <a:srgbClr val="111827"/>
                </a:solidFill>
                <a:latin typeface="Aptos"/>
              </a:defRPr>
            </a:pPr>
            <a:r>
              <a:t>Random Forest ve Çok Katmanlı Algılayıcı aynı test örnekleri üzerinde karşılaştırılmıştır.</a:t>
            </a:r>
            <a:br/>
            <a:r>
              <a:t>b = 450 · c = 819 · χ² = 106.717 · p &lt; 0.001</a:t>
            </a:r>
          </a:p>
        </p:txBody>
      </p:sp>
      <p:sp>
        <p:nvSpPr>
          <p:cNvPr id="7" name="TextBox 6"/>
          <p:cNvSpPr txBox="1"/>
          <p:nvPr/>
        </p:nvSpPr>
        <p:spPr>
          <a:xfrm>
            <a:off x="6492240" y="1143000"/>
            <a:ext cx="4754880" cy="2542032"/>
          </a:xfrm>
          <a:prstGeom prst="rect">
            <a:avLst/>
          </a:prstGeom>
          <a:noFill/>
        </p:spPr>
        <p:txBody>
          <a:bodyPr wrap="square" lIns="73152" rIns="73152" tIns="36576" bIns="36576">
            <a:normAutofit/>
          </a:bodyPr>
          <a:lstStyle/>
          <a:p>
            <a:pPr algn="l">
              <a:spcAft>
                <a:spcPts val="500"/>
              </a:spcAft>
              <a:defRPr sz="1290">
                <a:solidFill>
                  <a:srgbClr val="111827"/>
                </a:solidFill>
                <a:latin typeface="Aptos"/>
              </a:defRPr>
            </a:pPr>
            <a:r>
              <a:t>McNemar testi, iki sınıflandırıcının aynı örneklerde yaptığı hataların rastlantısal olarak aynı kabul edilip edilemeyeceğini inceler.</a:t>
            </a:r>
          </a:p>
          <a:p>
            <a:pPr algn="l">
              <a:spcAft>
                <a:spcPts val="500"/>
              </a:spcAft>
              <a:defRPr sz="1290">
                <a:solidFill>
                  <a:srgbClr val="111827"/>
                </a:solidFill>
                <a:latin typeface="Aptos"/>
              </a:defRPr>
            </a:pPr>
            <a:r>
              <a:t>p-değerinin 0.001’den küçük olması, iki modelin hata davranışları arasında istatistiksel olarak anlamlı bir fark bulunduğunu gösterir.</a:t>
            </a:r>
          </a:p>
          <a:p>
            <a:pPr algn="l">
              <a:spcAft>
                <a:spcPts val="500"/>
              </a:spcAft>
              <a:defRPr sz="1290">
                <a:solidFill>
                  <a:srgbClr val="111827"/>
                </a:solidFill>
                <a:latin typeface="Aptos"/>
              </a:defRPr>
            </a:pPr>
            <a:r>
              <a:t>Bu sonuç, model karşılaştırmasının yalnızca metrik tablosuna dayanmadığını; istatistiksel analizle desteklendiğini gösterir.</a:t>
            </a:r>
          </a:p>
        </p:txBody>
      </p:sp>
      <p:sp>
        <p:nvSpPr>
          <p:cNvPr id="8" name="TextBox 7"/>
          <p:cNvSpPr txBox="1"/>
          <p:nvPr/>
        </p:nvSpPr>
        <p:spPr>
          <a:xfrm>
            <a:off x="868680" y="4069080"/>
            <a:ext cx="10424160" cy="1051560"/>
          </a:xfrm>
          <a:prstGeom prst="rect">
            <a:avLst/>
          </a:prstGeom>
          <a:noFill/>
        </p:spPr>
        <p:txBody>
          <a:bodyPr wrap="square" lIns="73152" rIns="73152" tIns="36576" bIns="36576">
            <a:normAutofit/>
          </a:bodyPr>
          <a:lstStyle/>
          <a:p>
            <a:pPr>
              <a:spcAft>
                <a:spcPts val="450"/>
              </a:spcAft>
              <a:defRPr sz="1380">
                <a:solidFill>
                  <a:srgbClr val="111827"/>
                </a:solidFill>
                <a:latin typeface="Aptos"/>
              </a:defRPr>
            </a:pPr>
            <a:r>
              <a:t>Yönergedeki bonus beklentilere uygun olarak istatistiksel karşılaştırma yapılmıştır.</a:t>
            </a:r>
          </a:p>
          <a:p>
            <a:pPr>
              <a:spcAft>
                <a:spcPts val="450"/>
              </a:spcAft>
              <a:defRPr sz="1380">
                <a:solidFill>
                  <a:srgbClr val="111827"/>
                </a:solidFill>
                <a:latin typeface="Aptos"/>
              </a:defRPr>
            </a:pPr>
            <a:r>
              <a:t>Analiz, model seçiminin daha savunulabilir hale gelmesine katkı sağlar.</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01168"/>
            <a:ext cx="11155680" cy="457200"/>
          </a:xfrm>
          <a:prstGeom prst="rect">
            <a:avLst/>
          </a:prstGeom>
          <a:noFill/>
        </p:spPr>
        <p:txBody>
          <a:bodyPr wrap="square" lIns="73152" rIns="73152" tIns="36576" bIns="36576">
            <a:normAutofit/>
          </a:bodyPr>
          <a:lstStyle/>
          <a:p>
            <a:pPr algn="l"/>
            <a:r>
              <a:rPr sz="2250" b="1">
                <a:solidFill>
                  <a:srgbClr val="1F4E79"/>
                </a:solidFill>
                <a:latin typeface="Aptos"/>
              </a:rPr>
              <a:t>Model Seçimi: Neden Random Forest?</a:t>
            </a:r>
          </a:p>
        </p:txBody>
      </p:sp>
      <p:sp>
        <p:nvSpPr>
          <p:cNvPr id="3" name="Rectangle 2"/>
          <p:cNvSpPr/>
          <p:nvPr/>
        </p:nvSpPr>
        <p:spPr>
          <a:xfrm>
            <a:off x="502920" y="786384"/>
            <a:ext cx="11155680" cy="3200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565392"/>
            <a:ext cx="8046720" cy="201168"/>
          </a:xfrm>
          <a:prstGeom prst="rect">
            <a:avLst/>
          </a:prstGeom>
          <a:noFill/>
        </p:spPr>
        <p:txBody>
          <a:bodyPr wrap="square" lIns="73152" rIns="73152" tIns="36576" bIns="36576">
            <a:normAutofit/>
          </a:bodyPr>
          <a:lstStyle/>
          <a:p>
            <a:pPr algn="l"/>
            <a:r>
              <a:rPr sz="830" b="0">
                <a:solidFill>
                  <a:srgbClr val="4B5563"/>
                </a:solidFill>
                <a:latin typeface="Aptos"/>
              </a:rPr>
              <a:t>BLM308 Veri Madenciliği Final Projesi</a:t>
            </a:r>
          </a:p>
        </p:txBody>
      </p:sp>
      <p:sp>
        <p:nvSpPr>
          <p:cNvPr id="5" name="TextBox 4"/>
          <p:cNvSpPr txBox="1"/>
          <p:nvPr/>
        </p:nvSpPr>
        <p:spPr>
          <a:xfrm>
            <a:off x="11155680" y="6565392"/>
            <a:ext cx="457200" cy="201168"/>
          </a:xfrm>
          <a:prstGeom prst="rect">
            <a:avLst/>
          </a:prstGeom>
          <a:noFill/>
        </p:spPr>
        <p:txBody>
          <a:bodyPr wrap="square" lIns="73152" rIns="73152" tIns="36576" bIns="36576">
            <a:normAutofit/>
          </a:bodyPr>
          <a:lstStyle/>
          <a:p>
            <a:pPr algn="r"/>
            <a:r>
              <a:rPr sz="830" b="0">
                <a:solidFill>
                  <a:srgbClr val="4B5563"/>
                </a:solidFill>
                <a:latin typeface="Aptos"/>
              </a:rPr>
              <a:t>25</a:t>
            </a:r>
          </a:p>
        </p:txBody>
      </p:sp>
      <p:graphicFrame>
        <p:nvGraphicFramePr>
          <p:cNvPr id="6" name="Table 5"/>
          <p:cNvGraphicFramePr>
            <a:graphicFrameLocks noGrp="1"/>
          </p:cNvGraphicFramePr>
          <p:nvPr/>
        </p:nvGraphicFramePr>
        <p:xfrm>
          <a:off x="594360" y="1143000"/>
          <a:ext cx="10972800" cy="2606040"/>
        </p:xfrm>
        <a:graphic>
          <a:graphicData uri="http://schemas.openxmlformats.org/drawingml/2006/table">
            <a:tbl>
              <a:tblPr firstRow="1" bandRow="1">
                <a:tableStyleId>{5C22544A-7EE6-4342-B048-85BDC9FD1C3A}</a:tableStyleId>
              </a:tblPr>
              <a:tblGrid>
                <a:gridCol w="5486400"/>
                <a:gridCol w="5486400"/>
              </a:tblGrid>
              <a:tr h="521208">
                <a:tc>
                  <a:txBody>
                    <a:bodyPr/>
                    <a:lstStyle/>
                    <a:p>
                      <a:pPr algn="ctr">
                        <a:defRPr sz="1090">
                          <a:solidFill>
                            <a:srgbClr val="FFFFFF"/>
                          </a:solidFill>
                          <a:latin typeface="Aptos"/>
                        </a:defRPr>
                      </a:pPr>
                      <a:r>
                        <a:t>Ölçüt</a:t>
                      </a:r>
                    </a:p>
                  </a:txBody>
                  <a:tcPr>
                    <a:solidFill>
                      <a:srgbClr val="1F4E79"/>
                    </a:solidFill>
                  </a:tcPr>
                </a:tc>
                <a:tc>
                  <a:txBody>
                    <a:bodyPr/>
                    <a:lstStyle/>
                    <a:p>
                      <a:pPr algn="ctr">
                        <a:defRPr sz="1090">
                          <a:solidFill>
                            <a:srgbClr val="FFFFFF"/>
                          </a:solidFill>
                          <a:latin typeface="Aptos"/>
                        </a:defRPr>
                      </a:pPr>
                      <a:r>
                        <a:t>Random Forest değerlendirmesi</a:t>
                      </a:r>
                    </a:p>
                  </a:txBody>
                  <a:tcPr>
                    <a:solidFill>
                      <a:srgbClr val="1F4E79"/>
                    </a:solidFill>
                  </a:tcPr>
                </a:tc>
              </a:tr>
              <a:tr h="521208">
                <a:tc>
                  <a:txBody>
                    <a:bodyPr/>
                    <a:lstStyle/>
                    <a:p>
                      <a:pPr algn="ctr">
                        <a:defRPr sz="1090">
                          <a:solidFill>
                            <a:srgbClr val="111827"/>
                          </a:solidFill>
                          <a:latin typeface="Aptos"/>
                        </a:defRPr>
                      </a:pPr>
                      <a:r>
                        <a:t>Performans</a:t>
                      </a:r>
                    </a:p>
                  </a:txBody>
                  <a:tcPr>
                    <a:solidFill>
                      <a:srgbClr val="F8FAFC"/>
                    </a:solidFill>
                  </a:tcPr>
                </a:tc>
                <a:tc>
                  <a:txBody>
                    <a:bodyPr/>
                    <a:lstStyle/>
                    <a:p>
                      <a:pPr algn="ctr">
                        <a:defRPr sz="1090">
                          <a:solidFill>
                            <a:srgbClr val="111827"/>
                          </a:solidFill>
                          <a:latin typeface="Aptos"/>
                        </a:defRPr>
                      </a:pPr>
                      <a:r>
                        <a:t>Görüşme süresi hariç senaryoda dengeli F1 ve duyarlılık sunar.</a:t>
                      </a:r>
                    </a:p>
                  </a:txBody>
                  <a:tcPr>
                    <a:solidFill>
                      <a:srgbClr val="F8FAFC"/>
                    </a:solidFill>
                  </a:tcPr>
                </a:tc>
              </a:tr>
              <a:tr h="521208">
                <a:tc>
                  <a:txBody>
                    <a:bodyPr/>
                    <a:lstStyle/>
                    <a:p>
                      <a:pPr algn="ctr">
                        <a:defRPr sz="1090">
                          <a:solidFill>
                            <a:srgbClr val="111827"/>
                          </a:solidFill>
                          <a:latin typeface="Aptos"/>
                        </a:defRPr>
                      </a:pPr>
                      <a:r>
                        <a:t>Açıklanabilirlik</a:t>
                      </a:r>
                    </a:p>
                  </a:txBody>
                  <a:tcPr>
                    <a:solidFill>
                      <a:srgbClr val="F8FAFC"/>
                    </a:solidFill>
                  </a:tcPr>
                </a:tc>
                <a:tc>
                  <a:txBody>
                    <a:bodyPr/>
                    <a:lstStyle/>
                    <a:p>
                      <a:pPr algn="ctr">
                        <a:defRPr sz="1090">
                          <a:solidFill>
                            <a:srgbClr val="111827"/>
                          </a:solidFill>
                          <a:latin typeface="Aptos"/>
                        </a:defRPr>
                      </a:pPr>
                      <a:r>
                        <a:t>Değişken önemleri, SHAP/LIME yorumlarıyla desteklenebilir.</a:t>
                      </a:r>
                    </a:p>
                  </a:txBody>
                  <a:tcPr>
                    <a:solidFill>
                      <a:srgbClr val="F8FAFC"/>
                    </a:solidFill>
                  </a:tcPr>
                </a:tc>
              </a:tr>
              <a:tr h="521208">
                <a:tc>
                  <a:txBody>
                    <a:bodyPr/>
                    <a:lstStyle/>
                    <a:p>
                      <a:pPr algn="ctr">
                        <a:defRPr sz="1090">
                          <a:solidFill>
                            <a:srgbClr val="111827"/>
                          </a:solidFill>
                          <a:latin typeface="Aptos"/>
                        </a:defRPr>
                      </a:pPr>
                      <a:r>
                        <a:t>Kararlılık</a:t>
                      </a:r>
                    </a:p>
                  </a:txBody>
                  <a:tcPr>
                    <a:solidFill>
                      <a:srgbClr val="F8FAFC"/>
                    </a:solidFill>
                  </a:tcPr>
                </a:tc>
                <a:tc>
                  <a:txBody>
                    <a:bodyPr/>
                    <a:lstStyle/>
                    <a:p>
                      <a:pPr algn="ctr">
                        <a:defRPr sz="1090">
                          <a:solidFill>
                            <a:srgbClr val="111827"/>
                          </a:solidFill>
                          <a:latin typeface="Aptos"/>
                        </a:defRPr>
                      </a:pPr>
                      <a:r>
                        <a:t>Birden fazla karar ağacını birleştirdiği için tek ağaca göre daha dayanıklıdır.</a:t>
                      </a:r>
                    </a:p>
                  </a:txBody>
                  <a:tcPr>
                    <a:solidFill>
                      <a:srgbClr val="F8FAFC"/>
                    </a:solidFill>
                  </a:tcPr>
                </a:tc>
              </a:tr>
              <a:tr h="521208">
                <a:tc>
                  <a:txBody>
                    <a:bodyPr/>
                    <a:lstStyle/>
                    <a:p>
                      <a:pPr algn="ctr">
                        <a:defRPr sz="1090">
                          <a:solidFill>
                            <a:srgbClr val="111827"/>
                          </a:solidFill>
                          <a:latin typeface="Aptos"/>
                        </a:defRPr>
                      </a:pPr>
                      <a:r>
                        <a:t>Uygulama uyumu</a:t>
                      </a:r>
                    </a:p>
                  </a:txBody>
                  <a:tcPr>
                    <a:solidFill>
                      <a:srgbClr val="F8FAFC"/>
                    </a:solidFill>
                  </a:tcPr>
                </a:tc>
                <a:tc>
                  <a:txBody>
                    <a:bodyPr/>
                    <a:lstStyle/>
                    <a:p>
                      <a:pPr algn="ctr">
                        <a:defRPr sz="1090">
                          <a:solidFill>
                            <a:srgbClr val="111827"/>
                          </a:solidFill>
                          <a:latin typeface="Aptos"/>
                        </a:defRPr>
                      </a:pPr>
                      <a:r>
                        <a:t>Streamlit arayüzünde hızlı tahmin üretmeye uygundur.</a:t>
                      </a:r>
                    </a:p>
                  </a:txBody>
                  <a:tcPr>
                    <a:solidFill>
                      <a:srgbClr val="F8FAFC"/>
                    </a:solidFill>
                  </a:tcPr>
                </a:tc>
              </a:tr>
            </a:tbl>
          </a:graphicData>
        </a:graphic>
      </p:graphicFrame>
      <p:sp>
        <p:nvSpPr>
          <p:cNvPr id="7" name="TextBox 6"/>
          <p:cNvSpPr txBox="1"/>
          <p:nvPr/>
        </p:nvSpPr>
        <p:spPr>
          <a:xfrm>
            <a:off x="777240" y="4160520"/>
            <a:ext cx="10607040" cy="932688"/>
          </a:xfrm>
          <a:prstGeom prst="rect">
            <a:avLst/>
          </a:prstGeom>
          <a:noFill/>
        </p:spPr>
        <p:txBody>
          <a:bodyPr wrap="square" lIns="73152" rIns="73152" tIns="36576" bIns="36576">
            <a:normAutofit/>
          </a:bodyPr>
          <a:lstStyle/>
          <a:p>
            <a:pPr algn="l">
              <a:spcAft>
                <a:spcPts val="500"/>
              </a:spcAft>
              <a:defRPr sz="1350">
                <a:solidFill>
                  <a:srgbClr val="4B5563"/>
                </a:solidFill>
                <a:latin typeface="Aptos"/>
              </a:defRPr>
            </a:pPr>
            <a:r>
              <a:t>Çok katmanlı algılayıcı bazı metriklerde güçlü görünse de pozitif sınıfı yakalama bakımından daha sınırlı kalmıştır. Banka kampanyasında potansiyel müşterileri kaçırmak önemli olduğundan Random Forest daha dengeli ve açıklanabilir bir ana model olarak seçilmiştir.</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1F4E79"/>
        </a:solidFill>
        <a:effectLst/>
      </p:bgPr>
    </p:bg>
    <p:spTree>
      <p:nvGrpSpPr>
        <p:cNvPr id="1" name=""/>
        <p:cNvGrpSpPr/>
        <p:nvPr/>
      </p:nvGrpSpPr>
      <p:grpSpPr/>
      <p:sp>
        <p:nvSpPr>
          <p:cNvPr id="2" name="TextBox 1"/>
          <p:cNvSpPr txBox="1"/>
          <p:nvPr/>
        </p:nvSpPr>
        <p:spPr>
          <a:xfrm>
            <a:off x="685800" y="1325880"/>
            <a:ext cx="10789920" cy="640080"/>
          </a:xfrm>
          <a:prstGeom prst="rect">
            <a:avLst/>
          </a:prstGeom>
          <a:noFill/>
        </p:spPr>
        <p:txBody>
          <a:bodyPr wrap="square" lIns="73152" rIns="73152" tIns="36576" bIns="36576">
            <a:normAutofit/>
          </a:bodyPr>
          <a:lstStyle/>
          <a:p>
            <a:pPr algn="l"/>
            <a:r>
              <a:rPr sz="3400" b="1">
                <a:solidFill>
                  <a:srgbClr val="FFFFFF"/>
                </a:solidFill>
                <a:latin typeface="Aptos"/>
              </a:rPr>
              <a:t>6. Açıklanabilirlik Analizi</a:t>
            </a:r>
          </a:p>
        </p:txBody>
      </p:sp>
      <p:sp>
        <p:nvSpPr>
          <p:cNvPr id="3" name="TextBox 2"/>
          <p:cNvSpPr txBox="1"/>
          <p:nvPr/>
        </p:nvSpPr>
        <p:spPr>
          <a:xfrm>
            <a:off x="713232" y="2121408"/>
            <a:ext cx="10424160" cy="548640"/>
          </a:xfrm>
          <a:prstGeom prst="rect">
            <a:avLst/>
          </a:prstGeom>
          <a:noFill/>
        </p:spPr>
        <p:txBody>
          <a:bodyPr wrap="square" lIns="73152" rIns="73152" tIns="36576" bIns="36576">
            <a:normAutofit/>
          </a:bodyPr>
          <a:lstStyle/>
          <a:p>
            <a:pPr algn="l"/>
            <a:r>
              <a:rPr sz="1850" b="0">
                <a:solidFill>
                  <a:srgbClr val="DBEAFE"/>
                </a:solidFill>
                <a:latin typeface="Aptos"/>
              </a:rPr>
              <a:t>Modelin ne tahmin ettiği kadar, bu tahmini hangi gerekçelerle yaptığı da incelenmiştir.</a:t>
            </a:r>
          </a:p>
        </p:txBody>
      </p:sp>
      <p:sp>
        <p:nvSpPr>
          <p:cNvPr id="4" name="TextBox 3"/>
          <p:cNvSpPr txBox="1"/>
          <p:nvPr/>
        </p:nvSpPr>
        <p:spPr>
          <a:xfrm>
            <a:off x="731520" y="2953512"/>
            <a:ext cx="10104120" cy="1572768"/>
          </a:xfrm>
          <a:prstGeom prst="rect">
            <a:avLst/>
          </a:prstGeom>
          <a:noFill/>
        </p:spPr>
        <p:txBody>
          <a:bodyPr wrap="square" lIns="73152" rIns="73152" tIns="36576" bIns="36576">
            <a:normAutofit/>
          </a:bodyPr>
          <a:lstStyle/>
          <a:p>
            <a:pPr algn="l">
              <a:spcAft>
                <a:spcPts val="600"/>
              </a:spcAft>
              <a:defRPr sz="1460">
                <a:solidFill>
                  <a:srgbClr val="FFFFFF"/>
                </a:solidFill>
                <a:latin typeface="Aptos"/>
              </a:defRPr>
            </a:pPr>
            <a:r>
              <a:t>Açıklanabilirlik bölümü, seçilen proje başlığının merkezidir. Kara kutu bir modelin kararlarını kullanıcıya anlaşılır biçimde sunmak, modelin gerçek karar destek sürecinde kullanılabilmesi için gereklidir.</a:t>
            </a:r>
          </a:p>
          <a:p>
            <a:pPr algn="l">
              <a:spcAft>
                <a:spcPts val="600"/>
              </a:spcAft>
              <a:defRPr sz="1460">
                <a:solidFill>
                  <a:srgbClr val="FFFFFF"/>
                </a:solidFill>
                <a:latin typeface="Aptos"/>
              </a:defRPr>
            </a:pPr>
            <a:r>
              <a:t>Projede hem model geneli için değişken etkileri hem de tek müşteri örneği için yerel açıklama üretilmiştir.</a:t>
            </a:r>
          </a:p>
        </p:txBody>
      </p:sp>
      <p:sp>
        <p:nvSpPr>
          <p:cNvPr id="5" name="TextBox 4"/>
          <p:cNvSpPr txBox="1"/>
          <p:nvPr/>
        </p:nvSpPr>
        <p:spPr>
          <a:xfrm>
            <a:off x="502920" y="6565392"/>
            <a:ext cx="8046720" cy="201168"/>
          </a:xfrm>
          <a:prstGeom prst="rect">
            <a:avLst/>
          </a:prstGeom>
          <a:noFill/>
        </p:spPr>
        <p:txBody>
          <a:bodyPr wrap="square" lIns="73152" rIns="73152" tIns="36576" bIns="36576">
            <a:normAutofit/>
          </a:bodyPr>
          <a:lstStyle/>
          <a:p>
            <a:pPr algn="l"/>
            <a:r>
              <a:rPr sz="830" b="0">
                <a:solidFill>
                  <a:srgbClr val="4B5563"/>
                </a:solidFill>
                <a:latin typeface="Aptos"/>
              </a:rPr>
              <a:t>BLM308 Veri Madenciliği Final Projesi</a:t>
            </a:r>
          </a:p>
        </p:txBody>
      </p:sp>
      <p:sp>
        <p:nvSpPr>
          <p:cNvPr id="6" name="TextBox 5"/>
          <p:cNvSpPr txBox="1"/>
          <p:nvPr/>
        </p:nvSpPr>
        <p:spPr>
          <a:xfrm>
            <a:off x="11155680" y="6565392"/>
            <a:ext cx="457200" cy="201168"/>
          </a:xfrm>
          <a:prstGeom prst="rect">
            <a:avLst/>
          </a:prstGeom>
          <a:noFill/>
        </p:spPr>
        <p:txBody>
          <a:bodyPr wrap="square" lIns="73152" rIns="73152" tIns="36576" bIns="36576">
            <a:normAutofit/>
          </a:bodyPr>
          <a:lstStyle/>
          <a:p>
            <a:pPr algn="r"/>
            <a:r>
              <a:rPr sz="830" b="0">
                <a:solidFill>
                  <a:srgbClr val="4B5563"/>
                </a:solidFill>
                <a:latin typeface="Aptos"/>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01168"/>
            <a:ext cx="11155680" cy="457200"/>
          </a:xfrm>
          <a:prstGeom prst="rect">
            <a:avLst/>
          </a:prstGeom>
          <a:noFill/>
        </p:spPr>
        <p:txBody>
          <a:bodyPr wrap="square" lIns="73152" rIns="73152" tIns="36576" bIns="36576">
            <a:normAutofit/>
          </a:bodyPr>
          <a:lstStyle/>
          <a:p>
            <a:pPr algn="l"/>
            <a:r>
              <a:rPr sz="2250" b="1">
                <a:solidFill>
                  <a:srgbClr val="1F4E79"/>
                </a:solidFill>
                <a:latin typeface="Aptos"/>
              </a:rPr>
              <a:t>Küresel Açıklama: Genel Karar Faktörleri</a:t>
            </a:r>
          </a:p>
        </p:txBody>
      </p:sp>
      <p:sp>
        <p:nvSpPr>
          <p:cNvPr id="3" name="Rectangle 2"/>
          <p:cNvSpPr/>
          <p:nvPr/>
        </p:nvSpPr>
        <p:spPr>
          <a:xfrm>
            <a:off x="502920" y="786384"/>
            <a:ext cx="11155680" cy="3200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565392"/>
            <a:ext cx="8046720" cy="201168"/>
          </a:xfrm>
          <a:prstGeom prst="rect">
            <a:avLst/>
          </a:prstGeom>
          <a:noFill/>
        </p:spPr>
        <p:txBody>
          <a:bodyPr wrap="square" lIns="73152" rIns="73152" tIns="36576" bIns="36576">
            <a:normAutofit/>
          </a:bodyPr>
          <a:lstStyle/>
          <a:p>
            <a:pPr algn="l"/>
            <a:r>
              <a:rPr sz="830" b="0">
                <a:solidFill>
                  <a:srgbClr val="4B5563"/>
                </a:solidFill>
                <a:latin typeface="Aptos"/>
              </a:rPr>
              <a:t>BLM308 Veri Madenciliği Final Projesi</a:t>
            </a:r>
          </a:p>
        </p:txBody>
      </p:sp>
      <p:sp>
        <p:nvSpPr>
          <p:cNvPr id="5" name="TextBox 4"/>
          <p:cNvSpPr txBox="1"/>
          <p:nvPr/>
        </p:nvSpPr>
        <p:spPr>
          <a:xfrm>
            <a:off x="11155680" y="6565392"/>
            <a:ext cx="457200" cy="201168"/>
          </a:xfrm>
          <a:prstGeom prst="rect">
            <a:avLst/>
          </a:prstGeom>
          <a:noFill/>
        </p:spPr>
        <p:txBody>
          <a:bodyPr wrap="square" lIns="73152" rIns="73152" tIns="36576" bIns="36576">
            <a:normAutofit/>
          </a:bodyPr>
          <a:lstStyle/>
          <a:p>
            <a:pPr algn="r"/>
            <a:r>
              <a:rPr sz="830" b="0">
                <a:solidFill>
                  <a:srgbClr val="4B5563"/>
                </a:solidFill>
                <a:latin typeface="Aptos"/>
              </a:rPr>
              <a:t>27</a:t>
            </a:r>
          </a:p>
        </p:txBody>
      </p:sp>
      <p:pic>
        <p:nvPicPr>
          <p:cNvPr id="6" name="Picture 5" descr="rf_feature_importance_from_explain.png"/>
          <p:cNvPicPr>
            <a:picLocks noChangeAspect="1"/>
          </p:cNvPicPr>
          <p:nvPr/>
        </p:nvPicPr>
        <p:blipFill>
          <a:blip r:embed="rId2"/>
          <a:stretch>
            <a:fillRect/>
          </a:stretch>
        </p:blipFill>
        <p:spPr>
          <a:xfrm>
            <a:off x="640080" y="1024128"/>
            <a:ext cx="5897880" cy="3686175"/>
          </a:xfrm>
          <a:prstGeom prst="rect">
            <a:avLst/>
          </a:prstGeom>
        </p:spPr>
      </p:pic>
      <p:sp>
        <p:nvSpPr>
          <p:cNvPr id="7" name="TextBox 6"/>
          <p:cNvSpPr txBox="1"/>
          <p:nvPr/>
        </p:nvSpPr>
        <p:spPr>
          <a:xfrm>
            <a:off x="6812280" y="1097280"/>
            <a:ext cx="4434840" cy="3794760"/>
          </a:xfrm>
          <a:prstGeom prst="rect">
            <a:avLst/>
          </a:prstGeom>
          <a:noFill/>
        </p:spPr>
        <p:txBody>
          <a:bodyPr wrap="square" lIns="73152" rIns="73152" tIns="36576" bIns="36576">
            <a:normAutofit/>
          </a:bodyPr>
          <a:lstStyle/>
          <a:p>
            <a:pPr algn="l">
              <a:spcAft>
                <a:spcPts val="500"/>
              </a:spcAft>
              <a:defRPr sz="1290">
                <a:solidFill>
                  <a:srgbClr val="111827"/>
                </a:solidFill>
                <a:latin typeface="Aptos"/>
              </a:defRPr>
            </a:pPr>
            <a:r>
              <a:t>Küresel açıklama, modelin tüm veri seti genelinde hangi değişkenlere daha fazla ağırlık verdiğini gösterir. Bu, modelin genel karar stratejisini anlamak için kullanılır.</a:t>
            </a:r>
          </a:p>
          <a:p>
            <a:pPr algn="l">
              <a:spcAft>
                <a:spcPts val="500"/>
              </a:spcAft>
              <a:defRPr sz="1290">
                <a:solidFill>
                  <a:srgbClr val="111827"/>
                </a:solidFill>
                <a:latin typeface="Aptos"/>
              </a:defRPr>
            </a:pPr>
            <a:r>
              <a:t>Örneğin önceki kampanya sonucu, ekonomik göstergeler veya kampanya temas sayısı gibi değişkenlerin öne çıkması, modelin yalnızca müşteri profili bilgilerine değil, müşteri geçmişi ve dönemsel ekonomik koşullara da baktığını gösterir.</a:t>
            </a:r>
          </a:p>
          <a:p>
            <a:pPr algn="l">
              <a:spcAft>
                <a:spcPts val="500"/>
              </a:spcAft>
              <a:defRPr sz="1290">
                <a:solidFill>
                  <a:srgbClr val="111827"/>
                </a:solidFill>
                <a:latin typeface="Aptos"/>
              </a:defRPr>
            </a:pPr>
            <a:r>
              <a:t>Bu analiz, banka yöneticisinin modelin hangi sinyallere duyarlı olduğunu görmesine yardımcı olur.</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01168"/>
            <a:ext cx="11155680" cy="457200"/>
          </a:xfrm>
          <a:prstGeom prst="rect">
            <a:avLst/>
          </a:prstGeom>
          <a:noFill/>
        </p:spPr>
        <p:txBody>
          <a:bodyPr wrap="square" lIns="73152" rIns="73152" tIns="36576" bIns="36576">
            <a:normAutofit/>
          </a:bodyPr>
          <a:lstStyle/>
          <a:p>
            <a:pPr algn="l"/>
            <a:r>
              <a:rPr sz="2250" b="1">
                <a:solidFill>
                  <a:srgbClr val="1F4E79"/>
                </a:solidFill>
                <a:latin typeface="Aptos"/>
              </a:rPr>
              <a:t>Yerel Açıklama: Tek Müşteri Kararı</a:t>
            </a:r>
          </a:p>
        </p:txBody>
      </p:sp>
      <p:sp>
        <p:nvSpPr>
          <p:cNvPr id="3" name="Rectangle 2"/>
          <p:cNvSpPr/>
          <p:nvPr/>
        </p:nvSpPr>
        <p:spPr>
          <a:xfrm>
            <a:off x="502920" y="786384"/>
            <a:ext cx="11155680" cy="3200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565392"/>
            <a:ext cx="8046720" cy="201168"/>
          </a:xfrm>
          <a:prstGeom prst="rect">
            <a:avLst/>
          </a:prstGeom>
          <a:noFill/>
        </p:spPr>
        <p:txBody>
          <a:bodyPr wrap="square" lIns="73152" rIns="73152" tIns="36576" bIns="36576">
            <a:normAutofit/>
          </a:bodyPr>
          <a:lstStyle/>
          <a:p>
            <a:pPr algn="l"/>
            <a:r>
              <a:rPr sz="830" b="0">
                <a:solidFill>
                  <a:srgbClr val="4B5563"/>
                </a:solidFill>
                <a:latin typeface="Aptos"/>
              </a:rPr>
              <a:t>BLM308 Veri Madenciliği Final Projesi</a:t>
            </a:r>
          </a:p>
        </p:txBody>
      </p:sp>
      <p:sp>
        <p:nvSpPr>
          <p:cNvPr id="5" name="TextBox 4"/>
          <p:cNvSpPr txBox="1"/>
          <p:nvPr/>
        </p:nvSpPr>
        <p:spPr>
          <a:xfrm>
            <a:off x="11155680" y="6565392"/>
            <a:ext cx="457200" cy="201168"/>
          </a:xfrm>
          <a:prstGeom prst="rect">
            <a:avLst/>
          </a:prstGeom>
          <a:noFill/>
        </p:spPr>
        <p:txBody>
          <a:bodyPr wrap="square" lIns="73152" rIns="73152" tIns="36576" bIns="36576">
            <a:normAutofit/>
          </a:bodyPr>
          <a:lstStyle/>
          <a:p>
            <a:pPr algn="r"/>
            <a:r>
              <a:rPr sz="830" b="0">
                <a:solidFill>
                  <a:srgbClr val="4B5563"/>
                </a:solidFill>
                <a:latin typeface="Aptos"/>
              </a:rPr>
              <a:t>28</a:t>
            </a:r>
          </a:p>
        </p:txBody>
      </p:sp>
      <p:pic>
        <p:nvPicPr>
          <p:cNvPr id="6" name="Picture 5" descr="lime_explanation_from_explain.png"/>
          <p:cNvPicPr>
            <a:picLocks noChangeAspect="1"/>
          </p:cNvPicPr>
          <p:nvPr/>
        </p:nvPicPr>
        <p:blipFill>
          <a:blip r:embed="rId2"/>
          <a:stretch>
            <a:fillRect/>
          </a:stretch>
        </p:blipFill>
        <p:spPr>
          <a:xfrm>
            <a:off x="640080" y="1005840"/>
            <a:ext cx="5897880" cy="3686175"/>
          </a:xfrm>
          <a:prstGeom prst="rect">
            <a:avLst/>
          </a:prstGeom>
        </p:spPr>
      </p:pic>
      <p:sp>
        <p:nvSpPr>
          <p:cNvPr id="7" name="TextBox 6"/>
          <p:cNvSpPr txBox="1"/>
          <p:nvPr/>
        </p:nvSpPr>
        <p:spPr>
          <a:xfrm>
            <a:off x="6812280" y="1078992"/>
            <a:ext cx="4434840" cy="3858768"/>
          </a:xfrm>
          <a:prstGeom prst="rect">
            <a:avLst/>
          </a:prstGeom>
          <a:noFill/>
        </p:spPr>
        <p:txBody>
          <a:bodyPr wrap="square" lIns="73152" rIns="73152" tIns="36576" bIns="36576">
            <a:normAutofit/>
          </a:bodyPr>
          <a:lstStyle/>
          <a:p>
            <a:pPr algn="l">
              <a:spcAft>
                <a:spcPts val="500"/>
              </a:spcAft>
              <a:defRPr sz="1290">
                <a:solidFill>
                  <a:srgbClr val="111827"/>
                </a:solidFill>
                <a:latin typeface="Aptos"/>
              </a:defRPr>
            </a:pPr>
            <a:r>
              <a:t>Yerel açıklama, tek bir müşteri için modelin tahminini hangi faktörlerin artırdığını veya azalttığını gösterir. Bu yaklaşım, bireysel müşteri kararlarının açıklanması açısından önemlidir.</a:t>
            </a:r>
          </a:p>
          <a:p>
            <a:pPr algn="l">
              <a:spcAft>
                <a:spcPts val="500"/>
              </a:spcAft>
              <a:defRPr sz="1290">
                <a:solidFill>
                  <a:srgbClr val="111827"/>
                </a:solidFill>
                <a:latin typeface="Aptos"/>
              </a:defRPr>
            </a:pPr>
            <a:r>
              <a:t>Örneğin bir müşterinin önceki kampanyaya olumlu tepki vermesi tahmini artırabilirken, bazı ekonomik göstergeler veya yoğun kampanya teması tahmini düşürebilir.</a:t>
            </a:r>
          </a:p>
          <a:p>
            <a:pPr algn="l">
              <a:spcAft>
                <a:spcPts val="500"/>
              </a:spcAft>
              <a:defRPr sz="1290">
                <a:solidFill>
                  <a:srgbClr val="111827"/>
                </a:solidFill>
                <a:latin typeface="Aptos"/>
              </a:defRPr>
            </a:pPr>
            <a:r>
              <a:t>Böylece kullanıcı yalnızca “yüksek ihtimal” veya “düşük ihtimal” sonucunu görmez; bu sonucun hangi koşullarla oluştuğunu da yorumlayabilir.</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01168"/>
            <a:ext cx="11155680" cy="457200"/>
          </a:xfrm>
          <a:prstGeom prst="rect">
            <a:avLst/>
          </a:prstGeom>
          <a:noFill/>
        </p:spPr>
        <p:txBody>
          <a:bodyPr wrap="square" lIns="73152" rIns="73152" tIns="36576" bIns="36576">
            <a:normAutofit/>
          </a:bodyPr>
          <a:lstStyle/>
          <a:p>
            <a:pPr algn="l"/>
            <a:r>
              <a:rPr sz="2250" b="1">
                <a:solidFill>
                  <a:srgbClr val="1F4E79"/>
                </a:solidFill>
                <a:latin typeface="Aptos"/>
              </a:rPr>
              <a:t>SHAP ve LIME Yaklaşımlarının Rolü</a:t>
            </a:r>
          </a:p>
        </p:txBody>
      </p:sp>
      <p:sp>
        <p:nvSpPr>
          <p:cNvPr id="3" name="Rectangle 2"/>
          <p:cNvSpPr/>
          <p:nvPr/>
        </p:nvSpPr>
        <p:spPr>
          <a:xfrm>
            <a:off x="502920" y="786384"/>
            <a:ext cx="11155680" cy="3200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565392"/>
            <a:ext cx="8046720" cy="201168"/>
          </a:xfrm>
          <a:prstGeom prst="rect">
            <a:avLst/>
          </a:prstGeom>
          <a:noFill/>
        </p:spPr>
        <p:txBody>
          <a:bodyPr wrap="square" lIns="73152" rIns="73152" tIns="36576" bIns="36576">
            <a:normAutofit/>
          </a:bodyPr>
          <a:lstStyle/>
          <a:p>
            <a:pPr algn="l"/>
            <a:r>
              <a:rPr sz="830" b="0">
                <a:solidFill>
                  <a:srgbClr val="4B5563"/>
                </a:solidFill>
                <a:latin typeface="Aptos"/>
              </a:rPr>
              <a:t>BLM308 Veri Madenciliği Final Projesi</a:t>
            </a:r>
          </a:p>
        </p:txBody>
      </p:sp>
      <p:sp>
        <p:nvSpPr>
          <p:cNvPr id="5" name="TextBox 4"/>
          <p:cNvSpPr txBox="1"/>
          <p:nvPr/>
        </p:nvSpPr>
        <p:spPr>
          <a:xfrm>
            <a:off x="11155680" y="6565392"/>
            <a:ext cx="457200" cy="201168"/>
          </a:xfrm>
          <a:prstGeom prst="rect">
            <a:avLst/>
          </a:prstGeom>
          <a:noFill/>
        </p:spPr>
        <p:txBody>
          <a:bodyPr wrap="square" lIns="73152" rIns="73152" tIns="36576" bIns="36576">
            <a:normAutofit/>
          </a:bodyPr>
          <a:lstStyle/>
          <a:p>
            <a:pPr algn="r"/>
            <a:r>
              <a:rPr sz="830" b="0">
                <a:solidFill>
                  <a:srgbClr val="4B5563"/>
                </a:solidFill>
                <a:latin typeface="Aptos"/>
              </a:rPr>
              <a:t>29</a:t>
            </a:r>
          </a:p>
        </p:txBody>
      </p:sp>
      <p:graphicFrame>
        <p:nvGraphicFramePr>
          <p:cNvPr id="6" name="Table 5"/>
          <p:cNvGraphicFramePr>
            <a:graphicFrameLocks noGrp="1"/>
          </p:cNvGraphicFramePr>
          <p:nvPr/>
        </p:nvGraphicFramePr>
        <p:xfrm>
          <a:off x="594360" y="1143000"/>
          <a:ext cx="10972800" cy="2423160"/>
        </p:xfrm>
        <a:graphic>
          <a:graphicData uri="http://schemas.openxmlformats.org/drawingml/2006/table">
            <a:tbl>
              <a:tblPr firstRow="1" bandRow="1">
                <a:tableStyleId>{5C22544A-7EE6-4342-B048-85BDC9FD1C3A}</a:tableStyleId>
              </a:tblPr>
              <a:tblGrid>
                <a:gridCol w="3657600"/>
                <a:gridCol w="3657600"/>
                <a:gridCol w="3657600"/>
              </a:tblGrid>
              <a:tr h="605790">
                <a:tc>
                  <a:txBody>
                    <a:bodyPr/>
                    <a:lstStyle/>
                    <a:p>
                      <a:pPr algn="ctr">
                        <a:defRPr sz="1080">
                          <a:solidFill>
                            <a:srgbClr val="FFFFFF"/>
                          </a:solidFill>
                          <a:latin typeface="Aptos"/>
                        </a:defRPr>
                      </a:pPr>
                      <a:r>
                        <a:t>Yöntem</a:t>
                      </a:r>
                    </a:p>
                  </a:txBody>
                  <a:tcPr>
                    <a:solidFill>
                      <a:srgbClr val="1F4E79"/>
                    </a:solidFill>
                  </a:tcPr>
                </a:tc>
                <a:tc>
                  <a:txBody>
                    <a:bodyPr/>
                    <a:lstStyle/>
                    <a:p>
                      <a:pPr algn="ctr">
                        <a:defRPr sz="1080">
                          <a:solidFill>
                            <a:srgbClr val="FFFFFF"/>
                          </a:solidFill>
                          <a:latin typeface="Aptos"/>
                        </a:defRPr>
                      </a:pPr>
                      <a:r>
                        <a:t>Projedeki işlevi</a:t>
                      </a:r>
                    </a:p>
                  </a:txBody>
                  <a:tcPr>
                    <a:solidFill>
                      <a:srgbClr val="1F4E79"/>
                    </a:solidFill>
                  </a:tcPr>
                </a:tc>
                <a:tc>
                  <a:txBody>
                    <a:bodyPr/>
                    <a:lstStyle/>
                    <a:p>
                      <a:pPr algn="ctr">
                        <a:defRPr sz="1080">
                          <a:solidFill>
                            <a:srgbClr val="FFFFFF"/>
                          </a:solidFill>
                          <a:latin typeface="Aptos"/>
                        </a:defRPr>
                      </a:pPr>
                      <a:r>
                        <a:t>Sağladığı katkı</a:t>
                      </a:r>
                    </a:p>
                  </a:txBody>
                  <a:tcPr>
                    <a:solidFill>
                      <a:srgbClr val="1F4E79"/>
                    </a:solidFill>
                  </a:tcPr>
                </a:tc>
              </a:tr>
              <a:tr h="605790">
                <a:tc>
                  <a:txBody>
                    <a:bodyPr/>
                    <a:lstStyle/>
                    <a:p>
                      <a:pPr algn="ctr">
                        <a:defRPr sz="1080">
                          <a:solidFill>
                            <a:srgbClr val="111827"/>
                          </a:solidFill>
                          <a:latin typeface="Aptos"/>
                        </a:defRPr>
                      </a:pPr>
                      <a:r>
                        <a:t>SHAP</a:t>
                      </a:r>
                    </a:p>
                  </a:txBody>
                  <a:tcPr>
                    <a:solidFill>
                      <a:srgbClr val="F8FAFC"/>
                    </a:solidFill>
                  </a:tcPr>
                </a:tc>
                <a:tc>
                  <a:txBody>
                    <a:bodyPr/>
                    <a:lstStyle/>
                    <a:p>
                      <a:pPr algn="ctr">
                        <a:defRPr sz="1080">
                          <a:solidFill>
                            <a:srgbClr val="111827"/>
                          </a:solidFill>
                          <a:latin typeface="Aptos"/>
                        </a:defRPr>
                      </a:pPr>
                      <a:r>
                        <a:t>Değişkenlerin tahmine katkısını tutarlı biçimde yorumlama</a:t>
                      </a:r>
                    </a:p>
                  </a:txBody>
                  <a:tcPr>
                    <a:solidFill>
                      <a:srgbClr val="F8FAFC"/>
                    </a:solidFill>
                  </a:tcPr>
                </a:tc>
                <a:tc>
                  <a:txBody>
                    <a:bodyPr/>
                    <a:lstStyle/>
                    <a:p>
                      <a:pPr algn="ctr">
                        <a:defRPr sz="1080">
                          <a:solidFill>
                            <a:srgbClr val="111827"/>
                          </a:solidFill>
                          <a:latin typeface="Aptos"/>
                        </a:defRPr>
                      </a:pPr>
                      <a:r>
                        <a:t>Genel ve yerel etki yönlerini açıklamaya yardımcı olur.</a:t>
                      </a:r>
                    </a:p>
                  </a:txBody>
                  <a:tcPr>
                    <a:solidFill>
                      <a:srgbClr val="F8FAFC"/>
                    </a:solidFill>
                  </a:tcPr>
                </a:tc>
              </a:tr>
              <a:tr h="605790">
                <a:tc>
                  <a:txBody>
                    <a:bodyPr/>
                    <a:lstStyle/>
                    <a:p>
                      <a:pPr algn="ctr">
                        <a:defRPr sz="1080">
                          <a:solidFill>
                            <a:srgbClr val="111827"/>
                          </a:solidFill>
                          <a:latin typeface="Aptos"/>
                        </a:defRPr>
                      </a:pPr>
                      <a:r>
                        <a:t>LIME</a:t>
                      </a:r>
                    </a:p>
                  </a:txBody>
                  <a:tcPr>
                    <a:solidFill>
                      <a:srgbClr val="F8FAFC"/>
                    </a:solidFill>
                  </a:tcPr>
                </a:tc>
                <a:tc>
                  <a:txBody>
                    <a:bodyPr/>
                    <a:lstStyle/>
                    <a:p>
                      <a:pPr algn="ctr">
                        <a:defRPr sz="1080">
                          <a:solidFill>
                            <a:srgbClr val="111827"/>
                          </a:solidFill>
                          <a:latin typeface="Aptos"/>
                        </a:defRPr>
                      </a:pPr>
                      <a:r>
                        <a:t>Tek bir tahmin çevresinde yerel açıklama üretme</a:t>
                      </a:r>
                    </a:p>
                  </a:txBody>
                  <a:tcPr>
                    <a:solidFill>
                      <a:srgbClr val="F8FAFC"/>
                    </a:solidFill>
                  </a:tcPr>
                </a:tc>
                <a:tc>
                  <a:txBody>
                    <a:bodyPr/>
                    <a:lstStyle/>
                    <a:p>
                      <a:pPr algn="ctr">
                        <a:defRPr sz="1080">
                          <a:solidFill>
                            <a:srgbClr val="111827"/>
                          </a:solidFill>
                          <a:latin typeface="Aptos"/>
                        </a:defRPr>
                      </a:pPr>
                      <a:r>
                        <a:t>Belirli müşteri kararının anlaşılmasını kolaylaştırır.</a:t>
                      </a:r>
                    </a:p>
                  </a:txBody>
                  <a:tcPr>
                    <a:solidFill>
                      <a:srgbClr val="F8FAFC"/>
                    </a:solidFill>
                  </a:tcPr>
                </a:tc>
              </a:tr>
              <a:tr h="605790">
                <a:tc>
                  <a:txBody>
                    <a:bodyPr/>
                    <a:lstStyle/>
                    <a:p>
                      <a:pPr algn="ctr">
                        <a:defRPr sz="1080">
                          <a:solidFill>
                            <a:srgbClr val="111827"/>
                          </a:solidFill>
                          <a:latin typeface="Aptos"/>
                        </a:defRPr>
                      </a:pPr>
                      <a:r>
                        <a:t>Değişken önemleri</a:t>
                      </a:r>
                    </a:p>
                  </a:txBody>
                  <a:tcPr>
                    <a:solidFill>
                      <a:srgbClr val="F8FAFC"/>
                    </a:solidFill>
                  </a:tcPr>
                </a:tc>
                <a:tc>
                  <a:txBody>
                    <a:bodyPr/>
                    <a:lstStyle/>
                    <a:p>
                      <a:pPr algn="ctr">
                        <a:defRPr sz="1080">
                          <a:solidFill>
                            <a:srgbClr val="111827"/>
                          </a:solidFill>
                          <a:latin typeface="Aptos"/>
                        </a:defRPr>
                      </a:pPr>
                      <a:r>
                        <a:t>Random Forest modelinin genel önceliklerini görme</a:t>
                      </a:r>
                    </a:p>
                  </a:txBody>
                  <a:tcPr>
                    <a:solidFill>
                      <a:srgbClr val="F8FAFC"/>
                    </a:solidFill>
                  </a:tcPr>
                </a:tc>
                <a:tc>
                  <a:txBody>
                    <a:bodyPr/>
                    <a:lstStyle/>
                    <a:p>
                      <a:pPr algn="ctr">
                        <a:defRPr sz="1080">
                          <a:solidFill>
                            <a:srgbClr val="111827"/>
                          </a:solidFill>
                          <a:latin typeface="Aptos"/>
                        </a:defRPr>
                      </a:pPr>
                      <a:r>
                        <a:t>Modelin hangi sinyalleri güçlü kullandığını gösterir.</a:t>
                      </a:r>
                    </a:p>
                  </a:txBody>
                  <a:tcPr>
                    <a:solidFill>
                      <a:srgbClr val="F8FAFC"/>
                    </a:solidFill>
                  </a:tcPr>
                </a:tc>
              </a:tr>
            </a:tbl>
          </a:graphicData>
        </a:graphic>
      </p:graphicFrame>
      <p:sp>
        <p:nvSpPr>
          <p:cNvPr id="7" name="TextBox 6"/>
          <p:cNvSpPr txBox="1"/>
          <p:nvPr/>
        </p:nvSpPr>
        <p:spPr>
          <a:xfrm>
            <a:off x="777240" y="3977639"/>
            <a:ext cx="10652760" cy="1051560"/>
          </a:xfrm>
          <a:prstGeom prst="rect">
            <a:avLst/>
          </a:prstGeom>
          <a:noFill/>
        </p:spPr>
        <p:txBody>
          <a:bodyPr wrap="square" lIns="73152" rIns="73152" tIns="36576" bIns="36576">
            <a:normAutofit/>
          </a:bodyPr>
          <a:lstStyle/>
          <a:p>
            <a:pPr algn="l">
              <a:spcAft>
                <a:spcPts val="500"/>
              </a:spcAft>
              <a:defRPr sz="1340">
                <a:solidFill>
                  <a:srgbClr val="111827"/>
                </a:solidFill>
                <a:latin typeface="Aptos"/>
              </a:defRPr>
            </a:pPr>
            <a:r>
              <a:t>Bu yöntemler modelin iç yapısını tamamen basitleştirmez; fakat karmaşık karar mekanizmasını insanın yorumlayabileceği sinyallere dönüştürür.</a:t>
            </a:r>
          </a:p>
          <a:p>
            <a:pPr algn="l">
              <a:spcAft>
                <a:spcPts val="500"/>
              </a:spcAft>
              <a:defRPr sz="1340">
                <a:solidFill>
                  <a:srgbClr val="111827"/>
                </a:solidFill>
                <a:latin typeface="Aptos"/>
              </a:defRPr>
            </a:pPr>
            <a:r>
              <a:t>Özellikle finansal karar destek sistemlerinde bu dönüşüm, model çıktısının denetlenebilir ve açıklanabilir olmasını sağlar.</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01168"/>
            <a:ext cx="11155680" cy="457200"/>
          </a:xfrm>
          <a:prstGeom prst="rect">
            <a:avLst/>
          </a:prstGeom>
          <a:noFill/>
        </p:spPr>
        <p:txBody>
          <a:bodyPr wrap="square" lIns="73152" rIns="73152" tIns="36576" bIns="36576">
            <a:normAutofit/>
          </a:bodyPr>
          <a:lstStyle/>
          <a:p>
            <a:pPr algn="l"/>
            <a:r>
              <a:rPr sz="2250" b="1">
                <a:solidFill>
                  <a:srgbClr val="1F4E79"/>
                </a:solidFill>
                <a:latin typeface="Aptos"/>
              </a:rPr>
              <a:t>Açıklanabilirliğin Gerçek Kullanım Değeri</a:t>
            </a:r>
          </a:p>
        </p:txBody>
      </p:sp>
      <p:sp>
        <p:nvSpPr>
          <p:cNvPr id="3" name="Rectangle 2"/>
          <p:cNvSpPr/>
          <p:nvPr/>
        </p:nvSpPr>
        <p:spPr>
          <a:xfrm>
            <a:off x="502920" y="786384"/>
            <a:ext cx="11155680" cy="3200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565392"/>
            <a:ext cx="8046720" cy="201168"/>
          </a:xfrm>
          <a:prstGeom prst="rect">
            <a:avLst/>
          </a:prstGeom>
          <a:noFill/>
        </p:spPr>
        <p:txBody>
          <a:bodyPr wrap="square" lIns="73152" rIns="73152" tIns="36576" bIns="36576">
            <a:normAutofit/>
          </a:bodyPr>
          <a:lstStyle/>
          <a:p>
            <a:pPr algn="l"/>
            <a:r>
              <a:rPr sz="830" b="0">
                <a:solidFill>
                  <a:srgbClr val="4B5563"/>
                </a:solidFill>
                <a:latin typeface="Aptos"/>
              </a:rPr>
              <a:t>BLM308 Veri Madenciliği Final Projesi</a:t>
            </a:r>
          </a:p>
        </p:txBody>
      </p:sp>
      <p:sp>
        <p:nvSpPr>
          <p:cNvPr id="5" name="TextBox 4"/>
          <p:cNvSpPr txBox="1"/>
          <p:nvPr/>
        </p:nvSpPr>
        <p:spPr>
          <a:xfrm>
            <a:off x="11155680" y="6565392"/>
            <a:ext cx="457200" cy="201168"/>
          </a:xfrm>
          <a:prstGeom prst="rect">
            <a:avLst/>
          </a:prstGeom>
          <a:noFill/>
        </p:spPr>
        <p:txBody>
          <a:bodyPr wrap="square" lIns="73152" rIns="73152" tIns="36576" bIns="36576">
            <a:normAutofit/>
          </a:bodyPr>
          <a:lstStyle/>
          <a:p>
            <a:pPr algn="r"/>
            <a:r>
              <a:rPr sz="830" b="0">
                <a:solidFill>
                  <a:srgbClr val="4B5563"/>
                </a:solidFill>
                <a:latin typeface="Aptos"/>
              </a:rPr>
              <a:t>30</a:t>
            </a:r>
          </a:p>
        </p:txBody>
      </p:sp>
      <p:sp>
        <p:nvSpPr>
          <p:cNvPr id="6" name="TextBox 5"/>
          <p:cNvSpPr txBox="1"/>
          <p:nvPr/>
        </p:nvSpPr>
        <p:spPr>
          <a:xfrm>
            <a:off x="713232" y="1143000"/>
            <a:ext cx="5669280" cy="3749039"/>
          </a:xfrm>
          <a:prstGeom prst="rect">
            <a:avLst/>
          </a:prstGeom>
          <a:noFill/>
        </p:spPr>
        <p:txBody>
          <a:bodyPr wrap="square" lIns="73152" rIns="73152" tIns="36576" bIns="36576">
            <a:normAutofit/>
          </a:bodyPr>
          <a:lstStyle/>
          <a:p>
            <a:pPr algn="l">
              <a:spcAft>
                <a:spcPts val="500"/>
              </a:spcAft>
              <a:defRPr sz="1340">
                <a:solidFill>
                  <a:srgbClr val="111827"/>
                </a:solidFill>
                <a:latin typeface="Aptos"/>
              </a:defRPr>
            </a:pPr>
            <a:r>
              <a:t>Bir pazarlama uzmanı, modelin yüksek olasılık verdiği müşterileri gördüğünde bu sonucun neden oluştuğunu bilmek ister. Eğer model yalnızca skor üretirse kullanıcı, önerinin iş bilgisiyle uyumlu olup olmadığını kontrol edemez.</a:t>
            </a:r>
          </a:p>
          <a:p>
            <a:pPr algn="l">
              <a:spcAft>
                <a:spcPts val="500"/>
              </a:spcAft>
              <a:defRPr sz="1340">
                <a:solidFill>
                  <a:srgbClr val="111827"/>
                </a:solidFill>
                <a:latin typeface="Aptos"/>
              </a:defRPr>
            </a:pPr>
            <a:r>
              <a:t>XAI çıktıları, modelin önerisini tartışılabilir hale getirir. Örneğin müşteri önceki kampanyada olumlu tepki verdiyse veya belirli ekonomik dönemde daha yüksek eğilim gösteriyorsa bu bilgi karar sürecine ek bağlam sağlar.</a:t>
            </a:r>
          </a:p>
          <a:p>
            <a:pPr algn="l">
              <a:spcAft>
                <a:spcPts val="500"/>
              </a:spcAft>
              <a:defRPr sz="1340">
                <a:solidFill>
                  <a:srgbClr val="111827"/>
                </a:solidFill>
                <a:latin typeface="Aptos"/>
              </a:defRPr>
            </a:pPr>
            <a:r>
              <a:t>Bu nedenle açıklanabilirlik, model güvenini artırır, hatalı veya beklenmedik kararları fark etmeyi kolaylaştırır ve sunum sırasında projenin akademik değerini güçlendirir.</a:t>
            </a:r>
          </a:p>
        </p:txBody>
      </p:sp>
      <p:sp>
        <p:nvSpPr>
          <p:cNvPr id="7" name="Rounded Rectangle 6"/>
          <p:cNvSpPr/>
          <p:nvPr/>
        </p:nvSpPr>
        <p:spPr>
          <a:xfrm>
            <a:off x="6812280" y="1325880"/>
            <a:ext cx="4251960" cy="1417320"/>
          </a:xfrm>
          <a:prstGeom prst="roundRect">
            <a:avLst/>
          </a:prstGeom>
          <a:solidFill>
            <a:srgbClr val="F5F7FA"/>
          </a:solidFill>
          <a:ln w="1397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91440" bIns="36576">
            <a:normAutofit/>
          </a:bodyPr>
          <a:lstStyle/>
          <a:p>
            <a:pPr algn="ctr"/>
            <a:r>
              <a:rPr sz="1370" b="1">
                <a:solidFill>
                  <a:srgbClr val="0F766E"/>
                </a:solidFill>
                <a:latin typeface="Aptos"/>
              </a:rPr>
              <a:t>Kullanıcı güveni</a:t>
            </a:r>
          </a:p>
          <a:p>
            <a:pPr>
              <a:spcBef>
                <a:spcPts val="400"/>
              </a:spcBef>
              <a:defRPr sz="1180">
                <a:solidFill>
                  <a:srgbClr val="111827"/>
                </a:solidFill>
                <a:latin typeface="Aptos"/>
              </a:defRPr>
            </a:pPr>
            <a:r>
              <a:t>Model çıktısının gerekçeli sunulması, kullanıcıların sistemi daha bilinçli değerlendirmesini sağlar.</a:t>
            </a:r>
          </a:p>
        </p:txBody>
      </p:sp>
      <p:sp>
        <p:nvSpPr>
          <p:cNvPr id="8" name="Rounded Rectangle 7"/>
          <p:cNvSpPr/>
          <p:nvPr/>
        </p:nvSpPr>
        <p:spPr>
          <a:xfrm>
            <a:off x="6812280" y="3108960"/>
            <a:ext cx="4251960" cy="1417320"/>
          </a:xfrm>
          <a:prstGeom prst="roundRect">
            <a:avLst/>
          </a:prstGeom>
          <a:solidFill>
            <a:srgbClr val="F5F7FA"/>
          </a:solidFill>
          <a:ln w="13970">
            <a:solidFill>
              <a:srgbClr val="F97316"/>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91440" bIns="36576">
            <a:normAutofit/>
          </a:bodyPr>
          <a:lstStyle/>
          <a:p>
            <a:pPr algn="ctr"/>
            <a:r>
              <a:rPr sz="1370" b="1">
                <a:solidFill>
                  <a:srgbClr val="F97316"/>
                </a:solidFill>
                <a:latin typeface="Aptos"/>
              </a:rPr>
              <a:t>Denetlenebilirlik</a:t>
            </a:r>
          </a:p>
          <a:p>
            <a:pPr>
              <a:spcBef>
                <a:spcPts val="400"/>
              </a:spcBef>
              <a:defRPr sz="1180">
                <a:solidFill>
                  <a:srgbClr val="111827"/>
                </a:solidFill>
                <a:latin typeface="Aptos"/>
              </a:defRPr>
            </a:pPr>
            <a:r>
              <a:t>Karar faktörleri görünür olduğunda modelin beklenmedik davranışları daha kolay incelenebilir.</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F766E"/>
        </a:solidFill>
        <a:effectLst/>
      </p:bgPr>
    </p:bg>
    <p:spTree>
      <p:nvGrpSpPr>
        <p:cNvPr id="1" name=""/>
        <p:cNvGrpSpPr/>
        <p:nvPr/>
      </p:nvGrpSpPr>
      <p:grpSpPr/>
      <p:sp>
        <p:nvSpPr>
          <p:cNvPr id="2" name="TextBox 1"/>
          <p:cNvSpPr txBox="1"/>
          <p:nvPr/>
        </p:nvSpPr>
        <p:spPr>
          <a:xfrm>
            <a:off x="685800" y="1325880"/>
            <a:ext cx="10789920" cy="640080"/>
          </a:xfrm>
          <a:prstGeom prst="rect">
            <a:avLst/>
          </a:prstGeom>
          <a:noFill/>
        </p:spPr>
        <p:txBody>
          <a:bodyPr wrap="square" lIns="73152" rIns="73152" tIns="36576" bIns="36576">
            <a:normAutofit/>
          </a:bodyPr>
          <a:lstStyle/>
          <a:p>
            <a:pPr algn="l"/>
            <a:r>
              <a:rPr sz="3400" b="1">
                <a:solidFill>
                  <a:srgbClr val="FFFFFF"/>
                </a:solidFill>
                <a:latin typeface="Aptos"/>
              </a:rPr>
              <a:t>7. Uygulama Arayüzü ve Teslim Çıktıları</a:t>
            </a:r>
          </a:p>
        </p:txBody>
      </p:sp>
      <p:sp>
        <p:nvSpPr>
          <p:cNvPr id="3" name="TextBox 2"/>
          <p:cNvSpPr txBox="1"/>
          <p:nvPr/>
        </p:nvSpPr>
        <p:spPr>
          <a:xfrm>
            <a:off x="713232" y="2121408"/>
            <a:ext cx="10424160" cy="548640"/>
          </a:xfrm>
          <a:prstGeom prst="rect">
            <a:avLst/>
          </a:prstGeom>
          <a:noFill/>
        </p:spPr>
        <p:txBody>
          <a:bodyPr wrap="square" lIns="73152" rIns="73152" tIns="36576" bIns="36576">
            <a:normAutofit/>
          </a:bodyPr>
          <a:lstStyle/>
          <a:p>
            <a:pPr algn="l"/>
            <a:r>
              <a:rPr sz="1850" b="0">
                <a:solidFill>
                  <a:srgbClr val="DBEAFE"/>
                </a:solidFill>
                <a:latin typeface="Aptos"/>
              </a:rPr>
              <a:t>Proje, raporda anlatılan yöntemi çalışır bir Türkçe tahmin sistemine dönüştürür.</a:t>
            </a:r>
          </a:p>
        </p:txBody>
      </p:sp>
      <p:sp>
        <p:nvSpPr>
          <p:cNvPr id="4" name="TextBox 3"/>
          <p:cNvSpPr txBox="1"/>
          <p:nvPr/>
        </p:nvSpPr>
        <p:spPr>
          <a:xfrm>
            <a:off x="731520" y="2953512"/>
            <a:ext cx="10104120" cy="1572768"/>
          </a:xfrm>
          <a:prstGeom prst="rect">
            <a:avLst/>
          </a:prstGeom>
          <a:noFill/>
        </p:spPr>
        <p:txBody>
          <a:bodyPr wrap="square" lIns="73152" rIns="73152" tIns="36576" bIns="36576">
            <a:normAutofit/>
          </a:bodyPr>
          <a:lstStyle/>
          <a:p>
            <a:pPr algn="l">
              <a:spcAft>
                <a:spcPts val="600"/>
              </a:spcAft>
              <a:defRPr sz="1460">
                <a:solidFill>
                  <a:srgbClr val="FFFFFF"/>
                </a:solidFill>
                <a:latin typeface="Aptos"/>
              </a:defRPr>
            </a:pPr>
            <a:r>
              <a:t>Streamlit arayüzü, hocanın modelin nasıl kullanılacağını doğrudan görmesini sağlar. Kullanıcı müşteri bilgilerini Türkçe alan adlarıyla girer, model tahmin üretir ve açıklanabilirlik çıktıları okunabilir biçimde sunulur.</a:t>
            </a:r>
          </a:p>
          <a:p>
            <a:pPr algn="l">
              <a:spcAft>
                <a:spcPts val="600"/>
              </a:spcAft>
              <a:defRPr sz="1460">
                <a:solidFill>
                  <a:srgbClr val="FFFFFF"/>
                </a:solidFill>
                <a:latin typeface="Aptos"/>
              </a:defRPr>
            </a:pPr>
            <a:r>
              <a:t>Bu bölüm, rapor dışındaki uygulamalı teslim değerini gösterir.</a:t>
            </a:r>
          </a:p>
        </p:txBody>
      </p:sp>
      <p:sp>
        <p:nvSpPr>
          <p:cNvPr id="5" name="TextBox 4"/>
          <p:cNvSpPr txBox="1"/>
          <p:nvPr/>
        </p:nvSpPr>
        <p:spPr>
          <a:xfrm>
            <a:off x="502920" y="6565392"/>
            <a:ext cx="8046720" cy="201168"/>
          </a:xfrm>
          <a:prstGeom prst="rect">
            <a:avLst/>
          </a:prstGeom>
          <a:noFill/>
        </p:spPr>
        <p:txBody>
          <a:bodyPr wrap="square" lIns="73152" rIns="73152" tIns="36576" bIns="36576">
            <a:normAutofit/>
          </a:bodyPr>
          <a:lstStyle/>
          <a:p>
            <a:pPr algn="l"/>
            <a:r>
              <a:rPr sz="830" b="0">
                <a:solidFill>
                  <a:srgbClr val="4B5563"/>
                </a:solidFill>
                <a:latin typeface="Aptos"/>
              </a:rPr>
              <a:t>BLM308 Veri Madenciliği Final Projesi</a:t>
            </a:r>
          </a:p>
        </p:txBody>
      </p:sp>
      <p:sp>
        <p:nvSpPr>
          <p:cNvPr id="6" name="TextBox 5"/>
          <p:cNvSpPr txBox="1"/>
          <p:nvPr/>
        </p:nvSpPr>
        <p:spPr>
          <a:xfrm>
            <a:off x="11155680" y="6565392"/>
            <a:ext cx="457200" cy="201168"/>
          </a:xfrm>
          <a:prstGeom prst="rect">
            <a:avLst/>
          </a:prstGeom>
          <a:noFill/>
        </p:spPr>
        <p:txBody>
          <a:bodyPr wrap="square" lIns="73152" rIns="73152" tIns="36576" bIns="36576">
            <a:normAutofit/>
          </a:bodyPr>
          <a:lstStyle/>
          <a:p>
            <a:pPr algn="r"/>
            <a:r>
              <a:rPr sz="830" b="0">
                <a:solidFill>
                  <a:srgbClr val="4B5563"/>
                </a:solidFill>
                <a:latin typeface="Aptos"/>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01168"/>
            <a:ext cx="11155680" cy="457200"/>
          </a:xfrm>
          <a:prstGeom prst="rect">
            <a:avLst/>
          </a:prstGeom>
          <a:noFill/>
        </p:spPr>
        <p:txBody>
          <a:bodyPr wrap="square" lIns="73152" rIns="73152" tIns="36576" bIns="36576">
            <a:normAutofit/>
          </a:bodyPr>
          <a:lstStyle/>
          <a:p>
            <a:pPr algn="l"/>
            <a:r>
              <a:rPr sz="2250" b="1">
                <a:solidFill>
                  <a:srgbClr val="1F4E79"/>
                </a:solidFill>
                <a:latin typeface="Aptos"/>
              </a:rPr>
              <a:t>Türkçe Tahmin Arayüzü</a:t>
            </a:r>
          </a:p>
        </p:txBody>
      </p:sp>
      <p:sp>
        <p:nvSpPr>
          <p:cNvPr id="3" name="Rectangle 2"/>
          <p:cNvSpPr/>
          <p:nvPr/>
        </p:nvSpPr>
        <p:spPr>
          <a:xfrm>
            <a:off x="502920" y="786384"/>
            <a:ext cx="11155680" cy="3200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565392"/>
            <a:ext cx="8046720" cy="201168"/>
          </a:xfrm>
          <a:prstGeom prst="rect">
            <a:avLst/>
          </a:prstGeom>
          <a:noFill/>
        </p:spPr>
        <p:txBody>
          <a:bodyPr wrap="square" lIns="73152" rIns="73152" tIns="36576" bIns="36576">
            <a:normAutofit/>
          </a:bodyPr>
          <a:lstStyle/>
          <a:p>
            <a:pPr algn="l"/>
            <a:r>
              <a:rPr sz="830" b="0">
                <a:solidFill>
                  <a:srgbClr val="4B5563"/>
                </a:solidFill>
                <a:latin typeface="Aptos"/>
              </a:rPr>
              <a:t>BLM308 Veri Madenciliği Final Projesi</a:t>
            </a:r>
          </a:p>
        </p:txBody>
      </p:sp>
      <p:sp>
        <p:nvSpPr>
          <p:cNvPr id="5" name="TextBox 4"/>
          <p:cNvSpPr txBox="1"/>
          <p:nvPr/>
        </p:nvSpPr>
        <p:spPr>
          <a:xfrm>
            <a:off x="11155680" y="6565392"/>
            <a:ext cx="457200" cy="201168"/>
          </a:xfrm>
          <a:prstGeom prst="rect">
            <a:avLst/>
          </a:prstGeom>
          <a:noFill/>
        </p:spPr>
        <p:txBody>
          <a:bodyPr wrap="square" lIns="73152" rIns="73152" tIns="36576" bIns="36576">
            <a:normAutofit/>
          </a:bodyPr>
          <a:lstStyle/>
          <a:p>
            <a:pPr algn="r"/>
            <a:r>
              <a:rPr sz="830" b="0">
                <a:solidFill>
                  <a:srgbClr val="4B5563"/>
                </a:solidFill>
                <a:latin typeface="Aptos"/>
              </a:rPr>
              <a:t>32</a:t>
            </a:r>
          </a:p>
        </p:txBody>
      </p:sp>
      <p:sp>
        <p:nvSpPr>
          <p:cNvPr id="6" name="TextBox 5"/>
          <p:cNvSpPr txBox="1"/>
          <p:nvPr/>
        </p:nvSpPr>
        <p:spPr>
          <a:xfrm>
            <a:off x="713232" y="1143000"/>
            <a:ext cx="5669280" cy="3246120"/>
          </a:xfrm>
          <a:prstGeom prst="rect">
            <a:avLst/>
          </a:prstGeom>
          <a:noFill/>
        </p:spPr>
        <p:txBody>
          <a:bodyPr wrap="square" lIns="73152" rIns="73152" tIns="36576" bIns="36576">
            <a:normAutofit/>
          </a:bodyPr>
          <a:lstStyle/>
          <a:p>
            <a:pPr algn="l">
              <a:spcAft>
                <a:spcPts val="500"/>
              </a:spcAft>
              <a:defRPr sz="1350">
                <a:solidFill>
                  <a:srgbClr val="111827"/>
                </a:solidFill>
                <a:latin typeface="Aptos"/>
              </a:defRPr>
            </a:pPr>
            <a:r>
              <a:t>Arayüz tamamen Türkçe hazırlanmıştır. Meslek, medeni durum, eğitim durumu, konut kredisi, ihtiyaç kredisi, iletişim kanalı ve ekonomik göstergeler gibi alanlar kullanıcıya Türkçe gösterilir.</a:t>
            </a:r>
          </a:p>
          <a:p>
            <a:pPr algn="l">
              <a:spcAft>
                <a:spcPts val="500"/>
              </a:spcAft>
              <a:defRPr sz="1350">
                <a:solidFill>
                  <a:srgbClr val="111827"/>
                </a:solidFill>
                <a:latin typeface="Aptos"/>
              </a:defRPr>
            </a:pPr>
            <a:r>
              <a:t>Tahmin sonucu, teknik sınıf etiketi yerine anlaşılır bir ifade olarak sunulur: “Vadeli mevduata abone olma ihtimali düşük” veya “Vadeli mevduata abone olma ihtimali yüksek”.</a:t>
            </a:r>
          </a:p>
          <a:p>
            <a:pPr algn="l">
              <a:spcAft>
                <a:spcPts val="500"/>
              </a:spcAft>
              <a:defRPr sz="1350">
                <a:solidFill>
                  <a:srgbClr val="111827"/>
                </a:solidFill>
                <a:latin typeface="Aptos"/>
              </a:defRPr>
            </a:pPr>
            <a:r>
              <a:t>Bu tercih, projenin yalnızca kod çalıştıran bir deney değil, kullanıcıya dönük karar destek sistemi olarak görünmesini sağlar.</a:t>
            </a:r>
          </a:p>
        </p:txBody>
      </p:sp>
      <p:sp>
        <p:nvSpPr>
          <p:cNvPr id="7" name="Rounded Rectangle 6"/>
          <p:cNvSpPr/>
          <p:nvPr/>
        </p:nvSpPr>
        <p:spPr>
          <a:xfrm>
            <a:off x="6812280" y="1325880"/>
            <a:ext cx="4251960" cy="1371600"/>
          </a:xfrm>
          <a:prstGeom prst="roundRect">
            <a:avLst/>
          </a:prstGeom>
          <a:solidFill>
            <a:srgbClr val="F5F7FA"/>
          </a:solidFill>
          <a:ln w="1397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91440" bIns="36576">
            <a:normAutofit/>
          </a:bodyPr>
          <a:lstStyle/>
          <a:p>
            <a:pPr algn="ctr"/>
            <a:r>
              <a:rPr sz="1370" b="1">
                <a:solidFill>
                  <a:srgbClr val="2563EB"/>
                </a:solidFill>
                <a:latin typeface="Aptos"/>
              </a:rPr>
              <a:t>Çalıştırma</a:t>
            </a:r>
          </a:p>
          <a:p>
            <a:pPr>
              <a:spcBef>
                <a:spcPts val="400"/>
              </a:spcBef>
              <a:defRPr sz="1220">
                <a:solidFill>
                  <a:srgbClr val="111827"/>
                </a:solidFill>
                <a:latin typeface="Aptos"/>
              </a:defRPr>
            </a:pPr>
            <a:r>
              <a:t>python train.py</a:t>
            </a:r>
            <a:br/>
            <a:r>
              <a:t>python explain.py</a:t>
            </a:r>
            <a:br/>
            <a:r>
              <a:t>python -m streamlit run app.py</a:t>
            </a:r>
          </a:p>
        </p:txBody>
      </p:sp>
      <p:sp>
        <p:nvSpPr>
          <p:cNvPr id="8" name="Rounded Rectangle 7"/>
          <p:cNvSpPr/>
          <p:nvPr/>
        </p:nvSpPr>
        <p:spPr>
          <a:xfrm>
            <a:off x="6812280" y="3063240"/>
            <a:ext cx="4251960" cy="1554480"/>
          </a:xfrm>
          <a:prstGeom prst="roundRect">
            <a:avLst/>
          </a:prstGeom>
          <a:solidFill>
            <a:srgbClr val="F5F7FA"/>
          </a:solidFill>
          <a:ln w="13970">
            <a:solidFill>
              <a:srgbClr val="F97316"/>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91440" bIns="36576">
            <a:normAutofit/>
          </a:bodyPr>
          <a:lstStyle/>
          <a:p>
            <a:pPr algn="ctr"/>
            <a:r>
              <a:rPr sz="1370" b="1">
                <a:solidFill>
                  <a:srgbClr val="F97316"/>
                </a:solidFill>
                <a:latin typeface="Aptos"/>
              </a:rPr>
              <a:t>Sunum avantajı</a:t>
            </a:r>
          </a:p>
          <a:p>
            <a:pPr>
              <a:spcBef>
                <a:spcPts val="400"/>
              </a:spcBef>
              <a:defRPr sz="1180">
                <a:solidFill>
                  <a:srgbClr val="111827"/>
                </a:solidFill>
                <a:latin typeface="Aptos"/>
              </a:defRPr>
            </a:pPr>
            <a:r>
              <a:t>Hoca, raporda anlatılan modelin gerçek arayüzde nasıl tahmin verdiğini ve açıklama ürettiğini uygulamalı olarak görebilir.</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01168"/>
            <a:ext cx="11155680" cy="457200"/>
          </a:xfrm>
          <a:prstGeom prst="rect">
            <a:avLst/>
          </a:prstGeom>
          <a:noFill/>
        </p:spPr>
        <p:txBody>
          <a:bodyPr wrap="square" lIns="73152" rIns="73152" tIns="36576" bIns="36576">
            <a:normAutofit/>
          </a:bodyPr>
          <a:lstStyle/>
          <a:p>
            <a:pPr algn="l"/>
            <a:r>
              <a:rPr sz="2250" b="1">
                <a:solidFill>
                  <a:srgbClr val="1F4E79"/>
                </a:solidFill>
                <a:latin typeface="Aptos"/>
              </a:rPr>
              <a:t>Uygulama Akışı</a:t>
            </a:r>
          </a:p>
        </p:txBody>
      </p:sp>
      <p:sp>
        <p:nvSpPr>
          <p:cNvPr id="3" name="Rectangle 2"/>
          <p:cNvSpPr/>
          <p:nvPr/>
        </p:nvSpPr>
        <p:spPr>
          <a:xfrm>
            <a:off x="502920" y="786384"/>
            <a:ext cx="11155680" cy="3200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565392"/>
            <a:ext cx="8046720" cy="201168"/>
          </a:xfrm>
          <a:prstGeom prst="rect">
            <a:avLst/>
          </a:prstGeom>
          <a:noFill/>
        </p:spPr>
        <p:txBody>
          <a:bodyPr wrap="square" lIns="73152" rIns="73152" tIns="36576" bIns="36576">
            <a:normAutofit/>
          </a:bodyPr>
          <a:lstStyle/>
          <a:p>
            <a:pPr algn="l"/>
            <a:r>
              <a:rPr sz="830" b="0">
                <a:solidFill>
                  <a:srgbClr val="4B5563"/>
                </a:solidFill>
                <a:latin typeface="Aptos"/>
              </a:rPr>
              <a:t>BLM308 Veri Madenciliği Final Projesi</a:t>
            </a:r>
          </a:p>
        </p:txBody>
      </p:sp>
      <p:sp>
        <p:nvSpPr>
          <p:cNvPr id="5" name="TextBox 4"/>
          <p:cNvSpPr txBox="1"/>
          <p:nvPr/>
        </p:nvSpPr>
        <p:spPr>
          <a:xfrm>
            <a:off x="11155680" y="6565392"/>
            <a:ext cx="457200" cy="201168"/>
          </a:xfrm>
          <a:prstGeom prst="rect">
            <a:avLst/>
          </a:prstGeom>
          <a:noFill/>
        </p:spPr>
        <p:txBody>
          <a:bodyPr wrap="square" lIns="73152" rIns="73152" tIns="36576" bIns="36576">
            <a:normAutofit/>
          </a:bodyPr>
          <a:lstStyle/>
          <a:p>
            <a:pPr algn="r"/>
            <a:r>
              <a:rPr sz="830" b="0">
                <a:solidFill>
                  <a:srgbClr val="4B5563"/>
                </a:solidFill>
                <a:latin typeface="Aptos"/>
              </a:rPr>
              <a:t>33</a:t>
            </a:r>
          </a:p>
        </p:txBody>
      </p:sp>
      <p:sp>
        <p:nvSpPr>
          <p:cNvPr id="6" name="Rounded Rectangle 5"/>
          <p:cNvSpPr/>
          <p:nvPr/>
        </p:nvSpPr>
        <p:spPr>
          <a:xfrm>
            <a:off x="530352" y="2048256"/>
            <a:ext cx="1481328" cy="786384"/>
          </a:xfrm>
          <a:prstGeom prst="round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2167128"/>
            <a:ext cx="1408176" cy="475488"/>
          </a:xfrm>
          <a:prstGeom prst="rect">
            <a:avLst/>
          </a:prstGeom>
          <a:noFill/>
        </p:spPr>
        <p:txBody>
          <a:bodyPr wrap="square" lIns="73152" rIns="73152" tIns="36576" bIns="36576">
            <a:normAutofit/>
          </a:bodyPr>
          <a:lstStyle/>
          <a:p>
            <a:pPr algn="ctr"/>
            <a:r>
              <a:rPr sz="1230" b="1">
                <a:solidFill>
                  <a:srgbClr val="FFFFFF"/>
                </a:solidFill>
                <a:latin typeface="Aptos"/>
              </a:rPr>
              <a:t>Müşteri
bilgisi</a:t>
            </a:r>
          </a:p>
        </p:txBody>
      </p:sp>
      <p:sp>
        <p:nvSpPr>
          <p:cNvPr id="8" name="TextBox 7"/>
          <p:cNvSpPr txBox="1"/>
          <p:nvPr/>
        </p:nvSpPr>
        <p:spPr>
          <a:xfrm>
            <a:off x="2011680" y="2276856"/>
            <a:ext cx="310896" cy="219456"/>
          </a:xfrm>
          <a:prstGeom prst="rect">
            <a:avLst/>
          </a:prstGeom>
          <a:noFill/>
        </p:spPr>
        <p:txBody>
          <a:bodyPr wrap="square" lIns="73152" rIns="73152" tIns="36576" bIns="36576">
            <a:normAutofit/>
          </a:bodyPr>
          <a:lstStyle/>
          <a:p>
            <a:pPr algn="ctr"/>
            <a:r>
              <a:rPr sz="1700" b="1">
                <a:solidFill>
                  <a:srgbClr val="4B5563"/>
                </a:solidFill>
                <a:latin typeface="Aptos"/>
              </a:rPr>
              <a:t>→</a:t>
            </a:r>
          </a:p>
        </p:txBody>
      </p:sp>
      <p:sp>
        <p:nvSpPr>
          <p:cNvPr id="9" name="Rounded Rectangle 8"/>
          <p:cNvSpPr/>
          <p:nvPr/>
        </p:nvSpPr>
        <p:spPr>
          <a:xfrm>
            <a:off x="2432304" y="2048256"/>
            <a:ext cx="1481328" cy="786384"/>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468880" y="2167128"/>
            <a:ext cx="1408176" cy="475488"/>
          </a:xfrm>
          <a:prstGeom prst="rect">
            <a:avLst/>
          </a:prstGeom>
          <a:noFill/>
        </p:spPr>
        <p:txBody>
          <a:bodyPr wrap="square" lIns="73152" rIns="73152" tIns="36576" bIns="36576">
            <a:normAutofit/>
          </a:bodyPr>
          <a:lstStyle/>
          <a:p>
            <a:pPr algn="ctr"/>
            <a:r>
              <a:rPr sz="1230" b="1">
                <a:solidFill>
                  <a:srgbClr val="FFFFFF"/>
                </a:solidFill>
                <a:latin typeface="Aptos"/>
              </a:rPr>
              <a:t>Ön
işleme</a:t>
            </a:r>
          </a:p>
        </p:txBody>
      </p:sp>
      <p:sp>
        <p:nvSpPr>
          <p:cNvPr id="11" name="TextBox 10"/>
          <p:cNvSpPr txBox="1"/>
          <p:nvPr/>
        </p:nvSpPr>
        <p:spPr>
          <a:xfrm>
            <a:off x="3913632" y="2276856"/>
            <a:ext cx="310896" cy="219456"/>
          </a:xfrm>
          <a:prstGeom prst="rect">
            <a:avLst/>
          </a:prstGeom>
          <a:noFill/>
        </p:spPr>
        <p:txBody>
          <a:bodyPr wrap="square" lIns="73152" rIns="73152" tIns="36576" bIns="36576">
            <a:normAutofit/>
          </a:bodyPr>
          <a:lstStyle/>
          <a:p>
            <a:pPr algn="ctr"/>
            <a:r>
              <a:rPr sz="1700" b="1">
                <a:solidFill>
                  <a:srgbClr val="4B5563"/>
                </a:solidFill>
                <a:latin typeface="Aptos"/>
              </a:rPr>
              <a:t>→</a:t>
            </a:r>
          </a:p>
        </p:txBody>
      </p:sp>
      <p:sp>
        <p:nvSpPr>
          <p:cNvPr id="12" name="Rounded Rectangle 11"/>
          <p:cNvSpPr/>
          <p:nvPr/>
        </p:nvSpPr>
        <p:spPr>
          <a:xfrm>
            <a:off x="4334256" y="2048256"/>
            <a:ext cx="1481328" cy="786384"/>
          </a:xfrm>
          <a:prstGeom prst="roundRect">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370832" y="2167128"/>
            <a:ext cx="1408176" cy="475488"/>
          </a:xfrm>
          <a:prstGeom prst="rect">
            <a:avLst/>
          </a:prstGeom>
          <a:noFill/>
        </p:spPr>
        <p:txBody>
          <a:bodyPr wrap="square" lIns="73152" rIns="73152" tIns="36576" bIns="36576">
            <a:normAutofit/>
          </a:bodyPr>
          <a:lstStyle/>
          <a:p>
            <a:pPr algn="ctr"/>
            <a:r>
              <a:rPr sz="1230" b="1">
                <a:solidFill>
                  <a:srgbClr val="FFFFFF"/>
                </a:solidFill>
                <a:latin typeface="Aptos"/>
              </a:rPr>
              <a:t>Model
tahmini</a:t>
            </a:r>
          </a:p>
        </p:txBody>
      </p:sp>
      <p:sp>
        <p:nvSpPr>
          <p:cNvPr id="14" name="TextBox 13"/>
          <p:cNvSpPr txBox="1"/>
          <p:nvPr/>
        </p:nvSpPr>
        <p:spPr>
          <a:xfrm>
            <a:off x="5815584" y="2276856"/>
            <a:ext cx="310896" cy="219456"/>
          </a:xfrm>
          <a:prstGeom prst="rect">
            <a:avLst/>
          </a:prstGeom>
          <a:noFill/>
        </p:spPr>
        <p:txBody>
          <a:bodyPr wrap="square" lIns="73152" rIns="73152" tIns="36576" bIns="36576">
            <a:normAutofit/>
          </a:bodyPr>
          <a:lstStyle/>
          <a:p>
            <a:pPr algn="ctr"/>
            <a:r>
              <a:rPr sz="1700" b="1">
                <a:solidFill>
                  <a:srgbClr val="4B5563"/>
                </a:solidFill>
                <a:latin typeface="Aptos"/>
              </a:rPr>
              <a:t>→</a:t>
            </a:r>
          </a:p>
        </p:txBody>
      </p:sp>
      <p:sp>
        <p:nvSpPr>
          <p:cNvPr id="15" name="Rounded Rectangle 14"/>
          <p:cNvSpPr/>
          <p:nvPr/>
        </p:nvSpPr>
        <p:spPr>
          <a:xfrm>
            <a:off x="6236208" y="2048256"/>
            <a:ext cx="1481328" cy="786384"/>
          </a:xfrm>
          <a:prstGeom prst="round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2784" y="2167128"/>
            <a:ext cx="1408176" cy="475488"/>
          </a:xfrm>
          <a:prstGeom prst="rect">
            <a:avLst/>
          </a:prstGeom>
          <a:noFill/>
        </p:spPr>
        <p:txBody>
          <a:bodyPr wrap="square" lIns="73152" rIns="73152" tIns="36576" bIns="36576">
            <a:normAutofit/>
          </a:bodyPr>
          <a:lstStyle/>
          <a:p>
            <a:pPr algn="ctr"/>
            <a:r>
              <a:rPr sz="1230" b="1">
                <a:solidFill>
                  <a:srgbClr val="FFFFFF"/>
                </a:solidFill>
                <a:latin typeface="Aptos"/>
              </a:rPr>
              <a:t>Sonuç
metni</a:t>
            </a:r>
          </a:p>
        </p:txBody>
      </p:sp>
      <p:sp>
        <p:nvSpPr>
          <p:cNvPr id="17" name="TextBox 16"/>
          <p:cNvSpPr txBox="1"/>
          <p:nvPr/>
        </p:nvSpPr>
        <p:spPr>
          <a:xfrm>
            <a:off x="7717536" y="2276856"/>
            <a:ext cx="310896" cy="219456"/>
          </a:xfrm>
          <a:prstGeom prst="rect">
            <a:avLst/>
          </a:prstGeom>
          <a:noFill/>
        </p:spPr>
        <p:txBody>
          <a:bodyPr wrap="square" lIns="73152" rIns="73152" tIns="36576" bIns="36576">
            <a:normAutofit/>
          </a:bodyPr>
          <a:lstStyle/>
          <a:p>
            <a:pPr algn="ctr"/>
            <a:r>
              <a:rPr sz="1700" b="1">
                <a:solidFill>
                  <a:srgbClr val="4B5563"/>
                </a:solidFill>
                <a:latin typeface="Aptos"/>
              </a:rPr>
              <a:t>→</a:t>
            </a:r>
          </a:p>
        </p:txBody>
      </p:sp>
      <p:sp>
        <p:nvSpPr>
          <p:cNvPr id="18" name="Rounded Rectangle 17"/>
          <p:cNvSpPr/>
          <p:nvPr/>
        </p:nvSpPr>
        <p:spPr>
          <a:xfrm>
            <a:off x="8138160" y="2048256"/>
            <a:ext cx="1481328" cy="786384"/>
          </a:xfrm>
          <a:prstGeom prst="round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74736" y="2167128"/>
            <a:ext cx="1408176" cy="475488"/>
          </a:xfrm>
          <a:prstGeom prst="rect">
            <a:avLst/>
          </a:prstGeom>
          <a:noFill/>
        </p:spPr>
        <p:txBody>
          <a:bodyPr wrap="square" lIns="73152" rIns="73152" tIns="36576" bIns="36576">
            <a:normAutofit/>
          </a:bodyPr>
          <a:lstStyle/>
          <a:p>
            <a:pPr algn="ctr"/>
            <a:r>
              <a:rPr sz="1230" b="1">
                <a:solidFill>
                  <a:srgbClr val="FFFFFF"/>
                </a:solidFill>
                <a:latin typeface="Aptos"/>
              </a:rPr>
              <a:t>XAI
çıktısı</a:t>
            </a:r>
          </a:p>
        </p:txBody>
      </p:sp>
      <p:sp>
        <p:nvSpPr>
          <p:cNvPr id="20" name="TextBox 19"/>
          <p:cNvSpPr txBox="1"/>
          <p:nvPr/>
        </p:nvSpPr>
        <p:spPr>
          <a:xfrm>
            <a:off x="9619488" y="2276856"/>
            <a:ext cx="310896" cy="219456"/>
          </a:xfrm>
          <a:prstGeom prst="rect">
            <a:avLst/>
          </a:prstGeom>
          <a:noFill/>
        </p:spPr>
        <p:txBody>
          <a:bodyPr wrap="square" lIns="73152" rIns="73152" tIns="36576" bIns="36576">
            <a:normAutofit/>
          </a:bodyPr>
          <a:lstStyle/>
          <a:p>
            <a:pPr algn="ctr"/>
            <a:r>
              <a:rPr sz="1700" b="1">
                <a:solidFill>
                  <a:srgbClr val="4B5563"/>
                </a:solidFill>
                <a:latin typeface="Aptos"/>
              </a:rPr>
              <a:t>→</a:t>
            </a:r>
          </a:p>
        </p:txBody>
      </p:sp>
      <p:sp>
        <p:nvSpPr>
          <p:cNvPr id="21" name="Rounded Rectangle 20"/>
          <p:cNvSpPr/>
          <p:nvPr/>
        </p:nvSpPr>
        <p:spPr>
          <a:xfrm>
            <a:off x="10040112" y="2048256"/>
            <a:ext cx="1481328" cy="786384"/>
          </a:xfrm>
          <a:prstGeom prst="round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076688" y="2167128"/>
            <a:ext cx="1408176" cy="475488"/>
          </a:xfrm>
          <a:prstGeom prst="rect">
            <a:avLst/>
          </a:prstGeom>
          <a:noFill/>
        </p:spPr>
        <p:txBody>
          <a:bodyPr wrap="square" lIns="73152" rIns="73152" tIns="36576" bIns="36576">
            <a:normAutofit/>
          </a:bodyPr>
          <a:lstStyle/>
          <a:p>
            <a:pPr algn="ctr"/>
            <a:r>
              <a:rPr sz="1230" b="1">
                <a:solidFill>
                  <a:srgbClr val="FFFFFF"/>
                </a:solidFill>
                <a:latin typeface="Aptos"/>
              </a:rPr>
              <a:t>Karar
desteği</a:t>
            </a:r>
          </a:p>
        </p:txBody>
      </p:sp>
      <p:sp>
        <p:nvSpPr>
          <p:cNvPr id="23" name="TextBox 22"/>
          <p:cNvSpPr txBox="1"/>
          <p:nvPr/>
        </p:nvSpPr>
        <p:spPr>
          <a:xfrm>
            <a:off x="822960" y="3429000"/>
            <a:ext cx="10469880" cy="1508760"/>
          </a:xfrm>
          <a:prstGeom prst="rect">
            <a:avLst/>
          </a:prstGeom>
          <a:noFill/>
        </p:spPr>
        <p:txBody>
          <a:bodyPr wrap="square" lIns="73152" rIns="73152" tIns="36576" bIns="36576">
            <a:normAutofit/>
          </a:bodyPr>
          <a:lstStyle/>
          <a:p>
            <a:pPr algn="l">
              <a:spcAft>
                <a:spcPts val="500"/>
              </a:spcAft>
              <a:defRPr sz="1400">
                <a:solidFill>
                  <a:srgbClr val="111827"/>
                </a:solidFill>
                <a:latin typeface="Aptos"/>
              </a:defRPr>
            </a:pPr>
            <a:r>
              <a:t>Kullanıcı arayüzde müşteri bilgilerini girer. Bu bilgiler eğitim sırasında kullanılan ön işleme adımlarından geçirilir ve Random Forest modeline aktarılır.</a:t>
            </a:r>
          </a:p>
          <a:p>
            <a:pPr algn="l">
              <a:spcAft>
                <a:spcPts val="500"/>
              </a:spcAft>
              <a:defRPr sz="1400">
                <a:solidFill>
                  <a:srgbClr val="111827"/>
                </a:solidFill>
                <a:latin typeface="Aptos"/>
              </a:defRPr>
            </a:pPr>
            <a:r>
              <a:t>Model olasılık üretir; uygulama bu olasılığı Türkçe bir sonuç metnine dönüştürür. Alt bölümde ise genel karar faktörleri gösterilerek tahminin hangi değişkenlerle ilişkili olduğu açıklanır.</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01168"/>
            <a:ext cx="11155680" cy="457200"/>
          </a:xfrm>
          <a:prstGeom prst="rect">
            <a:avLst/>
          </a:prstGeom>
          <a:noFill/>
        </p:spPr>
        <p:txBody>
          <a:bodyPr wrap="square" lIns="73152" rIns="73152" tIns="36576" bIns="36576">
            <a:normAutofit/>
          </a:bodyPr>
          <a:lstStyle/>
          <a:p>
            <a:pPr algn="l"/>
            <a:r>
              <a:rPr sz="2250" b="1">
                <a:solidFill>
                  <a:srgbClr val="1F4E79"/>
                </a:solidFill>
                <a:latin typeface="Aptos"/>
              </a:rPr>
              <a:t>Üç Kişilik Rol Dağılımı</a:t>
            </a:r>
          </a:p>
        </p:txBody>
      </p:sp>
      <p:sp>
        <p:nvSpPr>
          <p:cNvPr id="3" name="Rectangle 2"/>
          <p:cNvSpPr/>
          <p:nvPr/>
        </p:nvSpPr>
        <p:spPr>
          <a:xfrm>
            <a:off x="502920" y="786384"/>
            <a:ext cx="11155680" cy="3200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565392"/>
            <a:ext cx="8046720" cy="201168"/>
          </a:xfrm>
          <a:prstGeom prst="rect">
            <a:avLst/>
          </a:prstGeom>
          <a:noFill/>
        </p:spPr>
        <p:txBody>
          <a:bodyPr wrap="square" lIns="73152" rIns="73152" tIns="36576" bIns="36576">
            <a:normAutofit/>
          </a:bodyPr>
          <a:lstStyle/>
          <a:p>
            <a:pPr algn="l"/>
            <a:r>
              <a:rPr sz="830" b="0">
                <a:solidFill>
                  <a:srgbClr val="4B5563"/>
                </a:solidFill>
                <a:latin typeface="Aptos"/>
              </a:rPr>
              <a:t>BLM308 Veri Madenciliği Final Projesi</a:t>
            </a:r>
          </a:p>
        </p:txBody>
      </p:sp>
      <p:sp>
        <p:nvSpPr>
          <p:cNvPr id="5" name="TextBox 4"/>
          <p:cNvSpPr txBox="1"/>
          <p:nvPr/>
        </p:nvSpPr>
        <p:spPr>
          <a:xfrm>
            <a:off x="11155680" y="6565392"/>
            <a:ext cx="457200" cy="201168"/>
          </a:xfrm>
          <a:prstGeom prst="rect">
            <a:avLst/>
          </a:prstGeom>
          <a:noFill/>
        </p:spPr>
        <p:txBody>
          <a:bodyPr wrap="square" lIns="73152" rIns="73152" tIns="36576" bIns="36576">
            <a:normAutofit/>
          </a:bodyPr>
          <a:lstStyle/>
          <a:p>
            <a:pPr algn="r"/>
            <a:r>
              <a:rPr sz="830" b="0">
                <a:solidFill>
                  <a:srgbClr val="4B5563"/>
                </a:solidFill>
                <a:latin typeface="Aptos"/>
              </a:rPr>
              <a:t>34</a:t>
            </a:r>
          </a:p>
        </p:txBody>
      </p:sp>
      <p:graphicFrame>
        <p:nvGraphicFramePr>
          <p:cNvPr id="6" name="Table 5"/>
          <p:cNvGraphicFramePr>
            <a:graphicFrameLocks noGrp="1"/>
          </p:cNvGraphicFramePr>
          <p:nvPr/>
        </p:nvGraphicFramePr>
        <p:xfrm>
          <a:off x="685800" y="1143000"/>
          <a:ext cx="10835640" cy="2240280"/>
        </p:xfrm>
        <a:graphic>
          <a:graphicData uri="http://schemas.openxmlformats.org/drawingml/2006/table">
            <a:tbl>
              <a:tblPr firstRow="1" bandRow="1">
                <a:tableStyleId>{5C22544A-7EE6-4342-B048-85BDC9FD1C3A}</a:tableStyleId>
              </a:tblPr>
              <a:tblGrid>
                <a:gridCol w="3611880"/>
                <a:gridCol w="3611880"/>
                <a:gridCol w="3611880"/>
              </a:tblGrid>
              <a:tr h="560070">
                <a:tc>
                  <a:txBody>
                    <a:bodyPr/>
                    <a:lstStyle/>
                    <a:p>
                      <a:pPr algn="ctr">
                        <a:defRPr sz="1100">
                          <a:solidFill>
                            <a:srgbClr val="FFFFFF"/>
                          </a:solidFill>
                          <a:latin typeface="Aptos"/>
                        </a:defRPr>
                      </a:pPr>
                      <a:r>
                        <a:t>Öğrenci</a:t>
                      </a:r>
                    </a:p>
                  </a:txBody>
                  <a:tcPr>
                    <a:solidFill>
                      <a:srgbClr val="1F4E79"/>
                    </a:solidFill>
                  </a:tcPr>
                </a:tc>
                <a:tc>
                  <a:txBody>
                    <a:bodyPr/>
                    <a:lstStyle/>
                    <a:p>
                      <a:pPr algn="ctr">
                        <a:defRPr sz="1100">
                          <a:solidFill>
                            <a:srgbClr val="FFFFFF"/>
                          </a:solidFill>
                          <a:latin typeface="Aptos"/>
                        </a:defRPr>
                      </a:pPr>
                      <a:r>
                        <a:t>Numara</a:t>
                      </a:r>
                    </a:p>
                  </a:txBody>
                  <a:tcPr>
                    <a:solidFill>
                      <a:srgbClr val="1F4E79"/>
                    </a:solidFill>
                  </a:tcPr>
                </a:tc>
                <a:tc>
                  <a:txBody>
                    <a:bodyPr/>
                    <a:lstStyle/>
                    <a:p>
                      <a:pPr algn="ctr">
                        <a:defRPr sz="1100">
                          <a:solidFill>
                            <a:srgbClr val="FFFFFF"/>
                          </a:solidFill>
                          <a:latin typeface="Aptos"/>
                        </a:defRPr>
                      </a:pPr>
                      <a:r>
                        <a:t>Sorumluluk alanı</a:t>
                      </a:r>
                    </a:p>
                  </a:txBody>
                  <a:tcPr>
                    <a:solidFill>
                      <a:srgbClr val="1F4E79"/>
                    </a:solidFill>
                  </a:tcPr>
                </a:tc>
              </a:tr>
              <a:tr h="560070">
                <a:tc>
                  <a:txBody>
                    <a:bodyPr/>
                    <a:lstStyle/>
                    <a:p>
                      <a:pPr algn="ctr">
                        <a:defRPr sz="1100">
                          <a:solidFill>
                            <a:srgbClr val="111827"/>
                          </a:solidFill>
                          <a:latin typeface="Aptos"/>
                        </a:defRPr>
                      </a:pPr>
                      <a:r>
                        <a:t>Sude ANLAŞ</a:t>
                      </a:r>
                    </a:p>
                  </a:txBody>
                  <a:tcPr>
                    <a:solidFill>
                      <a:srgbClr val="F8FAFC"/>
                    </a:solidFill>
                  </a:tcPr>
                </a:tc>
                <a:tc>
                  <a:txBody>
                    <a:bodyPr/>
                    <a:lstStyle/>
                    <a:p>
                      <a:pPr algn="ctr">
                        <a:defRPr sz="1100">
                          <a:solidFill>
                            <a:srgbClr val="111827"/>
                          </a:solidFill>
                          <a:latin typeface="Aptos"/>
                        </a:defRPr>
                      </a:pPr>
                      <a:r>
                        <a:t>231041038</a:t>
                      </a:r>
                    </a:p>
                  </a:txBody>
                  <a:tcPr>
                    <a:solidFill>
                      <a:srgbClr val="F8FAFC"/>
                    </a:solidFill>
                  </a:tcPr>
                </a:tc>
                <a:tc>
                  <a:txBody>
                    <a:bodyPr/>
                    <a:lstStyle/>
                    <a:p>
                      <a:pPr algn="ctr">
                        <a:defRPr sz="1100">
                          <a:solidFill>
                            <a:srgbClr val="111827"/>
                          </a:solidFill>
                          <a:latin typeface="Aptos"/>
                        </a:defRPr>
                      </a:pPr>
                      <a:r>
                        <a:t>Veri hazırlığı, arayüz Türkçeleştirme ve rapor düzeni</a:t>
                      </a:r>
                    </a:p>
                  </a:txBody>
                  <a:tcPr>
                    <a:solidFill>
                      <a:srgbClr val="F8FAFC"/>
                    </a:solidFill>
                  </a:tcPr>
                </a:tc>
              </a:tr>
              <a:tr h="560070">
                <a:tc>
                  <a:txBody>
                    <a:bodyPr/>
                    <a:lstStyle/>
                    <a:p>
                      <a:pPr algn="ctr">
                        <a:defRPr sz="1100">
                          <a:solidFill>
                            <a:srgbClr val="111827"/>
                          </a:solidFill>
                          <a:latin typeface="Aptos"/>
                        </a:defRPr>
                      </a:pPr>
                      <a:r>
                        <a:t>Doğan Fatih OĞUR</a:t>
                      </a:r>
                    </a:p>
                  </a:txBody>
                  <a:tcPr>
                    <a:solidFill>
                      <a:srgbClr val="F8FAFC"/>
                    </a:solidFill>
                  </a:tcPr>
                </a:tc>
                <a:tc>
                  <a:txBody>
                    <a:bodyPr/>
                    <a:lstStyle/>
                    <a:p>
                      <a:pPr algn="ctr">
                        <a:defRPr sz="1100">
                          <a:solidFill>
                            <a:srgbClr val="111827"/>
                          </a:solidFill>
                          <a:latin typeface="Aptos"/>
                        </a:defRPr>
                      </a:pPr>
                      <a:r>
                        <a:t>231041048</a:t>
                      </a:r>
                    </a:p>
                  </a:txBody>
                  <a:tcPr>
                    <a:solidFill>
                      <a:srgbClr val="F8FAFC"/>
                    </a:solidFill>
                  </a:tcPr>
                </a:tc>
                <a:tc>
                  <a:txBody>
                    <a:bodyPr/>
                    <a:lstStyle/>
                    <a:p>
                      <a:pPr algn="ctr">
                        <a:defRPr sz="1100">
                          <a:solidFill>
                            <a:srgbClr val="111827"/>
                          </a:solidFill>
                          <a:latin typeface="Aptos"/>
                        </a:defRPr>
                      </a:pPr>
                      <a:r>
                        <a:t>Modelleme, metrik karşılaştırması ve deney kurulumu</a:t>
                      </a:r>
                    </a:p>
                  </a:txBody>
                  <a:tcPr>
                    <a:solidFill>
                      <a:srgbClr val="F8FAFC"/>
                    </a:solidFill>
                  </a:tcPr>
                </a:tc>
              </a:tr>
              <a:tr h="560070">
                <a:tc>
                  <a:txBody>
                    <a:bodyPr/>
                    <a:lstStyle/>
                    <a:p>
                      <a:pPr algn="ctr">
                        <a:defRPr sz="1100">
                          <a:solidFill>
                            <a:srgbClr val="111827"/>
                          </a:solidFill>
                          <a:latin typeface="Aptos"/>
                        </a:defRPr>
                      </a:pPr>
                      <a:r>
                        <a:t>Merve Naz ORAN</a:t>
                      </a:r>
                    </a:p>
                  </a:txBody>
                  <a:tcPr>
                    <a:solidFill>
                      <a:srgbClr val="F8FAFC"/>
                    </a:solidFill>
                  </a:tcPr>
                </a:tc>
                <a:tc>
                  <a:txBody>
                    <a:bodyPr/>
                    <a:lstStyle/>
                    <a:p>
                      <a:pPr algn="ctr">
                        <a:defRPr sz="1100">
                          <a:solidFill>
                            <a:srgbClr val="111827"/>
                          </a:solidFill>
                          <a:latin typeface="Aptos"/>
                        </a:defRPr>
                      </a:pPr>
                      <a:r>
                        <a:t>231041058</a:t>
                      </a:r>
                    </a:p>
                  </a:txBody>
                  <a:tcPr>
                    <a:solidFill>
                      <a:srgbClr val="F8FAFC"/>
                    </a:solidFill>
                  </a:tcPr>
                </a:tc>
                <a:tc>
                  <a:txBody>
                    <a:bodyPr/>
                    <a:lstStyle/>
                    <a:p>
                      <a:pPr algn="ctr">
                        <a:defRPr sz="1100">
                          <a:solidFill>
                            <a:srgbClr val="111827"/>
                          </a:solidFill>
                          <a:latin typeface="Aptos"/>
                        </a:defRPr>
                      </a:pPr>
                      <a:r>
                        <a:t>XAI analizi, istatistiksel değerlendirme ve sunum içeriği</a:t>
                      </a:r>
                    </a:p>
                  </a:txBody>
                  <a:tcPr>
                    <a:solidFill>
                      <a:srgbClr val="F8FAFC"/>
                    </a:solidFill>
                  </a:tcPr>
                </a:tc>
              </a:tr>
            </a:tbl>
          </a:graphicData>
        </a:graphic>
      </p:graphicFrame>
      <p:sp>
        <p:nvSpPr>
          <p:cNvPr id="7" name="TextBox 6"/>
          <p:cNvSpPr txBox="1"/>
          <p:nvPr/>
        </p:nvSpPr>
        <p:spPr>
          <a:xfrm>
            <a:off x="777240" y="3794760"/>
            <a:ext cx="10652760" cy="1143000"/>
          </a:xfrm>
          <a:prstGeom prst="rect">
            <a:avLst/>
          </a:prstGeom>
          <a:noFill/>
        </p:spPr>
        <p:txBody>
          <a:bodyPr wrap="square" lIns="73152" rIns="73152" tIns="36576" bIns="36576">
            <a:normAutofit/>
          </a:bodyPr>
          <a:lstStyle/>
          <a:p>
            <a:pPr algn="l">
              <a:spcAft>
                <a:spcPts val="500"/>
              </a:spcAft>
              <a:defRPr sz="1380">
                <a:solidFill>
                  <a:srgbClr val="111827"/>
                </a:solidFill>
                <a:latin typeface="Aptos"/>
              </a:defRPr>
            </a:pPr>
            <a:r>
              <a:t>Rol dağılımı, yalnızca isim tablosu olarak bırakılmamıştır; proje kapsamı üç kişilik ekip çalışmasına uygun biçimde genişletilmiştir.</a:t>
            </a:r>
          </a:p>
          <a:p>
            <a:pPr algn="l">
              <a:spcAft>
                <a:spcPts val="500"/>
              </a:spcAft>
              <a:defRPr sz="1380">
                <a:solidFill>
                  <a:srgbClr val="111827"/>
                </a:solidFill>
                <a:latin typeface="Aptos"/>
              </a:defRPr>
            </a:pPr>
            <a:r>
              <a:t>Veri hazırlığı, modelleme, açıklanabilirlik, istatistiksel test, rapor ve çalışan uygulama çıktıları farklı iş paketleri olarak ele alınmıştır.</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1F4E79"/>
        </a:solidFill>
        <a:effectLst/>
      </p:bgPr>
    </p:bg>
    <p:spTree>
      <p:nvGrpSpPr>
        <p:cNvPr id="1" name=""/>
        <p:cNvGrpSpPr/>
        <p:nvPr/>
      </p:nvGrpSpPr>
      <p:grpSpPr/>
      <p:sp>
        <p:nvSpPr>
          <p:cNvPr id="2" name="TextBox 1"/>
          <p:cNvSpPr txBox="1"/>
          <p:nvPr/>
        </p:nvSpPr>
        <p:spPr>
          <a:xfrm>
            <a:off x="685800" y="1325880"/>
            <a:ext cx="10789920" cy="640080"/>
          </a:xfrm>
          <a:prstGeom prst="rect">
            <a:avLst/>
          </a:prstGeom>
          <a:noFill/>
        </p:spPr>
        <p:txBody>
          <a:bodyPr wrap="square" lIns="73152" rIns="73152" tIns="36576" bIns="36576">
            <a:normAutofit/>
          </a:bodyPr>
          <a:lstStyle/>
          <a:p>
            <a:pPr algn="l"/>
            <a:r>
              <a:rPr sz="3400" b="1">
                <a:solidFill>
                  <a:srgbClr val="FFFFFF"/>
                </a:solidFill>
                <a:latin typeface="Aptos"/>
              </a:rPr>
              <a:t>8. Sonuç ve Değerlendirme</a:t>
            </a:r>
          </a:p>
        </p:txBody>
      </p:sp>
      <p:sp>
        <p:nvSpPr>
          <p:cNvPr id="3" name="TextBox 2"/>
          <p:cNvSpPr txBox="1"/>
          <p:nvPr/>
        </p:nvSpPr>
        <p:spPr>
          <a:xfrm>
            <a:off x="713232" y="2121408"/>
            <a:ext cx="10424160" cy="548640"/>
          </a:xfrm>
          <a:prstGeom prst="rect">
            <a:avLst/>
          </a:prstGeom>
          <a:noFill/>
        </p:spPr>
        <p:txBody>
          <a:bodyPr wrap="square" lIns="73152" rIns="73152" tIns="36576" bIns="36576">
            <a:normAutofit/>
          </a:bodyPr>
          <a:lstStyle/>
          <a:p>
            <a:pPr algn="l"/>
            <a:r>
              <a:rPr sz="1850" b="0">
                <a:solidFill>
                  <a:srgbClr val="DBEAFE"/>
                </a:solidFill>
                <a:latin typeface="Aptos"/>
              </a:rPr>
              <a:t>Proje, tahmin performansı ile açıklanabilirliği birlikte ele alan uygulanabilir bir veri madenciliği çalışmasıdır.</a:t>
            </a:r>
          </a:p>
        </p:txBody>
      </p:sp>
      <p:sp>
        <p:nvSpPr>
          <p:cNvPr id="4" name="TextBox 3"/>
          <p:cNvSpPr txBox="1"/>
          <p:nvPr/>
        </p:nvSpPr>
        <p:spPr>
          <a:xfrm>
            <a:off x="731520" y="2953512"/>
            <a:ext cx="10104120" cy="1572768"/>
          </a:xfrm>
          <a:prstGeom prst="rect">
            <a:avLst/>
          </a:prstGeom>
          <a:noFill/>
        </p:spPr>
        <p:txBody>
          <a:bodyPr wrap="square" lIns="73152" rIns="73152" tIns="36576" bIns="36576">
            <a:normAutofit/>
          </a:bodyPr>
          <a:lstStyle/>
          <a:p>
            <a:pPr algn="l">
              <a:spcAft>
                <a:spcPts val="600"/>
              </a:spcAft>
              <a:defRPr sz="1460">
                <a:solidFill>
                  <a:srgbClr val="FFFFFF"/>
                </a:solidFill>
                <a:latin typeface="Aptos"/>
              </a:defRPr>
            </a:pPr>
            <a:r>
              <a:t>Çalışmanın ana çıktısı, banka kampanyalarında müşteri önceliklendirmesi yapabilen ve model kararlarını Türkçe olarak açıklayabilen bir sistemdir.</a:t>
            </a:r>
          </a:p>
          <a:p>
            <a:pPr algn="l">
              <a:spcAft>
                <a:spcPts val="600"/>
              </a:spcAft>
              <a:defRPr sz="1460">
                <a:solidFill>
                  <a:srgbClr val="FFFFFF"/>
                </a:solidFill>
                <a:latin typeface="Aptos"/>
              </a:defRPr>
            </a:pPr>
            <a:r>
              <a:t>Elde edilen sonuçlar, model başarısının tek başına yeterli olmadığını; gerçek kullanım senaryosu, veri sızıntısı, sınıf dengesizliği ve açıklanabilirlik boyutlarının birlikte değerlendirilmesi gerektiğini göstermektedir.</a:t>
            </a:r>
          </a:p>
        </p:txBody>
      </p:sp>
      <p:sp>
        <p:nvSpPr>
          <p:cNvPr id="5" name="TextBox 4"/>
          <p:cNvSpPr txBox="1"/>
          <p:nvPr/>
        </p:nvSpPr>
        <p:spPr>
          <a:xfrm>
            <a:off x="502920" y="6565392"/>
            <a:ext cx="8046720" cy="201168"/>
          </a:xfrm>
          <a:prstGeom prst="rect">
            <a:avLst/>
          </a:prstGeom>
          <a:noFill/>
        </p:spPr>
        <p:txBody>
          <a:bodyPr wrap="square" lIns="73152" rIns="73152" tIns="36576" bIns="36576">
            <a:normAutofit/>
          </a:bodyPr>
          <a:lstStyle/>
          <a:p>
            <a:pPr algn="l"/>
            <a:r>
              <a:rPr sz="830" b="0">
                <a:solidFill>
                  <a:srgbClr val="4B5563"/>
                </a:solidFill>
                <a:latin typeface="Aptos"/>
              </a:rPr>
              <a:t>BLM308 Veri Madenciliği Final Projesi</a:t>
            </a:r>
          </a:p>
        </p:txBody>
      </p:sp>
      <p:sp>
        <p:nvSpPr>
          <p:cNvPr id="6" name="TextBox 5"/>
          <p:cNvSpPr txBox="1"/>
          <p:nvPr/>
        </p:nvSpPr>
        <p:spPr>
          <a:xfrm>
            <a:off x="11155680" y="6565392"/>
            <a:ext cx="457200" cy="201168"/>
          </a:xfrm>
          <a:prstGeom prst="rect">
            <a:avLst/>
          </a:prstGeom>
          <a:noFill/>
        </p:spPr>
        <p:txBody>
          <a:bodyPr wrap="square" lIns="73152" rIns="73152" tIns="36576" bIns="36576">
            <a:normAutofit/>
          </a:bodyPr>
          <a:lstStyle/>
          <a:p>
            <a:pPr algn="r"/>
            <a:r>
              <a:rPr sz="830" b="0">
                <a:solidFill>
                  <a:srgbClr val="4B5563"/>
                </a:solidFill>
                <a:latin typeface="Aptos"/>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01168"/>
            <a:ext cx="11155680" cy="457200"/>
          </a:xfrm>
          <a:prstGeom prst="rect">
            <a:avLst/>
          </a:prstGeom>
          <a:noFill/>
        </p:spPr>
        <p:txBody>
          <a:bodyPr wrap="square" lIns="73152" rIns="73152" tIns="36576" bIns="36576">
            <a:normAutofit/>
          </a:bodyPr>
          <a:lstStyle/>
          <a:p>
            <a:pPr algn="l"/>
            <a:r>
              <a:rPr sz="2250" b="1">
                <a:solidFill>
                  <a:srgbClr val="1F4E79"/>
                </a:solidFill>
                <a:latin typeface="Aptos"/>
              </a:rPr>
              <a:t>Genel Sonuçlar</a:t>
            </a:r>
          </a:p>
        </p:txBody>
      </p:sp>
      <p:sp>
        <p:nvSpPr>
          <p:cNvPr id="3" name="Rectangle 2"/>
          <p:cNvSpPr/>
          <p:nvPr/>
        </p:nvSpPr>
        <p:spPr>
          <a:xfrm>
            <a:off x="502920" y="786384"/>
            <a:ext cx="11155680" cy="3200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565392"/>
            <a:ext cx="8046720" cy="201168"/>
          </a:xfrm>
          <a:prstGeom prst="rect">
            <a:avLst/>
          </a:prstGeom>
          <a:noFill/>
        </p:spPr>
        <p:txBody>
          <a:bodyPr wrap="square" lIns="73152" rIns="73152" tIns="36576" bIns="36576">
            <a:normAutofit/>
          </a:bodyPr>
          <a:lstStyle/>
          <a:p>
            <a:pPr algn="l"/>
            <a:r>
              <a:rPr sz="830" b="0">
                <a:solidFill>
                  <a:srgbClr val="4B5563"/>
                </a:solidFill>
                <a:latin typeface="Aptos"/>
              </a:rPr>
              <a:t>BLM308 Veri Madenciliği Final Projesi</a:t>
            </a:r>
          </a:p>
        </p:txBody>
      </p:sp>
      <p:sp>
        <p:nvSpPr>
          <p:cNvPr id="5" name="TextBox 4"/>
          <p:cNvSpPr txBox="1"/>
          <p:nvPr/>
        </p:nvSpPr>
        <p:spPr>
          <a:xfrm>
            <a:off x="11155680" y="6565392"/>
            <a:ext cx="457200" cy="201168"/>
          </a:xfrm>
          <a:prstGeom prst="rect">
            <a:avLst/>
          </a:prstGeom>
          <a:noFill/>
        </p:spPr>
        <p:txBody>
          <a:bodyPr wrap="square" lIns="73152" rIns="73152" tIns="36576" bIns="36576">
            <a:normAutofit/>
          </a:bodyPr>
          <a:lstStyle/>
          <a:p>
            <a:pPr algn="r"/>
            <a:r>
              <a:rPr sz="830" b="0">
                <a:solidFill>
                  <a:srgbClr val="4B5563"/>
                </a:solidFill>
                <a:latin typeface="Aptos"/>
              </a:rPr>
              <a:t>36</a:t>
            </a:r>
          </a:p>
        </p:txBody>
      </p:sp>
      <p:sp>
        <p:nvSpPr>
          <p:cNvPr id="6" name="TextBox 5"/>
          <p:cNvSpPr txBox="1"/>
          <p:nvPr/>
        </p:nvSpPr>
        <p:spPr>
          <a:xfrm>
            <a:off x="777240" y="1143000"/>
            <a:ext cx="10744200" cy="4160520"/>
          </a:xfrm>
          <a:prstGeom prst="rect">
            <a:avLst/>
          </a:prstGeom>
          <a:noFill/>
        </p:spPr>
        <p:txBody>
          <a:bodyPr wrap="square" lIns="73152" rIns="73152" tIns="36576" bIns="36576">
            <a:normAutofit/>
          </a:bodyPr>
          <a:lstStyle/>
          <a:p>
            <a:pPr>
              <a:spcAft>
                <a:spcPts val="450"/>
              </a:spcAft>
              <a:defRPr sz="1400">
                <a:solidFill>
                  <a:srgbClr val="111827"/>
                </a:solidFill>
                <a:latin typeface="Aptos"/>
              </a:defRPr>
            </a:pPr>
            <a:r>
              <a:t>Banka pazarlama problemi, denetimli ikili sınıflandırma problemi olarak modellenmiş ve CRISP-DM sürecine uygun biçimde yürütülmüştür.</a:t>
            </a:r>
          </a:p>
          <a:p>
            <a:pPr>
              <a:spcAft>
                <a:spcPts val="450"/>
              </a:spcAft>
              <a:defRPr sz="1400">
                <a:solidFill>
                  <a:srgbClr val="111827"/>
                </a:solidFill>
                <a:latin typeface="Aptos"/>
              </a:defRPr>
            </a:pPr>
            <a:r>
              <a:t>Görüşme süresi değişkeninin veri sızıntısı riski taşıdığı gösterilmiş; gerçekçi uygulama değerlendirmesi bu değişken çıkarılarak yapılmıştır.</a:t>
            </a:r>
          </a:p>
          <a:p>
            <a:pPr>
              <a:spcAft>
                <a:spcPts val="450"/>
              </a:spcAft>
              <a:defRPr sz="1400">
                <a:solidFill>
                  <a:srgbClr val="111827"/>
                </a:solidFill>
                <a:latin typeface="Aptos"/>
              </a:defRPr>
            </a:pPr>
            <a:r>
              <a:t>Random Forest, performans, pozitif sınıfı yakalama ve açıklanabilirlik dengesi nedeniyle ana model olarak seçilmiştir.</a:t>
            </a:r>
          </a:p>
          <a:p>
            <a:pPr>
              <a:spcAft>
                <a:spcPts val="450"/>
              </a:spcAft>
              <a:defRPr sz="1400">
                <a:solidFill>
                  <a:srgbClr val="111827"/>
                </a:solidFill>
                <a:latin typeface="Aptos"/>
              </a:defRPr>
            </a:pPr>
            <a:r>
              <a:t>SHAP/LIME yaklaşımı ve değişken önemleri, kara kutu model kararlarını anlaşılır hale getirmiştir.</a:t>
            </a:r>
          </a:p>
          <a:p>
            <a:pPr>
              <a:spcAft>
                <a:spcPts val="450"/>
              </a:spcAft>
              <a:defRPr sz="1400">
                <a:solidFill>
                  <a:srgbClr val="111827"/>
                </a:solidFill>
                <a:latin typeface="Aptos"/>
              </a:defRPr>
            </a:pPr>
            <a:r>
              <a:t>Streamlit arayüzü sayesinde proje, rapor dışında çalışır ve gösterilebilir bir final proje çıktısına dönüştürülmüştür.</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01168"/>
            <a:ext cx="11155680" cy="457200"/>
          </a:xfrm>
          <a:prstGeom prst="rect">
            <a:avLst/>
          </a:prstGeom>
          <a:noFill/>
        </p:spPr>
        <p:txBody>
          <a:bodyPr wrap="square" lIns="73152" rIns="73152" tIns="36576" bIns="36576">
            <a:normAutofit/>
          </a:bodyPr>
          <a:lstStyle/>
          <a:p>
            <a:pPr algn="l"/>
            <a:r>
              <a:rPr sz="2250" b="1">
                <a:solidFill>
                  <a:srgbClr val="1F4E79"/>
                </a:solidFill>
                <a:latin typeface="Aptos"/>
              </a:rPr>
              <a:t>Kısıtlar ve Gelecek Çalışmalar</a:t>
            </a:r>
          </a:p>
        </p:txBody>
      </p:sp>
      <p:sp>
        <p:nvSpPr>
          <p:cNvPr id="3" name="Rectangle 2"/>
          <p:cNvSpPr/>
          <p:nvPr/>
        </p:nvSpPr>
        <p:spPr>
          <a:xfrm>
            <a:off x="502920" y="786384"/>
            <a:ext cx="11155680" cy="3200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565392"/>
            <a:ext cx="8046720" cy="201168"/>
          </a:xfrm>
          <a:prstGeom prst="rect">
            <a:avLst/>
          </a:prstGeom>
          <a:noFill/>
        </p:spPr>
        <p:txBody>
          <a:bodyPr wrap="square" lIns="73152" rIns="73152" tIns="36576" bIns="36576">
            <a:normAutofit/>
          </a:bodyPr>
          <a:lstStyle/>
          <a:p>
            <a:pPr algn="l"/>
            <a:r>
              <a:rPr sz="830" b="0">
                <a:solidFill>
                  <a:srgbClr val="4B5563"/>
                </a:solidFill>
                <a:latin typeface="Aptos"/>
              </a:rPr>
              <a:t>BLM308 Veri Madenciliği Final Projesi</a:t>
            </a:r>
          </a:p>
        </p:txBody>
      </p:sp>
      <p:sp>
        <p:nvSpPr>
          <p:cNvPr id="5" name="TextBox 4"/>
          <p:cNvSpPr txBox="1"/>
          <p:nvPr/>
        </p:nvSpPr>
        <p:spPr>
          <a:xfrm>
            <a:off x="11155680" y="6565392"/>
            <a:ext cx="457200" cy="201168"/>
          </a:xfrm>
          <a:prstGeom prst="rect">
            <a:avLst/>
          </a:prstGeom>
          <a:noFill/>
        </p:spPr>
        <p:txBody>
          <a:bodyPr wrap="square" lIns="73152" rIns="73152" tIns="36576" bIns="36576">
            <a:normAutofit/>
          </a:bodyPr>
          <a:lstStyle/>
          <a:p>
            <a:pPr algn="r"/>
            <a:r>
              <a:rPr sz="830" b="0">
                <a:solidFill>
                  <a:srgbClr val="4B5563"/>
                </a:solidFill>
                <a:latin typeface="Aptos"/>
              </a:rPr>
              <a:t>37</a:t>
            </a:r>
          </a:p>
        </p:txBody>
      </p:sp>
      <p:graphicFrame>
        <p:nvGraphicFramePr>
          <p:cNvPr id="6" name="Table 5"/>
          <p:cNvGraphicFramePr>
            <a:graphicFrameLocks noGrp="1"/>
          </p:cNvGraphicFramePr>
          <p:nvPr/>
        </p:nvGraphicFramePr>
        <p:xfrm>
          <a:off x="594360" y="1143000"/>
          <a:ext cx="10972800" cy="2788920"/>
        </p:xfrm>
        <a:graphic>
          <a:graphicData uri="http://schemas.openxmlformats.org/drawingml/2006/table">
            <a:tbl>
              <a:tblPr firstRow="1" bandRow="1">
                <a:tableStyleId>{5C22544A-7EE6-4342-B048-85BDC9FD1C3A}</a:tableStyleId>
              </a:tblPr>
              <a:tblGrid>
                <a:gridCol w="5486400"/>
                <a:gridCol w="5486400"/>
              </a:tblGrid>
              <a:tr h="557784">
                <a:tc>
                  <a:txBody>
                    <a:bodyPr/>
                    <a:lstStyle/>
                    <a:p>
                      <a:pPr algn="ctr">
                        <a:defRPr sz="1060">
                          <a:solidFill>
                            <a:srgbClr val="FFFFFF"/>
                          </a:solidFill>
                          <a:latin typeface="Aptos"/>
                        </a:defRPr>
                      </a:pPr>
                      <a:r>
                        <a:t>Kısıt / geliştirme alanı</a:t>
                      </a:r>
                    </a:p>
                  </a:txBody>
                  <a:tcPr>
                    <a:solidFill>
                      <a:srgbClr val="1F4E79"/>
                    </a:solidFill>
                  </a:tcPr>
                </a:tc>
                <a:tc>
                  <a:txBody>
                    <a:bodyPr/>
                    <a:lstStyle/>
                    <a:p>
                      <a:pPr algn="ctr">
                        <a:defRPr sz="1060">
                          <a:solidFill>
                            <a:srgbClr val="FFFFFF"/>
                          </a:solidFill>
                          <a:latin typeface="Aptos"/>
                        </a:defRPr>
                      </a:pPr>
                      <a:r>
                        <a:t>Açıklama</a:t>
                      </a:r>
                    </a:p>
                  </a:txBody>
                  <a:tcPr>
                    <a:solidFill>
                      <a:srgbClr val="1F4E79"/>
                    </a:solidFill>
                  </a:tcPr>
                </a:tc>
              </a:tr>
              <a:tr h="557784">
                <a:tc>
                  <a:txBody>
                    <a:bodyPr/>
                    <a:lstStyle/>
                    <a:p>
                      <a:pPr algn="ctr">
                        <a:defRPr sz="1060">
                          <a:solidFill>
                            <a:srgbClr val="111827"/>
                          </a:solidFill>
                          <a:latin typeface="Aptos"/>
                        </a:defRPr>
                      </a:pPr>
                      <a:r>
                        <a:t>Veri seti bağlamı</a:t>
                      </a:r>
                    </a:p>
                  </a:txBody>
                  <a:tcPr>
                    <a:solidFill>
                      <a:srgbClr val="F8FAFC"/>
                    </a:solidFill>
                  </a:tcPr>
                </a:tc>
                <a:tc>
                  <a:txBody>
                    <a:bodyPr/>
                    <a:lstStyle/>
                    <a:p>
                      <a:pPr algn="ctr">
                        <a:defRPr sz="1060">
                          <a:solidFill>
                            <a:srgbClr val="111827"/>
                          </a:solidFill>
                          <a:latin typeface="Aptos"/>
                        </a:defRPr>
                      </a:pPr>
                      <a:r>
                        <a:t>Veri belirli bir kampanya dönemine ait olduğu için farklı dönemlerde yeniden doğrulama gerekir.</a:t>
                      </a:r>
                    </a:p>
                  </a:txBody>
                  <a:tcPr>
                    <a:solidFill>
                      <a:srgbClr val="F8FAFC"/>
                    </a:solidFill>
                  </a:tcPr>
                </a:tc>
              </a:tr>
              <a:tr h="557784">
                <a:tc>
                  <a:txBody>
                    <a:bodyPr/>
                    <a:lstStyle/>
                    <a:p>
                      <a:pPr algn="ctr">
                        <a:defRPr sz="1060">
                          <a:solidFill>
                            <a:srgbClr val="111827"/>
                          </a:solidFill>
                          <a:latin typeface="Aptos"/>
                        </a:defRPr>
                      </a:pPr>
                      <a:r>
                        <a:t>Sınıf dengesizliği</a:t>
                      </a:r>
                    </a:p>
                  </a:txBody>
                  <a:tcPr>
                    <a:solidFill>
                      <a:srgbClr val="F8FAFC"/>
                    </a:solidFill>
                  </a:tcPr>
                </a:tc>
                <a:tc>
                  <a:txBody>
                    <a:bodyPr/>
                    <a:lstStyle/>
                    <a:p>
                      <a:pPr algn="ctr">
                        <a:defRPr sz="1060">
                          <a:solidFill>
                            <a:srgbClr val="111827"/>
                          </a:solidFill>
                          <a:latin typeface="Aptos"/>
                        </a:defRPr>
                      </a:pPr>
                      <a:r>
                        <a:t>Pozitif sınıf azınlıkta olduğu için eşik optimizasyonu ve maliyet duyarlı öğrenme denenebilir.</a:t>
                      </a:r>
                    </a:p>
                  </a:txBody>
                  <a:tcPr>
                    <a:solidFill>
                      <a:srgbClr val="F8FAFC"/>
                    </a:solidFill>
                  </a:tcPr>
                </a:tc>
              </a:tr>
              <a:tr h="557784">
                <a:tc>
                  <a:txBody>
                    <a:bodyPr/>
                    <a:lstStyle/>
                    <a:p>
                      <a:pPr algn="ctr">
                        <a:defRPr sz="1060">
                          <a:solidFill>
                            <a:srgbClr val="111827"/>
                          </a:solidFill>
                          <a:latin typeface="Aptos"/>
                        </a:defRPr>
                      </a:pPr>
                      <a:r>
                        <a:t>Açıklanabilirlik sınırı</a:t>
                      </a:r>
                    </a:p>
                  </a:txBody>
                  <a:tcPr>
                    <a:solidFill>
                      <a:srgbClr val="F8FAFC"/>
                    </a:solidFill>
                  </a:tcPr>
                </a:tc>
                <a:tc>
                  <a:txBody>
                    <a:bodyPr/>
                    <a:lstStyle/>
                    <a:p>
                      <a:pPr algn="ctr">
                        <a:defRPr sz="1060">
                          <a:solidFill>
                            <a:srgbClr val="111827"/>
                          </a:solidFill>
                          <a:latin typeface="Aptos"/>
                        </a:defRPr>
                      </a:pPr>
                      <a:r>
                        <a:t>SHAP/LIME model davranışını açıklar; doğrudan nedensellik kanıtı sunmaz.</a:t>
                      </a:r>
                    </a:p>
                  </a:txBody>
                  <a:tcPr>
                    <a:solidFill>
                      <a:srgbClr val="F8FAFC"/>
                    </a:solidFill>
                  </a:tcPr>
                </a:tc>
              </a:tr>
              <a:tr h="557784">
                <a:tc>
                  <a:txBody>
                    <a:bodyPr/>
                    <a:lstStyle/>
                    <a:p>
                      <a:pPr algn="ctr">
                        <a:defRPr sz="1060">
                          <a:solidFill>
                            <a:srgbClr val="111827"/>
                          </a:solidFill>
                          <a:latin typeface="Aptos"/>
                        </a:defRPr>
                      </a:pPr>
                      <a:r>
                        <a:t>Gerçek uygulama</a:t>
                      </a:r>
                    </a:p>
                  </a:txBody>
                  <a:tcPr>
                    <a:solidFill>
                      <a:srgbClr val="F8FAFC"/>
                    </a:solidFill>
                  </a:tcPr>
                </a:tc>
                <a:tc>
                  <a:txBody>
                    <a:bodyPr/>
                    <a:lstStyle/>
                    <a:p>
                      <a:pPr algn="ctr">
                        <a:defRPr sz="1060">
                          <a:solidFill>
                            <a:srgbClr val="111827"/>
                          </a:solidFill>
                          <a:latin typeface="Aptos"/>
                        </a:defRPr>
                      </a:pPr>
                      <a:r>
                        <a:t>Canlı banka verisiyle zaman bazlı validasyon ve kullanıcı geri bildirimi eklenebilir.</a:t>
                      </a:r>
                    </a:p>
                  </a:txBody>
                  <a:tcPr>
                    <a:solidFill>
                      <a:srgbClr val="F8FAFC"/>
                    </a:solidFill>
                  </a:tcPr>
                </a:tc>
              </a:tr>
            </a:tbl>
          </a:graphicData>
        </a:graphic>
      </p:graphicFrame>
      <p:sp>
        <p:nvSpPr>
          <p:cNvPr id="7" name="TextBox 6"/>
          <p:cNvSpPr txBox="1"/>
          <p:nvPr/>
        </p:nvSpPr>
        <p:spPr>
          <a:xfrm>
            <a:off x="777240" y="4343400"/>
            <a:ext cx="10607040" cy="841248"/>
          </a:xfrm>
          <a:prstGeom prst="rect">
            <a:avLst/>
          </a:prstGeom>
          <a:noFill/>
        </p:spPr>
        <p:txBody>
          <a:bodyPr wrap="square" lIns="73152" rIns="73152" tIns="36576" bIns="36576">
            <a:normAutofit/>
          </a:bodyPr>
          <a:lstStyle/>
          <a:p>
            <a:pPr algn="l">
              <a:spcAft>
                <a:spcPts val="500"/>
              </a:spcAft>
              <a:defRPr sz="1350">
                <a:solidFill>
                  <a:srgbClr val="4B5563"/>
                </a:solidFill>
                <a:latin typeface="Aptos"/>
              </a:defRPr>
            </a:pPr>
            <a:r>
              <a:t>Gelecek çalışmalarda karar eşiği kampanya maliyetine göre ayarlanabilir, farklı müşteri segmentleri için ayrı modeller denenebilir ve açıklanabilirlik çıktıları kullanıcı geri bildirimiyle iyileştirilebilir.</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1F4E79"/>
        </a:solidFill>
        <a:effectLst/>
      </p:bgPr>
    </p:bg>
    <p:spTree>
      <p:nvGrpSpPr>
        <p:cNvPr id="1" name=""/>
        <p:cNvGrpSpPr/>
        <p:nvPr/>
      </p:nvGrpSpPr>
      <p:grpSpPr/>
      <p:sp>
        <p:nvSpPr>
          <p:cNvPr id="2" name="TextBox 1"/>
          <p:cNvSpPr txBox="1"/>
          <p:nvPr/>
        </p:nvSpPr>
        <p:spPr>
          <a:xfrm>
            <a:off x="777240" y="1965960"/>
            <a:ext cx="10698480" cy="731520"/>
          </a:xfrm>
          <a:prstGeom prst="rect">
            <a:avLst/>
          </a:prstGeom>
          <a:noFill/>
        </p:spPr>
        <p:txBody>
          <a:bodyPr wrap="square" lIns="73152" rIns="73152" tIns="36576" bIns="36576">
            <a:normAutofit/>
          </a:bodyPr>
          <a:lstStyle/>
          <a:p>
            <a:pPr algn="ctr"/>
            <a:r>
              <a:rPr sz="4200" b="1">
                <a:solidFill>
                  <a:srgbClr val="FFFFFF"/>
                </a:solidFill>
                <a:latin typeface="Aptos"/>
              </a:rPr>
              <a:t>Teşekkürler</a:t>
            </a:r>
          </a:p>
        </p:txBody>
      </p:sp>
      <p:sp>
        <p:nvSpPr>
          <p:cNvPr id="3" name="TextBox 2"/>
          <p:cNvSpPr txBox="1"/>
          <p:nvPr/>
        </p:nvSpPr>
        <p:spPr>
          <a:xfrm>
            <a:off x="1005840" y="2971800"/>
            <a:ext cx="10149840" cy="502920"/>
          </a:xfrm>
          <a:prstGeom prst="rect">
            <a:avLst/>
          </a:prstGeom>
          <a:noFill/>
        </p:spPr>
        <p:txBody>
          <a:bodyPr wrap="square" lIns="73152" rIns="73152" tIns="36576" bIns="36576">
            <a:normAutofit/>
          </a:bodyPr>
          <a:lstStyle/>
          <a:p>
            <a:pPr algn="ctr"/>
            <a:r>
              <a:rPr sz="2200" b="0">
                <a:solidFill>
                  <a:srgbClr val="DBEAFE"/>
                </a:solidFill>
                <a:latin typeface="Aptos"/>
              </a:rPr>
              <a:t>Sorularınızı alabiliriz.</a:t>
            </a:r>
          </a:p>
        </p:txBody>
      </p:sp>
      <p:sp>
        <p:nvSpPr>
          <p:cNvPr id="4" name="TextBox 3"/>
          <p:cNvSpPr txBox="1"/>
          <p:nvPr/>
        </p:nvSpPr>
        <p:spPr>
          <a:xfrm>
            <a:off x="1828800" y="3822191"/>
            <a:ext cx="8549640" cy="749808"/>
          </a:xfrm>
          <a:prstGeom prst="rect">
            <a:avLst/>
          </a:prstGeom>
          <a:noFill/>
        </p:spPr>
        <p:txBody>
          <a:bodyPr wrap="square" lIns="73152" rIns="73152" tIns="36576" bIns="36576">
            <a:normAutofit/>
          </a:bodyPr>
          <a:lstStyle/>
          <a:p>
            <a:pPr algn="l">
              <a:spcAft>
                <a:spcPts val="500"/>
              </a:spcAft>
              <a:defRPr sz="1420">
                <a:solidFill>
                  <a:srgbClr val="FFFFFF"/>
                </a:solidFill>
                <a:latin typeface="Aptos"/>
              </a:defRPr>
            </a:pPr>
            <a:r>
              <a:t>Proje; veri hazırlığı, modelleme, istatistiksel değerlendirme, açıklanabilirlik ve Türkçe uygulama arayüzü bileşenleriyle birlikte sunulmuştur.</a:t>
            </a:r>
          </a:p>
        </p:txBody>
      </p:sp>
      <p:sp>
        <p:nvSpPr>
          <p:cNvPr id="5" name="TextBox 4"/>
          <p:cNvSpPr txBox="1"/>
          <p:nvPr/>
        </p:nvSpPr>
        <p:spPr>
          <a:xfrm>
            <a:off x="502920" y="6565392"/>
            <a:ext cx="8046720" cy="201168"/>
          </a:xfrm>
          <a:prstGeom prst="rect">
            <a:avLst/>
          </a:prstGeom>
          <a:noFill/>
        </p:spPr>
        <p:txBody>
          <a:bodyPr wrap="square" lIns="73152" rIns="73152" tIns="36576" bIns="36576">
            <a:normAutofit/>
          </a:bodyPr>
          <a:lstStyle/>
          <a:p>
            <a:pPr algn="l"/>
            <a:r>
              <a:rPr sz="830" b="0">
                <a:solidFill>
                  <a:srgbClr val="4B5563"/>
                </a:solidFill>
                <a:latin typeface="Aptos"/>
              </a:rPr>
              <a:t>BLM308 Veri Madenciliği Final Projesi</a:t>
            </a:r>
          </a:p>
        </p:txBody>
      </p:sp>
      <p:sp>
        <p:nvSpPr>
          <p:cNvPr id="6" name="TextBox 5"/>
          <p:cNvSpPr txBox="1"/>
          <p:nvPr/>
        </p:nvSpPr>
        <p:spPr>
          <a:xfrm>
            <a:off x="11155680" y="6565392"/>
            <a:ext cx="457200" cy="201168"/>
          </a:xfrm>
          <a:prstGeom prst="rect">
            <a:avLst/>
          </a:prstGeom>
          <a:noFill/>
        </p:spPr>
        <p:txBody>
          <a:bodyPr wrap="square" lIns="73152" rIns="73152" tIns="36576" bIns="36576">
            <a:normAutofit/>
          </a:bodyPr>
          <a:lstStyle/>
          <a:p>
            <a:pPr algn="r"/>
            <a:r>
              <a:rPr sz="830" b="0">
                <a:solidFill>
                  <a:srgbClr val="4B5563"/>
                </a:solidFill>
                <a:latin typeface="Aptos"/>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01168"/>
            <a:ext cx="11155680" cy="457200"/>
          </a:xfrm>
          <a:prstGeom prst="rect">
            <a:avLst/>
          </a:prstGeom>
          <a:noFill/>
        </p:spPr>
        <p:txBody>
          <a:bodyPr wrap="square" lIns="73152" rIns="73152" tIns="36576" bIns="36576">
            <a:normAutofit/>
          </a:bodyPr>
          <a:lstStyle/>
          <a:p>
            <a:pPr algn="l"/>
            <a:r>
              <a:rPr sz="2250" b="1">
                <a:solidFill>
                  <a:srgbClr val="1F4E79"/>
                </a:solidFill>
                <a:latin typeface="Aptos"/>
              </a:rPr>
              <a:t>Kaynaklar</a:t>
            </a:r>
          </a:p>
        </p:txBody>
      </p:sp>
      <p:sp>
        <p:nvSpPr>
          <p:cNvPr id="3" name="Rectangle 2"/>
          <p:cNvSpPr/>
          <p:nvPr/>
        </p:nvSpPr>
        <p:spPr>
          <a:xfrm>
            <a:off x="502920" y="786384"/>
            <a:ext cx="11155680" cy="3200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565392"/>
            <a:ext cx="8046720" cy="201168"/>
          </a:xfrm>
          <a:prstGeom prst="rect">
            <a:avLst/>
          </a:prstGeom>
          <a:noFill/>
        </p:spPr>
        <p:txBody>
          <a:bodyPr wrap="square" lIns="73152" rIns="73152" tIns="36576" bIns="36576">
            <a:normAutofit/>
          </a:bodyPr>
          <a:lstStyle/>
          <a:p>
            <a:pPr algn="l"/>
            <a:r>
              <a:rPr sz="830" b="0">
                <a:solidFill>
                  <a:srgbClr val="4B5563"/>
                </a:solidFill>
                <a:latin typeface="Aptos"/>
              </a:rPr>
              <a:t>BLM308 Veri Madenciliği Final Projesi</a:t>
            </a:r>
          </a:p>
        </p:txBody>
      </p:sp>
      <p:sp>
        <p:nvSpPr>
          <p:cNvPr id="5" name="TextBox 4"/>
          <p:cNvSpPr txBox="1"/>
          <p:nvPr/>
        </p:nvSpPr>
        <p:spPr>
          <a:xfrm>
            <a:off x="11155680" y="6565392"/>
            <a:ext cx="457200" cy="201168"/>
          </a:xfrm>
          <a:prstGeom prst="rect">
            <a:avLst/>
          </a:prstGeom>
          <a:noFill/>
        </p:spPr>
        <p:txBody>
          <a:bodyPr wrap="square" lIns="73152" rIns="73152" tIns="36576" bIns="36576">
            <a:normAutofit/>
          </a:bodyPr>
          <a:lstStyle/>
          <a:p>
            <a:pPr algn="r"/>
            <a:r>
              <a:rPr sz="830" b="0">
                <a:solidFill>
                  <a:srgbClr val="4B5563"/>
                </a:solidFill>
                <a:latin typeface="Aptos"/>
              </a:rPr>
              <a:t>39</a:t>
            </a:r>
          </a:p>
        </p:txBody>
      </p:sp>
      <p:sp>
        <p:nvSpPr>
          <p:cNvPr id="6" name="TextBox 5"/>
          <p:cNvSpPr txBox="1"/>
          <p:nvPr/>
        </p:nvSpPr>
        <p:spPr>
          <a:xfrm>
            <a:off x="685800" y="1097280"/>
            <a:ext cx="10972800" cy="4526280"/>
          </a:xfrm>
          <a:prstGeom prst="rect">
            <a:avLst/>
          </a:prstGeom>
          <a:noFill/>
        </p:spPr>
        <p:txBody>
          <a:bodyPr wrap="square" lIns="73152" rIns="73152" tIns="36576" bIns="36576">
            <a:normAutofit/>
          </a:bodyPr>
          <a:lstStyle/>
          <a:p>
            <a:pPr>
              <a:spcAft>
                <a:spcPts val="450"/>
              </a:spcAft>
              <a:defRPr sz="1420">
                <a:solidFill>
                  <a:srgbClr val="111827"/>
                </a:solidFill>
                <a:latin typeface="Aptos"/>
              </a:defRPr>
            </a:pPr>
            <a:r>
              <a:t>Moro, S., Cortez, P. ve Rita, P. (2014). A data-driven approach to predict the success of bank telemarketing.</a:t>
            </a:r>
          </a:p>
          <a:p>
            <a:pPr>
              <a:spcAft>
                <a:spcPts val="450"/>
              </a:spcAft>
              <a:defRPr sz="1420">
                <a:solidFill>
                  <a:srgbClr val="111827"/>
                </a:solidFill>
                <a:latin typeface="Aptos"/>
              </a:defRPr>
            </a:pPr>
            <a:r>
              <a:t>UCI Machine Learning Repository. Bank Marketing Dataset.</a:t>
            </a:r>
          </a:p>
          <a:p>
            <a:pPr>
              <a:spcAft>
                <a:spcPts val="450"/>
              </a:spcAft>
              <a:defRPr sz="1420">
                <a:solidFill>
                  <a:srgbClr val="111827"/>
                </a:solidFill>
                <a:latin typeface="Aptos"/>
              </a:defRPr>
            </a:pPr>
            <a:r>
              <a:t>Lundberg, S. M. ve Lee, S. I. (2017). A unified approach to interpreting model predictions.</a:t>
            </a:r>
          </a:p>
          <a:p>
            <a:pPr>
              <a:spcAft>
                <a:spcPts val="450"/>
              </a:spcAft>
              <a:defRPr sz="1420">
                <a:solidFill>
                  <a:srgbClr val="111827"/>
                </a:solidFill>
                <a:latin typeface="Aptos"/>
              </a:defRPr>
            </a:pPr>
            <a:r>
              <a:t>Ribeiro, M. T., Singh, S. ve Guestrin, C. (2016). Why should I trust you? Explaining the predictions of any classifier.</a:t>
            </a:r>
          </a:p>
          <a:p>
            <a:pPr>
              <a:spcAft>
                <a:spcPts val="450"/>
              </a:spcAft>
              <a:defRPr sz="1420">
                <a:solidFill>
                  <a:srgbClr val="111827"/>
                </a:solidFill>
                <a:latin typeface="Aptos"/>
              </a:defRPr>
            </a:pPr>
            <a:r>
              <a:t>scikit-learn, Streamlit, pandas, matplotlib/seaborn dokümantasyonları.</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